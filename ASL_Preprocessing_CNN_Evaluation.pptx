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30 giây. Mốc dự kiến 0:00–0:30. Tổng bài nói 9 phút 40 giây; dành ~5 phút cho vấn đáp.</a:t>
            </a:r>
          </a:p>
          <a:p>
            <a:r>
              <a:t>LỜI TRÌNH BÀY</a:t>
            </a:r>
          </a:p>
          <a:p>
            <a:r>
              <a:t>Kính chào thầy cô và các bạn. Trong thị giác máy tính, tiền xử lý ảnh như tăng độ tương phản thường được mặc định coi là bước có lợi để làm ảnh rõ nét hơn. Tuy nhiên, khi đưa vào các mô hình Deep Learning đã được huấn luyện sẵn, việc thay đổi phân phối cường độ sáng có thực sự giúp tăng độ chính xác hay ngược lại? Nhóm em xin trình bày đề tài đánh giá thực nghiệm tác động của Contrast Stretching và Histogram Equalization đến mô hình CNN nhận diện ký hiệu bàn tay ASL.</a:t>
            </a:r>
          </a:p>
          <a:p>
            <a:r>
              <a:t>ĐIỀU KHIỂN / DỰ PHÒNG</a:t>
            </a:r>
          </a:p>
          <a:p>
            <a:r>
              <a:t>Dừng 2 giây để người nghe quan sát dải ảnh 3 trạng thái của ký hiệu ASL. Giọng trình bày tự tin, rõ ràng.</a:t>
            </a:r>
          </a:p>
          <a:p>
            <a:r>
              <a:t>NGUỒN VÀ PHẠM VI</a:t>
            </a:r>
          </a:p>
          <a:p>
            <a:r>
              <a:t>Báo cáo dựa trên thực nghiệm kiểm thử 25 ảnh ký hiệu ASL A–Y với mô hình CNN asl_classifier.keras.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giây. Mốc dự kiến 0:30–1:15. Tổng bài nói 9 phút 40 giây; dành ~5 phút cho vấn đáp.</a:t>
            </a:r>
          </a:p>
          <a:p>
            <a:r>
              <a:t>LỜI TRÌNH BÀY</a:t>
            </a:r>
          </a:p>
          <a:p>
            <a:r>
              <a:t>Trong thực tế, khi đối mặt với ảnh chụp thiếu sáng hoặc mờ, phản xạ tự nhiên của kỹ sư xử lý ảnh là áp dụng các bộ lọc tăng tương phản. Tuy nhiên, mạng nơ-ron tích chập (CNN) hoạt động dựa trên các bộ lọc không gian học được từ một phân phối cường độ sáng cụ thể. Khi chúng ta thay đổi lược đồ mức xám, chúng ta vô tình gây ra hiện tượng dịch chuyển phân phối đầu vào. Câu hỏi đặt ra là: Liệu một bức ảnh trông rõ nét hơn với con người có thực sự giúp mạng CNN phân loại đúng hơn không?</a:t>
            </a:r>
          </a:p>
          <a:p>
            <a:r>
              <a:t>ĐIỀU KHIỂN / DỰ PHÒNG</a:t>
            </a:r>
          </a:p>
          <a:p>
            <a:r>
              <a:t>Nhấn mạnh vào câu hỏi nghiên cứu ở khung màu xanh. Nêu rõ ba trường hợp thực nghiệm sẽ so sánh xuyên suốt bài báo cáo.</a:t>
            </a:r>
          </a:p>
          <a:p>
            <a:r>
              <a:t>NGUỒN VÀ PHẠM VI</a:t>
            </a:r>
          </a:p>
          <a:p>
            <a:r>
              <a:t>Lý thuyết Covariate Shift (Shimodaira, 2000). Ba trường hợp đối chứng được thực hiện trên cùng tập 25 ảnh.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50 giây. Mốc dự kiến 1:15–2:05. Tổng bài nói 9 phút 40 giây; dành ~5 phút cho vấn đáp.</a:t>
            </a:r>
          </a:p>
          <a:p>
            <a:r>
              <a:t>LỜI TRÌNH BÀY</a:t>
            </a:r>
          </a:p>
          <a:p>
            <a:r>
              <a:t>Để đảm bảo tính khoa học và khách quan, toàn bộ trọng số của mô hình asl_classifier.keras được giữ nguyên vẹn, kiểm tra bằng mã băm SHA-256 không thay đổi. Mô hình gồm hai khối tích chập 64 bộ lọc kích thước 3 nhân 3, tiếp nối bởi tầng Flatten với 33.856 chiều đặc trưng và tầng Dense 128 nơ-ron trước khi phân loại qua Softmax 29 lớp. Tập kiểm thử gồm 25 ký hiệu bàn tay chuẩn đại diện cho bảng chữ cái A đến Y. Mục tiêu là kiểm chứng xem khi mô hình đã học xong, tiền xử lý tác động như thế nào đến phản ứng của các tầng tích chập này.</a:t>
            </a:r>
          </a:p>
          <a:p>
            <a:r>
              <a:t>ĐIỀU KHIỂN / DỰ PHÒNG</a:t>
            </a:r>
          </a:p>
          <a:p>
            <a:r>
              <a:t>Chỉ vào sơ đồ pipeline 5 bước kiến trúc. Nhắc nhở người nghe rằng trọng số mạng không hề được tái huấn luyện trong suốt thử nghiệm.</a:t>
            </a:r>
          </a:p>
          <a:p>
            <a:r>
              <a:t>NGUỒN VÀ PHẠM VI</a:t>
            </a:r>
          </a:p>
          <a:p>
            <a:r>
              <a:t>File mô hình: asl_classifier.keras. Dữ liệu: 25 ảnh kích thước 100x100x3 RGB. Không đưa ra nhận định vượt quá phạm vi kiểm thử.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giây. Mốc dự kiến 2:05–2:50. Tổng bài nói 9 phút 40 giây; dành ~5 phút cho vấn đáp.</a:t>
            </a:r>
          </a:p>
          <a:p>
            <a:r>
              <a:t>LỜI TRÌNH BÀY</a:t>
            </a:r>
          </a:p>
          <a:p>
            <a:r>
              <a:t>Phương pháp đầu tiên là Contrast Stretching. Để tránh làm biến đổi tông màu da của bàn tay, nhóm chuyển ảnh từ không gian màu RGB sang YCrCb và chỉ can thiệp vào kênh độ sáng Y. Thay vì dùng giá trị Min và Max tuyệt đối vốn rất nhạy cảm với các điểm ảnh nhiễu, thuật toán sử dụng ngưỡng phân vị 1% và 99%. Công thức ánh xạ tuyến tính đưa các giá trị dưới P1% về 0, trên P99% về 255 và kéo giãn dải ở giữa. Về mặt thị giác, bức ảnh trở nên trong trẻo và tương phản rõ ràng hơn.</a:t>
            </a:r>
          </a:p>
          <a:p>
            <a:r>
              <a:t>ĐIỀU KHIỂN / DỰ PHÒNG</a:t>
            </a:r>
          </a:p>
          <a:p>
            <a:r>
              <a:t>Chỉ vào công thức ánh xạ và sơ đồ quy trình 4 bước bên phải. Giải thích vì sao cần giữ nguyên hai kênh màu Cr và Cb.</a:t>
            </a:r>
          </a:p>
          <a:p>
            <a:r>
              <a:t>NGUỒN VÀ PHẠM VI</a:t>
            </a:r>
          </a:p>
          <a:p>
            <a:r>
              <a:t>Mã nguồn triển khai: percentile clipping tại p=1 và p=99 trên numpy mảng 2 chiều. Chuyển đổi màu sử dụng chuẩn YCrCb tiêu chuẩn.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giây. Mốc dự kiến 2:50–3:35. Tổng bài nói 9 phút 40 giây; dành ~5 phút cho vấn đáp.</a:t>
            </a:r>
          </a:p>
          <a:p>
            <a:r>
              <a:t>LỜI TRÌNH BÀY</a:t>
            </a:r>
          </a:p>
          <a:p>
            <a:r>
              <a:t>Phương pháp thứ hai là Histogram Equalization. Thay vì kéo giãn tuyến tính, thuật toán tính toán hàm phân phối tích lũy (CDF) của kênh độ sáng Y và dùng nó làm hàm ánh xạ. Các mức xám xuất hiện nhiều sẽ được trải rộng ra, giúp cực đại hóa entropy thông tin của ảnh. Tuy nhiên, trong nhận diện cử chỉ bàn tay, bóng đổ giữa các ngón tay và nếp nhăn ở khớp ngón là các tín hiệu biên rất quan trọng. Khi lược đồ bị san phẳng mạnh mẽ, các vùng bóng tối tự nhiên có thể bị làm sáng quá mức, dẫn đến mất mát các đặc trưng hình học tinh tế.</a:t>
            </a:r>
          </a:p>
          <a:p>
            <a:r>
              <a:t>ĐIỀU KHIỂN / DỰ PHÒNG</a:t>
            </a:r>
          </a:p>
          <a:p>
            <a:r>
              <a:t>Chỉ vào biểu đồ phân phối trước và sau cân bằng. Nhấn mạnh việc san phẳng mức xám có thể gây hại cho các đặc trưng biên cục bộ.</a:t>
            </a:r>
          </a:p>
          <a:p>
            <a:r>
              <a:t>NGUỒN VÀ PHẠM VI</a:t>
            </a:r>
          </a:p>
          <a:p>
            <a:r>
              <a:t>Triển khai thuật toán: cv2.equalizeHist trên kênh Y. Biểu đồ trên slide mang tính minh họa nguyên lý toán học.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50 giây. Mốc dự kiến 3:35–4:25. Tổng bài nói 9 phút 40 giây; dành ~5 phút cho vấn đáp.</a:t>
            </a:r>
          </a:p>
          <a:p>
            <a:r>
              <a:t>LỜI TRÌNH BÀY</a:t>
            </a:r>
          </a:p>
          <a:p>
            <a:r>
              <a:t>Đây là kết quả thực nghiệm trung tâm của bài báo cáo. Bảng số liệu cho thấy một sự tương phản rất rõ rệt: Trên tập kiểm thử 25 ảnh, ảnh gốc ban đầu đạt độ chính xác tuyệt đối 100% với confidence trung bình lên tới 99,06%. Khi áp dụng Contrast Stretching, độ chính xác giảm xuống 88% với 3 ảnh bị dự đoán sai. Đáng ngạc nhiên hơn, Histogram Equalization – phương pháp vốn tạo ra ảnh có tương phản thị giác rất mạnh – lại khiến độ chính xác sụt giảm nghiêm trọng xuống còn 68%, tức sai tới 8 trên 25 ảnh. Bên cạnh đó, thời gian xử lý cũng tăng từ 0,24 ms lên 0,81 ms.</a:t>
            </a:r>
          </a:p>
          <a:p>
            <a:r>
              <a:t>ĐIỀU KHIỂN / DỰ PHÒNG</a:t>
            </a:r>
          </a:p>
          <a:p>
            <a:r>
              <a:t>Chỉ vào 3 thẻ số liệu lớn phía trên và biểu đồ cột so sánh. Nhấn mạnh rằng mức giảm 32% của Histogram Equalization là rất lớn.</a:t>
            </a:r>
          </a:p>
          <a:p>
            <a:r>
              <a:t>NGUỒN VÀ PHẠM VI</a:t>
            </a:r>
          </a:p>
          <a:p>
            <a:r>
              <a:t>Báo cáo kết quả kiểm thử: Ảnh gốc 25/25, CS 22/25, HE 17/25. Thời gian đo lường bằng millisecond trên cùng phần cứng.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giây. Mốc dự kiến 4:25–5:10. Tổng bài nói 9 phút 40 giây; dành ~5 phút cho vấn đáp.</a:t>
            </a:r>
          </a:p>
          <a:p>
            <a:r>
              <a:t>LỜI TRÌNH BÀY</a:t>
            </a:r>
          </a:p>
          <a:p>
            <a:r>
              <a:t>Để giải thích nguyên nhân tại sao ảnh rõ hơn lại khiến mô hình đoán sai nhiều hơn, chúng ta cần xem xét dưới góc nhìn Covariate Shift. Trong học máy, Covariate Shift là hiện tượng phân phối dữ liệu đầu vào P(X) bị thay đổi so với dữ liệu huấn luyện. Mạng CNN nhận diện bàn tay không phải bằng trực giác mà bằng hàng chục bộ lọc tích chập 3x3 nhạy cảm với độ chênh lệch cường độ pixel. Khi ta cân bằng lược đồ, các nếp gấp tự nhiên giữa các ngón tay có thể bị biến đổi độ dày, tạo ra các cạnh nhân tạo khiến các tầng Conv trích xuất ra đặc trưng sai lệch.</a:t>
            </a:r>
          </a:p>
          <a:p>
            <a:r>
              <a:t>ĐIỀU KHIỂN / DỰ PHÒNG</a:t>
            </a:r>
          </a:p>
          <a:p>
            <a:r>
              <a:t>Trình bày theo chuỗi 5 bước từ ảnh gốc đến kết quả Softmax. Nhấn mạnh khung lưu ý khoa học ở dưới.</a:t>
            </a:r>
          </a:p>
          <a:p>
            <a:r>
              <a:t>NGUỒN VÀ PHẠM VI</a:t>
            </a:r>
          </a:p>
          <a:p>
            <a:r>
              <a:t>Lý thuyết Covariate Shift trong Deep Learning. Khẳng định cơ chế Conv2D phản ứng với cạnh giả là giả thuyết suy diễn, chưa đo feature maps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50 giây. Mốc dự kiến 5:10–6:00. Tổng bài nói 9 phút 40 giây; dành ~5 phút cho vấn đáp.</a:t>
            </a:r>
          </a:p>
          <a:p>
            <a:r>
              <a:t>LỜI TRÌNH BÀY</a:t>
            </a:r>
          </a:p>
          <a:p>
            <a:r>
              <a:t>Khi đi sâu vào các ca dự đoán sai, chúng ta phát hiện một quy luật hình thái học rất thú vị. Với Contrast Stretching, toàn bộ 3 ca lỗi là A, N và S đều bị mô hình dự đoán nhầm thành chữ E. Trong ngôn ngữ ký hiệu ASL, A, E, N, S đều là các thế nắm tay chặt, điểm khác biệt duy nhất nằm ở vị trí ngón cái. Khi độ tương phản bị kéo giãn, ranh giới nếp gấp của ngón cái bị triệt tiêu, khiến mô hình nhầm lẫn sang chữ E. Tương tự với Histogram Equalization, 8 ca lỗi đều rơi vào các cặp có hình học cực kỳ giống nhau như G với H, R với U hay X với V.</a:t>
            </a:r>
          </a:p>
          <a:p>
            <a:r>
              <a:t>ĐIỀU KHIỂN / DỰ PHÒNG</a:t>
            </a:r>
          </a:p>
          <a:p>
            <a:r>
              <a:t>So sánh sự tập trung lỗi của Contrast Stretching (về chữ E) và sự phân tán lỗi của Histogram Equalization (8 cặp).</a:t>
            </a:r>
          </a:p>
          <a:p>
            <a:r>
              <a:t>NGUỒN VÀ PHẠM VI</a:t>
            </a:r>
          </a:p>
          <a:p>
            <a:r>
              <a:t>Ghi nhận thực nghiệm: CS lỗi A, N, S -&gt; E. HE lỗi G-&gt;H, I-&gt;J, N-&gt;E, Q-&gt;G, R-&gt;U, S-&gt;E, U-&gt;R, X-&gt;V. Không tự vẽ thêm các ảnh nhầm lẫn chưa có.</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giây. Mốc dự kiến 6:00–6:45. Tổng bài nói 9 phút 40 giây; dành ~5 phút cho vấn đáp.</a:t>
            </a:r>
          </a:p>
          <a:p>
            <a:r>
              <a:t>LỜI TRÌNH BÀY</a:t>
            </a:r>
          </a:p>
          <a:p>
            <a:r>
              <a:t>Để chứng minh tác động sâu sắc của tiền xử lý lên không gian xác suất, slide này phân tích chi tiết trường hợp ký hiệu 'A'. Ở ảnh gốc, mạng rất tự tin: nhãn A đạt 99,9%, E gần như bằng 0. Khi qua Histogram Equalization, mô hình vẫn đoán đúng A nhưng độ tự tin rơi xuống 91,7%, và xác suất nhầm sang E tăng lên 8,3%. Đáng báo động nhất là Contrast Stretching: mô hình bị đảo chiều hoàn toàn, khẳng định 98,4% đây là chữ E và chỉ dành 1,6% cho chữ A. Đây là minh chứng kinh điển cho thấy độ tự tin Softmax cao không đồng nghĩa với dự đoán đúng.</a:t>
            </a:r>
          </a:p>
          <a:p>
            <a:r>
              <a:t>ĐIỀU KHIỂN / DỰ PHÒNG</a:t>
            </a:r>
          </a:p>
          <a:p>
            <a:r>
              <a:t>Chỉ vào thanh ngang màu cam ở trường hợp Contrast Stretching. Nhấn mạnh việc mạng rất tự tin (98,4%) vào một quyết định sai hoàn toàn.</a:t>
            </a:r>
          </a:p>
          <a:p>
            <a:r>
              <a:t>NGUỒN VÀ PHẠM VI</a:t>
            </a:r>
          </a:p>
          <a:p>
            <a:r>
              <a:t>Dữ liệu Softmax trích xuất cho ký hiệu A: Baseline (A 99.9%), CS (E 98.4%, A 1.6%), HE (A 91.7%, E 8.3%).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40 giây. Mốc dự kiến 6:45–7:25. Tổng bài nói 9 phút 40 giây; dành ~5 phút cho vấn đáp.</a:t>
            </a:r>
          </a:p>
          <a:p>
            <a:r>
              <a:t>LỜI TRÌNH BÀY</a:t>
            </a:r>
          </a:p>
          <a:p>
            <a:r>
              <a:t>Để kết luận, nghiên cứu của nhóm em đưa ra một thông điệp quan trọng: Trong các hệ thống thị giác máy tính hiện đại dựa trên Deep Learning, tiền xử lý ảnh không thể được áp dụng một cách cảm tính dựa trên việc mắt người nhìn thấy rõ hơn. Bất kỳ sự can thiệp nào làm thay đổi phân phối cường độ sáng đều có nguy cơ gây ra hiện tượng Covariate Shift, dẫn đến suy giảm độ chính xác và làm lệch lạc độ tự tin Softmax. Mọi giải pháp tiền xử lý phải được kiểm chứng bằng thực nghiệm định lượng. Nhóm em xin chân thành cảm ơn thầy cô và sẵn sàng lắng nghe câu hỏi.</a:t>
            </a:r>
          </a:p>
          <a:p>
            <a:r>
              <a:t>ĐIỀU KHIỂN / DỰ PHÒNG</a:t>
            </a:r>
          </a:p>
          <a:p>
            <a:r>
              <a:t>Kết thúc bài thuyết trình đúng 7 phút 25 giây (nằm trọn trong giới hạn 10 phút). Chuyển sang tư thế sẵn sàng cho phần hỏi đáp phản biện.</a:t>
            </a:r>
          </a:p>
          <a:p>
            <a:r>
              <a:t>NGUỒN VÀ PHẠM VI</a:t>
            </a:r>
          </a:p>
          <a:p>
            <a:r>
              <a:t>Tổng kết toàn bộ 10 slide. Dữ liệu và kết luận tuân thủ trung thực với kết quả thực nghiệm đã cung cấp.</a:t>
            </a:r>
          </a:p>
          <a:p>
            <a:r>
              <a:t>PHẦN VẤN ĐÁP DỰ PHÒNG — KHÔNG ĐỌC TRONG BÀI NÓI</a:t>
            </a:r>
          </a:p>
          <a:p>
            <a:r>
              <a:t>1. Vì sao không huấn luyện lại mô hình với dữ liệu đã tăng tương phản?</a:t>
            </a:r>
          </a:p>
          <a:p>
            <a:r>
              <a:t>-&gt; Mục tiêu đề tài là đánh giá tác động của tiền xử lý lên một mô hình đã triển khai sẵn (off-the-shelf). Nếu huấn luyện lại, mô hình sẽ học phân phối mới và không còn phản ánh được tác động của Covariate Shift.</a:t>
            </a:r>
          </a:p>
          <a:p>
            <a:r>
              <a:t>2. Vì sao chỉ thử nghiệm trên 25 ảnh?</a:t>
            </a:r>
          </a:p>
          <a:p>
            <a:r>
              <a:t>-&gt; Đây là tập kiểm thử đại diện 25 chữ cái A-Y được cung cấp trong phạm vi bài tập lớn. Nhóm đã ghi rõ hạn chế này và đề xuất mở rộng tập dữ liệu trong hướng phát triển.</a:t>
            </a:r>
          </a:p>
          <a:p>
            <a:r>
              <a:t>3. Có phải Contrast Stretching luôn tệ hơn ảnh gốc?</a:t>
            </a:r>
          </a:p>
          <a:p>
            <a:r>
              <a:t>-&gt; Không. Nếu ảnh đầu vào thực sự bị chụp trong môi trường quá tối và mô hình được huấn luyện kèm data augmentation tương phản, tiền xử lý có thể có lợi. Điểm mấu chốt là sự tương thích phân phối.</a:t>
            </a:r>
          </a:p>
          <a:p>
            <a:r>
              <a:t>4. Vì sao Histogram Equalization lại giảm sâu đến 68%?</a:t>
            </a:r>
          </a:p>
          <a:p>
            <a:r>
              <a:t>-&gt; HE làm biến dạng phân phối phi tuyến tính rất mạnh, làm sáng các vùng tối tự nhiên giữa các kẽ ngón tay, triệt tiêu bóng đổ là đặc trưng biên quan trọng của CNN.</a:t>
            </a:r>
          </a:p>
          <a:p>
            <a:r>
              <a:t>5. Độ tự tin 98,4% của chữ E nói lên điều gì?</a:t>
            </a:r>
          </a:p>
          <a:p>
            <a:r>
              <a:t>-&gt; Cho thấy mạng bị over-confident (quá tự tin) khi phân phối bị lệch, chứng minh hàm Softmax cần được cân chuẩn (calibration) bằng các kỹ thuật như Temperature Scaling trước khi tin cậy vào xác suất.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1143000"/>
          </a:xfrm>
          <a:prstGeom prst="rect">
            <a:avLst/>
          </a:prstGeom>
          <a:noFill/>
        </p:spPr>
        <p:txBody>
          <a:bodyPr wrap="square" lIns="0" tIns="0" rIns="0" bIns="0">
            <a:spAutoFit/>
          </a:bodyPr>
          <a:lstStyle/>
          <a:p>
            <a:pPr>
              <a:defRPr sz="3150" b="1">
                <a:solidFill>
                  <a:srgbClr val="132E57"/>
                </a:solidFill>
                <a:latin typeface="Segoe UI"/>
              </a:defRPr>
            </a:pPr>
            <a:r>
              <a:t>ĐÁNH GIÁ TÁC ĐỘNG CỦA TIỀN XỬ LÝ ẢNH</a:t>
            </a:r>
          </a:p>
          <a:p>
            <a:pPr>
              <a:defRPr sz="3150" b="1">
                <a:solidFill>
                  <a:srgbClr val="165DDE"/>
                </a:solidFill>
                <a:latin typeface="Segoe UI"/>
              </a:defRPr>
            </a:pPr>
            <a:r>
              <a:t>ĐẾN NHẬN DIỆN KÝ HIỆU ASL BẰNG CNN</a:t>
            </a:r>
          </a:p>
        </p:txBody>
      </p:sp>
      <p:sp>
        <p:nvSpPr>
          <p:cNvPr id="4" name="TextBox 3"/>
          <p:cNvSpPr txBox="1"/>
          <p:nvPr/>
        </p:nvSpPr>
        <p:spPr>
          <a:xfrm>
            <a:off x="609600" y="1803400"/>
            <a:ext cx="10972800" cy="406400"/>
          </a:xfrm>
          <a:prstGeom prst="rect">
            <a:avLst/>
          </a:prstGeom>
          <a:noFill/>
        </p:spPr>
        <p:txBody>
          <a:bodyPr wrap="square" lIns="0" tIns="0" rIns="0" bIns="0">
            <a:spAutoFit/>
          </a:bodyPr>
          <a:lstStyle/>
          <a:p>
            <a:pPr>
              <a:defRPr sz="1700">
                <a:solidFill>
                  <a:srgbClr val="132E57"/>
                </a:solidFill>
                <a:latin typeface="Segoe UI"/>
              </a:defRPr>
            </a:pPr>
            <a:r>
              <a:t>So sánh ảnh gốc, Contrast Stretching và Histogram Equalization trên mô hình đã huấn luyện</a:t>
            </a:r>
          </a:p>
        </p:txBody>
      </p:sp>
      <p:pic>
        <p:nvPicPr>
          <p:cNvPr id="5" name="Picture 4" descr="hero_banner.png"/>
          <p:cNvPicPr>
            <a:picLocks noChangeAspect="1"/>
          </p:cNvPicPr>
          <p:nvPr/>
        </p:nvPicPr>
        <p:blipFill>
          <a:blip r:embed="rId2"/>
          <a:stretch>
            <a:fillRect/>
          </a:stretch>
        </p:blipFill>
        <p:spPr>
          <a:xfrm>
            <a:off x="609600" y="2349500"/>
            <a:ext cx="10972800" cy="2857500"/>
          </a:xfrm>
          <a:prstGeom prst="rect">
            <a:avLst/>
          </a:prstGeom>
        </p:spPr>
      </p:pic>
      <p:sp>
        <p:nvSpPr>
          <p:cNvPr id="6" name="TextBox 5"/>
          <p:cNvSpPr txBox="1"/>
          <p:nvPr/>
        </p:nvSpPr>
        <p:spPr>
          <a:xfrm>
            <a:off x="609600" y="5651500"/>
            <a:ext cx="5080000" cy="635000"/>
          </a:xfrm>
          <a:prstGeom prst="rect">
            <a:avLst/>
          </a:prstGeom>
          <a:noFill/>
        </p:spPr>
        <p:txBody>
          <a:bodyPr wrap="none" lIns="0" tIns="0" rIns="0" bIns="0">
            <a:spAutoFit/>
          </a:bodyPr>
          <a:lstStyle/>
          <a:p>
            <a:pPr>
              <a:defRPr sz="1200">
                <a:solidFill>
                  <a:srgbClr val="526985"/>
                </a:solidFill>
                <a:latin typeface="Segoe UI"/>
              </a:defRPr>
            </a:pPr>
            <a:r>
              <a:t>MÔN HỌC</a:t>
            </a:r>
          </a:p>
          <a:p>
            <a:pPr>
              <a:defRPr sz="1500" b="1">
                <a:solidFill>
                  <a:srgbClr val="132E57"/>
                </a:solidFill>
                <a:latin typeface="Segoe UI"/>
              </a:defRPr>
            </a:pPr>
            <a:r>
              <a:t>Xử lý ảnh &amp; Trí tuệ nhân tạo</a:t>
            </a:r>
          </a:p>
        </p:txBody>
      </p:sp>
      <p:sp>
        <p:nvSpPr>
          <p:cNvPr id="7" name="TextBox 6"/>
          <p:cNvSpPr txBox="1"/>
          <p:nvPr/>
        </p:nvSpPr>
        <p:spPr>
          <a:xfrm>
            <a:off x="6604000" y="5651500"/>
            <a:ext cx="4953000" cy="635000"/>
          </a:xfrm>
          <a:prstGeom prst="rect">
            <a:avLst/>
          </a:prstGeom>
          <a:noFill/>
        </p:spPr>
        <p:txBody>
          <a:bodyPr wrap="none" lIns="0" tIns="0" rIns="0" bIns="0">
            <a:spAutoFit/>
          </a:bodyPr>
          <a:lstStyle/>
          <a:p>
            <a:pPr>
              <a:defRPr sz="1200">
                <a:solidFill>
                  <a:srgbClr val="526985"/>
                </a:solidFill>
                <a:latin typeface="Segoe UI"/>
              </a:defRPr>
            </a:pPr>
            <a:r>
              <a:t>BÁO CÁO THỰC NGHIỆM</a:t>
            </a:r>
          </a:p>
          <a:p>
            <a:pPr>
              <a:defRPr sz="1500" b="1">
                <a:solidFill>
                  <a:srgbClr val="132E57"/>
                </a:solidFill>
                <a:latin typeface="Segoe UI"/>
              </a:defRPr>
            </a:pPr>
            <a:r>
              <a:t>Tập 25 ảnh ASL (A–Y) | Model: asl_classifier.keras</a:t>
            </a:r>
          </a:p>
        </p:txBody>
      </p:sp>
      <p:sp>
        <p:nvSpPr>
          <p:cNvPr id="8" name="TextBox 7"/>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Cải thiện thị giác liệu có cải thiện độ chính xác?</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Nghịch lý giữa khả năng quan sát của mắt người và phân phối đặc trưng mà mạng CNN đã học</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02</a:t>
            </a:r>
          </a:p>
        </p:txBody>
      </p:sp>
      <p:sp>
        <p:nvSpPr>
          <p:cNvPr id="6" name="Rectangle 5"/>
          <p:cNvSpPr/>
          <p:nvPr/>
        </p:nvSpPr>
        <p:spPr>
          <a:xfrm>
            <a:off x="609600" y="1841500"/>
            <a:ext cx="3454400" cy="17145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12800" y="20447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01</a:t>
            </a:r>
          </a:p>
        </p:txBody>
      </p:sp>
      <p:sp>
        <p:nvSpPr>
          <p:cNvPr id="8" name="TextBox 7"/>
          <p:cNvSpPr txBox="1"/>
          <p:nvPr/>
        </p:nvSpPr>
        <p:spPr>
          <a:xfrm>
            <a:off x="1219200" y="2044700"/>
            <a:ext cx="2692400" cy="304800"/>
          </a:xfrm>
          <a:prstGeom prst="rect">
            <a:avLst/>
          </a:prstGeom>
          <a:noFill/>
        </p:spPr>
        <p:txBody>
          <a:bodyPr wrap="square" lIns="0" tIns="0" rIns="0" bIns="0">
            <a:spAutoFit/>
          </a:bodyPr>
          <a:lstStyle/>
          <a:p>
            <a:pPr>
              <a:defRPr sz="1400" b="1">
                <a:solidFill>
                  <a:srgbClr val="132E57"/>
                </a:solidFill>
                <a:latin typeface="Segoe UI"/>
              </a:defRPr>
            </a:pPr>
            <a:r>
              <a:t>Tăng cường thị giác</a:t>
            </a:r>
          </a:p>
        </p:txBody>
      </p:sp>
      <p:sp>
        <p:nvSpPr>
          <p:cNvPr id="9" name="TextBox 8"/>
          <p:cNvSpPr txBox="1"/>
          <p:nvPr/>
        </p:nvSpPr>
        <p:spPr>
          <a:xfrm>
            <a:off x="812800" y="2451100"/>
            <a:ext cx="3048000" cy="952500"/>
          </a:xfrm>
          <a:prstGeom prst="rect">
            <a:avLst/>
          </a:prstGeom>
          <a:noFill/>
        </p:spPr>
        <p:txBody>
          <a:bodyPr wrap="square" lIns="0" tIns="0" rIns="0" bIns="0">
            <a:spAutoFit/>
          </a:bodyPr>
          <a:lstStyle/>
          <a:p>
            <a:pPr>
              <a:defRPr sz="1250">
                <a:solidFill>
                  <a:srgbClr val="526985"/>
                </a:solidFill>
                <a:latin typeface="Segoe UI"/>
              </a:defRPr>
            </a:pPr>
            <a:r>
              <a:t>Tiền xử lý thường được áp dụng với giả định làm ảnh rõ nét, tăng độ tương phản cục bộ để mắt người dễ quan sát hơn.</a:t>
            </a:r>
          </a:p>
        </p:txBody>
      </p:sp>
      <p:sp>
        <p:nvSpPr>
          <p:cNvPr id="10" name="Rectangle 9"/>
          <p:cNvSpPr/>
          <p:nvPr/>
        </p:nvSpPr>
        <p:spPr>
          <a:xfrm>
            <a:off x="4368800" y="1841500"/>
            <a:ext cx="3454400" cy="17145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20447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02</a:t>
            </a:r>
          </a:p>
        </p:txBody>
      </p:sp>
      <p:sp>
        <p:nvSpPr>
          <p:cNvPr id="12" name="TextBox 11"/>
          <p:cNvSpPr txBox="1"/>
          <p:nvPr/>
        </p:nvSpPr>
        <p:spPr>
          <a:xfrm>
            <a:off x="4978400" y="2044700"/>
            <a:ext cx="2692400" cy="304800"/>
          </a:xfrm>
          <a:prstGeom prst="rect">
            <a:avLst/>
          </a:prstGeom>
          <a:noFill/>
        </p:spPr>
        <p:txBody>
          <a:bodyPr wrap="square" lIns="0" tIns="0" rIns="0" bIns="0">
            <a:spAutoFit/>
          </a:bodyPr>
          <a:lstStyle/>
          <a:p>
            <a:pPr>
              <a:defRPr sz="1400" b="1">
                <a:solidFill>
                  <a:srgbClr val="132E57"/>
                </a:solidFill>
                <a:latin typeface="Segoe UI"/>
              </a:defRPr>
            </a:pPr>
            <a:r>
              <a:t>Lệch phân phối (Shift)</a:t>
            </a:r>
          </a:p>
        </p:txBody>
      </p:sp>
      <p:sp>
        <p:nvSpPr>
          <p:cNvPr id="13" name="TextBox 12"/>
          <p:cNvSpPr txBox="1"/>
          <p:nvPr/>
        </p:nvSpPr>
        <p:spPr>
          <a:xfrm>
            <a:off x="4572000" y="2451100"/>
            <a:ext cx="3048000" cy="952500"/>
          </a:xfrm>
          <a:prstGeom prst="rect">
            <a:avLst/>
          </a:prstGeom>
          <a:noFill/>
        </p:spPr>
        <p:txBody>
          <a:bodyPr wrap="square" lIns="0" tIns="0" rIns="0" bIns="0">
            <a:spAutoFit/>
          </a:bodyPr>
          <a:lstStyle/>
          <a:p>
            <a:pPr>
              <a:defRPr sz="1250">
                <a:solidFill>
                  <a:srgbClr val="526985"/>
                </a:solidFill>
                <a:latin typeface="Segoe UI"/>
              </a:defRPr>
            </a:pPr>
            <a:r>
              <a:t>Mô hình CNN được tối ưu trên phân phối ảnh huấn luyện ban đầu. Biến đổi độ sáng làm dịch chuyển phân phối pixel đầu vào.</a:t>
            </a:r>
          </a:p>
        </p:txBody>
      </p:sp>
      <p:sp>
        <p:nvSpPr>
          <p:cNvPr id="14" name="Rectangle 13"/>
          <p:cNvSpPr/>
          <p:nvPr/>
        </p:nvSpPr>
        <p:spPr>
          <a:xfrm>
            <a:off x="8128000" y="1841500"/>
            <a:ext cx="3454400" cy="17145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31200" y="20447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03</a:t>
            </a:r>
          </a:p>
        </p:txBody>
      </p:sp>
      <p:sp>
        <p:nvSpPr>
          <p:cNvPr id="16" name="TextBox 15"/>
          <p:cNvSpPr txBox="1"/>
          <p:nvPr/>
        </p:nvSpPr>
        <p:spPr>
          <a:xfrm>
            <a:off x="8737600" y="2044700"/>
            <a:ext cx="2692400" cy="304800"/>
          </a:xfrm>
          <a:prstGeom prst="rect">
            <a:avLst/>
          </a:prstGeom>
          <a:noFill/>
        </p:spPr>
        <p:txBody>
          <a:bodyPr wrap="square" lIns="0" tIns="0" rIns="0" bIns="0">
            <a:spAutoFit/>
          </a:bodyPr>
          <a:lstStyle/>
          <a:p>
            <a:pPr>
              <a:defRPr sz="1400" b="1">
                <a:solidFill>
                  <a:srgbClr val="132E57"/>
                </a:solidFill>
                <a:latin typeface="Segoe UI"/>
              </a:defRPr>
            </a:pPr>
            <a:r>
              <a:t>Nghịch lý trực quan</a:t>
            </a:r>
          </a:p>
        </p:txBody>
      </p:sp>
      <p:sp>
        <p:nvSpPr>
          <p:cNvPr id="17" name="TextBox 16"/>
          <p:cNvSpPr txBox="1"/>
          <p:nvPr/>
        </p:nvSpPr>
        <p:spPr>
          <a:xfrm>
            <a:off x="8331200" y="2451100"/>
            <a:ext cx="3048000" cy="952500"/>
          </a:xfrm>
          <a:prstGeom prst="rect">
            <a:avLst/>
          </a:prstGeom>
          <a:noFill/>
        </p:spPr>
        <p:txBody>
          <a:bodyPr wrap="square" lIns="0" tIns="0" rIns="0" bIns="0">
            <a:spAutoFit/>
          </a:bodyPr>
          <a:lstStyle/>
          <a:p>
            <a:pPr>
              <a:defRPr sz="1250">
                <a:solidFill>
                  <a:srgbClr val="526985"/>
                </a:solidFill>
                <a:latin typeface="Segoe UI"/>
              </a:defRPr>
            </a:pPr>
            <a:r>
              <a:t>Ảnh trông rõ nét hơn đối với mắt người không đồng nghĩa với việc mạng CNN sẽ trích xuất đặc trưng chính xác hơn.</a:t>
            </a:r>
          </a:p>
        </p:txBody>
      </p:sp>
      <p:sp>
        <p:nvSpPr>
          <p:cNvPr id="18" name="Rectangle 17"/>
          <p:cNvSpPr/>
          <p:nvPr/>
        </p:nvSpPr>
        <p:spPr>
          <a:xfrm>
            <a:off x="609600" y="3810000"/>
            <a:ext cx="10972800" cy="1117600"/>
          </a:xfrm>
          <a:prstGeom prst="rect">
            <a:avLst/>
          </a:prstGeom>
          <a:solidFill>
            <a:srgbClr val="EAF2FF"/>
          </a:solidFill>
          <a:ln w="1905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3600" y="3937000"/>
            <a:ext cx="10464800" cy="889000"/>
          </a:xfrm>
          <a:prstGeom prst="rect">
            <a:avLst/>
          </a:prstGeom>
          <a:noFill/>
        </p:spPr>
        <p:txBody>
          <a:bodyPr wrap="square" lIns="0" tIns="0" rIns="0" bIns="0">
            <a:spAutoFit/>
          </a:bodyPr>
          <a:lstStyle/>
          <a:p>
            <a:pPr>
              <a:defRPr sz="1200" b="1">
                <a:solidFill>
                  <a:srgbClr val="165DDE"/>
                </a:solidFill>
                <a:latin typeface="Segoe UI"/>
              </a:defRPr>
            </a:pPr>
            <a:r>
              <a:t>CÂU HỎI NGHIÊN CỨU TRỌNG TÂM</a:t>
            </a:r>
          </a:p>
          <a:p>
            <a:pPr>
              <a:defRPr sz="1650" b="1">
                <a:solidFill>
                  <a:srgbClr val="132E57"/>
                </a:solidFill>
                <a:latin typeface="Segoe UI"/>
              </a:defRPr>
            </a:pPr>
            <a:r>
              <a:t>Contrast Stretching và Histogram Equalization ảnh hưởng như thế nào đến độ chính xác và phân phối xác suất Softmax của một CNN đã huấn luyện?</a:t>
            </a:r>
          </a:p>
        </p:txBody>
      </p:sp>
      <p:sp>
        <p:nvSpPr>
          <p:cNvPr id="20" name="Rectangle 19"/>
          <p:cNvSpPr/>
          <p:nvPr/>
        </p:nvSpPr>
        <p:spPr>
          <a:xfrm>
            <a:off x="609600" y="5181600"/>
            <a:ext cx="10972800" cy="952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3600" y="5283200"/>
            <a:ext cx="10464800" cy="762000"/>
          </a:xfrm>
          <a:prstGeom prst="rect">
            <a:avLst/>
          </a:prstGeom>
          <a:noFill/>
        </p:spPr>
        <p:txBody>
          <a:bodyPr wrap="square" lIns="0" tIns="0" rIns="0" bIns="0">
            <a:spAutoFit/>
          </a:bodyPr>
          <a:lstStyle/>
          <a:p>
            <a:pPr>
              <a:defRPr sz="1150" b="1">
                <a:solidFill>
                  <a:srgbClr val="526985"/>
                </a:solidFill>
                <a:latin typeface="Segoe UI"/>
              </a:defRPr>
            </a:pPr>
            <a:r>
              <a:t>BA TRƯỜNG HỢP SO SÁNH TRỰC DIỆN:</a:t>
            </a:r>
          </a:p>
          <a:p>
            <a:r>
              <a:rPr b="1">
                <a:solidFill>
                  <a:srgbClr val="132E57"/>
                </a:solidFill>
              </a:rPr>
              <a:t>1. Ảnh gốc (Baseline): </a:t>
            </a:r>
            <a:r>
              <a:rPr>
                <a:solidFill>
                  <a:srgbClr val="526985"/>
                </a:solidFill>
              </a:rPr>
              <a:t>Đối chứng nguyên bản.   </a:t>
            </a:r>
            <a:r>
              <a:rPr b="1">
                <a:solidFill>
                  <a:srgbClr val="165DDE"/>
                </a:solidFill>
              </a:rPr>
              <a:t>2. Contrast Stretching: </a:t>
            </a:r>
            <a:r>
              <a:rPr>
                <a:solidFill>
                  <a:srgbClr val="526985"/>
                </a:solidFill>
              </a:rPr>
              <a:t>Kéo giãn tuyến tính P1–P99 kênh Y.   </a:t>
            </a:r>
            <a:r>
              <a:rPr b="1">
                <a:solidFill>
                  <a:srgbClr val="B76A12"/>
                </a:solidFill>
              </a:rPr>
              <a:t>3. Histogram Equalization: </a:t>
            </a:r>
            <a:r>
              <a:rPr>
                <a:solidFill>
                  <a:srgbClr val="526985"/>
                </a:solidFill>
              </a:rPr>
              <a:t>Cân bằng tích lũy CDF kênh 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Dữ liệu kiểm thử và kiến trúc mô hình CNN</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Đánh giá khách quan tác động của tiền xử lý khi cấu trúc và trọng số mạng được cố định tuyệt đối</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03</a:t>
            </a:r>
          </a:p>
        </p:txBody>
      </p:sp>
      <p:sp>
        <p:nvSpPr>
          <p:cNvPr id="6" name="Rectangle 5"/>
          <p:cNvSpPr/>
          <p:nvPr/>
        </p:nvSpPr>
        <p:spPr>
          <a:xfrm>
            <a:off x="609600" y="1803400"/>
            <a:ext cx="5334000" cy="12065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1930400"/>
            <a:ext cx="4953000" cy="952500"/>
          </a:xfrm>
          <a:prstGeom prst="rect">
            <a:avLst/>
          </a:prstGeom>
          <a:noFill/>
        </p:spPr>
        <p:txBody>
          <a:bodyPr wrap="square" lIns="0" tIns="0" rIns="0" bIns="0">
            <a:spAutoFit/>
          </a:bodyPr>
          <a:lstStyle/>
          <a:p>
            <a:pPr>
              <a:defRPr sz="1200" b="1">
                <a:solidFill>
                  <a:srgbClr val="165DDE"/>
                </a:solidFill>
                <a:latin typeface="Segoe UI"/>
              </a:defRPr>
            </a:pPr>
            <a:r>
              <a:t>TẬP DỮ LIỆU KIỂM THỬ THỰC NGHIỆM</a:t>
            </a:r>
          </a:p>
          <a:p>
            <a:pPr>
              <a:defRPr sz="1200">
                <a:solidFill>
                  <a:srgbClr val="132E57"/>
                </a:solidFill>
                <a:latin typeface="Segoe UI"/>
              </a:defRPr>
            </a:pPr>
            <a:r>
              <a:t>• 25 ảnh ký hiệu bàn tay ASL tương ứng 25 chữ cái A–Y.</a:t>
            </a:r>
            <a:br/>
            <a:r>
              <a:t>• Định dạng: RGB, kích thước chuẩn hóa 100 × 100 pixel.</a:t>
            </a:r>
            <a:br/>
            <a:r>
              <a:t>• Cùng một tập ảnh nguồn được dùng cho cả 3 nhánh thử nghiệm.</a:t>
            </a:r>
          </a:p>
        </p:txBody>
      </p:sp>
      <p:sp>
        <p:nvSpPr>
          <p:cNvPr id="8" name="Rectangle 7"/>
          <p:cNvSpPr/>
          <p:nvPr/>
        </p:nvSpPr>
        <p:spPr>
          <a:xfrm>
            <a:off x="6248400" y="1803400"/>
            <a:ext cx="5334000" cy="12065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1600" y="1930400"/>
            <a:ext cx="4953000" cy="952500"/>
          </a:xfrm>
          <a:prstGeom prst="rect">
            <a:avLst/>
          </a:prstGeom>
          <a:noFill/>
        </p:spPr>
        <p:txBody>
          <a:bodyPr wrap="square" lIns="0" tIns="0" rIns="0" bIns="0">
            <a:spAutoFit/>
          </a:bodyPr>
          <a:lstStyle/>
          <a:p>
            <a:pPr>
              <a:defRPr sz="1200" b="1">
                <a:solidFill>
                  <a:srgbClr val="132E57"/>
                </a:solidFill>
                <a:latin typeface="Segoe UI"/>
              </a:defRPr>
            </a:pPr>
            <a:r>
              <a:t>MÔ HÌNH THỰC NGHIỆM: asl_classifier.keras</a:t>
            </a:r>
          </a:p>
          <a:p>
            <a:pPr>
              <a:defRPr sz="1200">
                <a:solidFill>
                  <a:srgbClr val="526985"/>
                </a:solidFill>
                <a:latin typeface="Segoe UI"/>
              </a:defRPr>
            </a:pPr>
            <a:r>
              <a:t>• Trọng số gốc được đóng băng hoàn toàn; mã SHA-256 cố định.</a:t>
            </a:r>
            <a:br/>
            <a:r>
              <a:t>• Đầu vào yêu cầu: Tensor chuẩn hóa [0, 1] kích thước (100, 100, 3).</a:t>
            </a:r>
            <a:br/>
            <a:r>
              <a:t>• Đầu ra phân loại: 29 lớp ký tự (26 chữ cái + ký hiệu phụ) qua Softmax.</a:t>
            </a:r>
          </a:p>
        </p:txBody>
      </p:sp>
      <p:sp>
        <p:nvSpPr>
          <p:cNvPr id="10" name="Rectangle 9"/>
          <p:cNvSpPr/>
          <p:nvPr/>
        </p:nvSpPr>
        <p:spPr>
          <a:xfrm>
            <a:off x="762000" y="3543300"/>
            <a:ext cx="10668000" cy="25400"/>
          </a:xfrm>
          <a:prstGeom prst="rect">
            <a:avLst/>
          </a:prstGeom>
          <a:solidFill>
            <a:srgbClr val="D8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3365500"/>
            <a:ext cx="2032000" cy="2222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2000" y="3467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01</a:t>
            </a:r>
          </a:p>
        </p:txBody>
      </p:sp>
      <p:sp>
        <p:nvSpPr>
          <p:cNvPr id="13" name="TextBox 12"/>
          <p:cNvSpPr txBox="1"/>
          <p:nvPr/>
        </p:nvSpPr>
        <p:spPr>
          <a:xfrm>
            <a:off x="736600" y="3848100"/>
            <a:ext cx="1778000" cy="1651000"/>
          </a:xfrm>
          <a:prstGeom prst="rect">
            <a:avLst/>
          </a:prstGeom>
          <a:noFill/>
        </p:spPr>
        <p:txBody>
          <a:bodyPr wrap="square" lIns="0" tIns="0" rIns="0" bIns="0">
            <a:spAutoFit/>
          </a:bodyPr>
          <a:lstStyle/>
          <a:p>
            <a:pPr>
              <a:defRPr sz="1300" b="1">
                <a:solidFill>
                  <a:srgbClr val="132E57"/>
                </a:solidFill>
                <a:latin typeface="Segoe UI"/>
              </a:defRPr>
            </a:pPr>
            <a:r>
              <a:t>Input &amp; Scale</a:t>
            </a:r>
          </a:p>
          <a:p>
            <a:pPr>
              <a:defRPr sz="1150" b="1">
                <a:solidFill>
                  <a:srgbClr val="165DDE"/>
                </a:solidFill>
                <a:latin typeface="Segoe UI"/>
              </a:defRPr>
            </a:pPr>
            <a:r>
              <a:t>(100, 100, 3)</a:t>
            </a:r>
          </a:p>
          <a:p>
            <a:pPr>
              <a:defRPr sz="1100">
                <a:solidFill>
                  <a:srgbClr val="526985"/>
                </a:solidFill>
                <a:latin typeface="Segoe UI"/>
              </a:defRPr>
            </a:pPr>
            <a:r>
              <a:t>Chuẩn hóa pixel về đoạn [0, 1] trước khi đưa vào mạng</a:t>
            </a:r>
          </a:p>
        </p:txBody>
      </p:sp>
      <p:sp>
        <p:nvSpPr>
          <p:cNvPr id="14" name="Rectangle 13"/>
          <p:cNvSpPr/>
          <p:nvPr/>
        </p:nvSpPr>
        <p:spPr>
          <a:xfrm>
            <a:off x="2844800" y="3365500"/>
            <a:ext cx="2032000" cy="2222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97200" y="3467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02</a:t>
            </a:r>
          </a:p>
        </p:txBody>
      </p:sp>
      <p:sp>
        <p:nvSpPr>
          <p:cNvPr id="16" name="TextBox 15"/>
          <p:cNvSpPr txBox="1"/>
          <p:nvPr/>
        </p:nvSpPr>
        <p:spPr>
          <a:xfrm>
            <a:off x="2971800" y="3848100"/>
            <a:ext cx="1778000" cy="1651000"/>
          </a:xfrm>
          <a:prstGeom prst="rect">
            <a:avLst/>
          </a:prstGeom>
          <a:noFill/>
        </p:spPr>
        <p:txBody>
          <a:bodyPr wrap="square" lIns="0" tIns="0" rIns="0" bIns="0">
            <a:spAutoFit/>
          </a:bodyPr>
          <a:lstStyle/>
          <a:p>
            <a:pPr>
              <a:defRPr sz="1300" b="1">
                <a:solidFill>
                  <a:srgbClr val="132E57"/>
                </a:solidFill>
                <a:latin typeface="Segoe UI"/>
              </a:defRPr>
            </a:pPr>
            <a:r>
              <a:t>Conv Block 1</a:t>
            </a:r>
          </a:p>
          <a:p>
            <a:pPr>
              <a:defRPr sz="1150" b="1">
                <a:solidFill>
                  <a:srgbClr val="165DDE"/>
                </a:solidFill>
                <a:latin typeface="Segoe UI"/>
              </a:defRPr>
            </a:pPr>
            <a:r>
              <a:t>64 filters (3×3)</a:t>
            </a:r>
          </a:p>
          <a:p>
            <a:pPr>
              <a:defRPr sz="1100">
                <a:solidFill>
                  <a:srgbClr val="526985"/>
                </a:solidFill>
                <a:latin typeface="Segoe UI"/>
              </a:defRPr>
            </a:pPr>
            <a:r>
              <a:t>ReLU activation kết hợp MaxPooling (2×2) giảm chiều</a:t>
            </a:r>
          </a:p>
        </p:txBody>
      </p:sp>
      <p:sp>
        <p:nvSpPr>
          <p:cNvPr id="17" name="Rectangle 16"/>
          <p:cNvSpPr/>
          <p:nvPr/>
        </p:nvSpPr>
        <p:spPr>
          <a:xfrm>
            <a:off x="5080000" y="3365500"/>
            <a:ext cx="2032000" cy="2222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232400" y="3467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03</a:t>
            </a:r>
          </a:p>
        </p:txBody>
      </p:sp>
      <p:sp>
        <p:nvSpPr>
          <p:cNvPr id="19" name="TextBox 18"/>
          <p:cNvSpPr txBox="1"/>
          <p:nvPr/>
        </p:nvSpPr>
        <p:spPr>
          <a:xfrm>
            <a:off x="5207000" y="3848100"/>
            <a:ext cx="1778000" cy="1651000"/>
          </a:xfrm>
          <a:prstGeom prst="rect">
            <a:avLst/>
          </a:prstGeom>
          <a:noFill/>
        </p:spPr>
        <p:txBody>
          <a:bodyPr wrap="square" lIns="0" tIns="0" rIns="0" bIns="0">
            <a:spAutoFit/>
          </a:bodyPr>
          <a:lstStyle/>
          <a:p>
            <a:pPr>
              <a:defRPr sz="1300" b="1">
                <a:solidFill>
                  <a:srgbClr val="132E57"/>
                </a:solidFill>
                <a:latin typeface="Segoe UI"/>
              </a:defRPr>
            </a:pPr>
            <a:r>
              <a:t>Conv Block 2</a:t>
            </a:r>
          </a:p>
          <a:p>
            <a:pPr>
              <a:defRPr sz="1150" b="1">
                <a:solidFill>
                  <a:srgbClr val="165DDE"/>
                </a:solidFill>
                <a:latin typeface="Segoe UI"/>
              </a:defRPr>
            </a:pPr>
            <a:r>
              <a:t>64 filters (3×3)</a:t>
            </a:r>
          </a:p>
          <a:p>
            <a:pPr>
              <a:defRPr sz="1100">
                <a:solidFill>
                  <a:srgbClr val="526985"/>
                </a:solidFill>
                <a:latin typeface="Segoe UI"/>
              </a:defRPr>
            </a:pPr>
            <a:r>
              <a:t>ReLU activation kết hợp MaxPooling (2×2) trích xuất sâu</a:t>
            </a:r>
          </a:p>
        </p:txBody>
      </p:sp>
      <p:sp>
        <p:nvSpPr>
          <p:cNvPr id="20" name="Rectangle 19"/>
          <p:cNvSpPr/>
          <p:nvPr/>
        </p:nvSpPr>
        <p:spPr>
          <a:xfrm>
            <a:off x="7315200" y="3365500"/>
            <a:ext cx="2032000" cy="2222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67600" y="3467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04</a:t>
            </a:r>
          </a:p>
        </p:txBody>
      </p:sp>
      <p:sp>
        <p:nvSpPr>
          <p:cNvPr id="22" name="TextBox 21"/>
          <p:cNvSpPr txBox="1"/>
          <p:nvPr/>
        </p:nvSpPr>
        <p:spPr>
          <a:xfrm>
            <a:off x="7442200" y="3848100"/>
            <a:ext cx="1778000" cy="1651000"/>
          </a:xfrm>
          <a:prstGeom prst="rect">
            <a:avLst/>
          </a:prstGeom>
          <a:noFill/>
        </p:spPr>
        <p:txBody>
          <a:bodyPr wrap="square" lIns="0" tIns="0" rIns="0" bIns="0">
            <a:spAutoFit/>
          </a:bodyPr>
          <a:lstStyle/>
          <a:p>
            <a:pPr>
              <a:defRPr sz="1300" b="1">
                <a:solidFill>
                  <a:srgbClr val="132E57"/>
                </a:solidFill>
                <a:latin typeface="Segoe UI"/>
              </a:defRPr>
            </a:pPr>
            <a:r>
              <a:t>Dense Layer</a:t>
            </a:r>
          </a:p>
          <a:p>
            <a:pPr>
              <a:defRPr sz="1150" b="1">
                <a:solidFill>
                  <a:srgbClr val="165DDE"/>
                </a:solidFill>
                <a:latin typeface="Segoe UI"/>
              </a:defRPr>
            </a:pPr>
            <a:r>
              <a:t>128 units (ReLU)</a:t>
            </a:r>
          </a:p>
          <a:p>
            <a:pPr>
              <a:defRPr sz="1100">
                <a:solidFill>
                  <a:srgbClr val="526985"/>
                </a:solidFill>
                <a:latin typeface="Segoe UI"/>
              </a:defRPr>
            </a:pPr>
            <a:r>
              <a:t>Flatten tạo 33.856 đặc trưng kết nối vào lớp Dense ẩn</a:t>
            </a:r>
          </a:p>
        </p:txBody>
      </p:sp>
      <p:sp>
        <p:nvSpPr>
          <p:cNvPr id="23" name="Rectangle 22"/>
          <p:cNvSpPr/>
          <p:nvPr/>
        </p:nvSpPr>
        <p:spPr>
          <a:xfrm>
            <a:off x="9550400" y="3365500"/>
            <a:ext cx="2032000" cy="2222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02800" y="3467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05</a:t>
            </a:r>
          </a:p>
        </p:txBody>
      </p:sp>
      <p:sp>
        <p:nvSpPr>
          <p:cNvPr id="25" name="TextBox 24"/>
          <p:cNvSpPr txBox="1"/>
          <p:nvPr/>
        </p:nvSpPr>
        <p:spPr>
          <a:xfrm>
            <a:off x="9677400" y="3848100"/>
            <a:ext cx="1778000" cy="1651000"/>
          </a:xfrm>
          <a:prstGeom prst="rect">
            <a:avLst/>
          </a:prstGeom>
          <a:noFill/>
        </p:spPr>
        <p:txBody>
          <a:bodyPr wrap="square" lIns="0" tIns="0" rIns="0" bIns="0">
            <a:spAutoFit/>
          </a:bodyPr>
          <a:lstStyle/>
          <a:p>
            <a:pPr>
              <a:defRPr sz="1300" b="1">
                <a:solidFill>
                  <a:srgbClr val="132E57"/>
                </a:solidFill>
                <a:latin typeface="Segoe UI"/>
              </a:defRPr>
            </a:pPr>
            <a:r>
              <a:t>Softmax Output</a:t>
            </a:r>
          </a:p>
          <a:p>
            <a:pPr>
              <a:defRPr sz="1150" b="1">
                <a:solidFill>
                  <a:srgbClr val="165DDE"/>
                </a:solidFill>
                <a:latin typeface="Segoe UI"/>
              </a:defRPr>
            </a:pPr>
            <a:r>
              <a:t>29 classes</a:t>
            </a:r>
          </a:p>
          <a:p>
            <a:pPr>
              <a:defRPr sz="1100">
                <a:solidFill>
                  <a:srgbClr val="526985"/>
                </a:solidFill>
                <a:latin typeface="Segoe UI"/>
              </a:defRPr>
            </a:pPr>
            <a:r>
              <a:t>Phân phối xác suất Softmax cho 29 lớp ký hiệu ngôn ngữ</a:t>
            </a:r>
          </a:p>
        </p:txBody>
      </p:sp>
      <p:sp>
        <p:nvSpPr>
          <p:cNvPr id="26" name="TextBox 25"/>
          <p:cNvSpPr txBox="1"/>
          <p:nvPr/>
        </p:nvSpPr>
        <p:spPr>
          <a:xfrm>
            <a:off x="609600" y="5905500"/>
            <a:ext cx="10972800" cy="381000"/>
          </a:xfrm>
          <a:prstGeom prst="rect">
            <a:avLst/>
          </a:prstGeom>
          <a:noFill/>
        </p:spPr>
        <p:txBody>
          <a:bodyPr wrap="square" lIns="0" tIns="0" rIns="0" bIns="0">
            <a:spAutoFit/>
          </a:bodyPr>
          <a:lstStyle/>
          <a:p>
            <a:pPr>
              <a:defRPr sz="1200">
                <a:solidFill>
                  <a:srgbClr val="526985"/>
                </a:solidFill>
                <a:latin typeface="Segoe UI"/>
              </a:defRPr>
            </a:pPr>
            <a:r>
              <a:t>Lưu ý khoa học: Trọng số mô hình được giữ cố định để cô lập hoàn toàn tác động của tiền xử lý. Chưa khẳng định tập 25 ảnh kiểm thử hoàn toàn độc lập với dữ liệu huấn luyện ban đầu do thiếu thông tin siêu dữ liệu nguồn.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Phương pháp 1: Kéo giãn tương phản (Contrast Stretching)</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Kéo giãn tuyến tính kênh độ sáng Y trong không gian màu YCrCb có cắt ngưỡng phân vị P1% và P99%</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04</a:t>
            </a:r>
          </a:p>
        </p:txBody>
      </p:sp>
      <p:sp>
        <p:nvSpPr>
          <p:cNvPr id="6" name="Rectangle 5"/>
          <p:cNvSpPr/>
          <p:nvPr/>
        </p:nvSpPr>
        <p:spPr>
          <a:xfrm>
            <a:off x="609600" y="1841500"/>
            <a:ext cx="5842000" cy="1333500"/>
          </a:xfrm>
          <a:prstGeom prst="rect">
            <a:avLst/>
          </a:prstGeom>
          <a:solidFill>
            <a:srgbClr val="EAF2FF"/>
          </a:solidFill>
          <a:ln w="1905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968500"/>
            <a:ext cx="5384800" cy="1079500"/>
          </a:xfrm>
          <a:prstGeom prst="rect">
            <a:avLst/>
          </a:prstGeom>
          <a:noFill/>
        </p:spPr>
        <p:txBody>
          <a:bodyPr wrap="square" lIns="0" tIns="0" rIns="0" bIns="0">
            <a:spAutoFit/>
          </a:bodyPr>
          <a:lstStyle/>
          <a:p>
            <a:pPr>
              <a:defRPr sz="1150" b="1">
                <a:solidFill>
                  <a:srgbClr val="165DDE"/>
                </a:solidFill>
                <a:latin typeface="Segoe UI"/>
              </a:defRPr>
            </a:pPr>
            <a:r>
              <a:t>CÔNG THỨC ÁNH XẠ KÉO GIÃN TUYẾN TÍNH KÊNH Y</a:t>
            </a:r>
          </a:p>
          <a:p>
            <a:pPr>
              <a:defRPr sz="1800" b="1">
                <a:solidFill>
                  <a:srgbClr val="132E57"/>
                </a:solidFill>
                <a:latin typeface="Segoe UI"/>
              </a:defRPr>
            </a:pPr>
            <a:r>
              <a:t>s = clip( ((r − P1%) / (P99% − P1%)) × 255, 0, 255 )</a:t>
            </a:r>
          </a:p>
          <a:p>
            <a:pPr>
              <a:defRPr sz="1150">
                <a:solidFill>
                  <a:srgbClr val="526985"/>
                </a:solidFill>
                <a:latin typeface="Segoe UI"/>
              </a:defRPr>
            </a:pPr>
            <a:r>
              <a:t>Trong đó: r là mức sáng đầu vào; P1% và P99% là ngưỡng phân vị 1% và 99%.</a:t>
            </a:r>
          </a:p>
        </p:txBody>
      </p:sp>
      <p:sp>
        <p:nvSpPr>
          <p:cNvPr id="8" name="Rectangle 7"/>
          <p:cNvSpPr/>
          <p:nvPr/>
        </p:nvSpPr>
        <p:spPr>
          <a:xfrm>
            <a:off x="609600" y="3365500"/>
            <a:ext cx="5842000" cy="6858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3441700"/>
            <a:ext cx="5435600" cy="533400"/>
          </a:xfrm>
          <a:prstGeom prst="rect">
            <a:avLst/>
          </a:prstGeom>
          <a:noFill/>
        </p:spPr>
        <p:txBody>
          <a:bodyPr wrap="square" lIns="0" tIns="0" rIns="0" bIns="0">
            <a:spAutoFit/>
          </a:bodyPr>
          <a:lstStyle/>
          <a:p>
            <a:r>
              <a:rPr b="1" sz="1200">
                <a:solidFill>
                  <a:srgbClr val="132E57"/>
                </a:solidFill>
              </a:rPr>
              <a:t>Cắt ngưỡng phân vị (Percentile Clipping): </a:t>
            </a:r>
            <a:r>
              <a:rPr sz="1150">
                <a:solidFill>
                  <a:srgbClr val="526985"/>
                </a:solidFill>
              </a:rPr>
              <a:t>Các giá trị cường độ &lt; P1% được đưa về 0, &gt; P99% đưa về 255 nhằm triệt tiêu các điểm nhiễu cực đại hoặc cực tiểu đơn lẻ.</a:t>
            </a:r>
          </a:p>
        </p:txBody>
      </p:sp>
      <p:sp>
        <p:nvSpPr>
          <p:cNvPr id="10" name="Rectangle 9"/>
          <p:cNvSpPr/>
          <p:nvPr/>
        </p:nvSpPr>
        <p:spPr>
          <a:xfrm>
            <a:off x="609600" y="4152900"/>
            <a:ext cx="5842000" cy="6858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4229100"/>
            <a:ext cx="5435600" cy="533400"/>
          </a:xfrm>
          <a:prstGeom prst="rect">
            <a:avLst/>
          </a:prstGeom>
          <a:noFill/>
        </p:spPr>
        <p:txBody>
          <a:bodyPr wrap="square" lIns="0" tIns="0" rIns="0" bIns="0">
            <a:spAutoFit/>
          </a:bodyPr>
          <a:lstStyle/>
          <a:p>
            <a:r>
              <a:rPr b="1" sz="1200">
                <a:solidFill>
                  <a:srgbClr val="132E57"/>
                </a:solidFill>
              </a:rPr>
              <a:t>Kéo giãn dải động tuyến tính: </a:t>
            </a:r>
            <a:r>
              <a:rPr sz="1150">
                <a:solidFill>
                  <a:srgbClr val="526985"/>
                </a:solidFill>
              </a:rPr>
              <a:t>Khoảng cường độ giữa [P1%, P99%] được nhân phóng đại để trải rộng kín toàn bộ dải [0, 255], giúp tăng độ tương phản cục bộ.</a:t>
            </a:r>
          </a:p>
        </p:txBody>
      </p:sp>
      <p:sp>
        <p:nvSpPr>
          <p:cNvPr id="12" name="Rectangle 11"/>
          <p:cNvSpPr/>
          <p:nvPr/>
        </p:nvSpPr>
        <p:spPr>
          <a:xfrm>
            <a:off x="609600" y="4940300"/>
            <a:ext cx="5842000" cy="6858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5016500"/>
            <a:ext cx="5435600" cy="533400"/>
          </a:xfrm>
          <a:prstGeom prst="rect">
            <a:avLst/>
          </a:prstGeom>
          <a:noFill/>
        </p:spPr>
        <p:txBody>
          <a:bodyPr wrap="square" lIns="0" tIns="0" rIns="0" bIns="0">
            <a:spAutoFit/>
          </a:bodyPr>
          <a:lstStyle/>
          <a:p>
            <a:r>
              <a:rPr b="1" sz="1200">
                <a:solidFill>
                  <a:srgbClr val="132E57"/>
                </a:solidFill>
              </a:rPr>
              <a:t>Bảo toàn thông tin màu sắc: </a:t>
            </a:r>
            <a:r>
              <a:rPr sz="1150">
                <a:solidFill>
                  <a:srgbClr val="526985"/>
                </a:solidFill>
              </a:rPr>
              <a:t>Chỉ can thiệp vào kênh độ sáng Y; hai kênh sắc độ Cr và Cb được giữ nguyên nhằm hạn chế hiện tượng sai lệch màu da tay.</a:t>
            </a:r>
          </a:p>
        </p:txBody>
      </p:sp>
      <p:sp>
        <p:nvSpPr>
          <p:cNvPr id="14" name="Rectangle 13"/>
          <p:cNvSpPr/>
          <p:nvPr/>
        </p:nvSpPr>
        <p:spPr>
          <a:xfrm>
            <a:off x="6756400" y="1841500"/>
            <a:ext cx="4826000" cy="36830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10400" y="1968500"/>
            <a:ext cx="4318000" cy="381000"/>
          </a:xfrm>
          <a:prstGeom prst="rect">
            <a:avLst/>
          </a:prstGeom>
          <a:noFill/>
        </p:spPr>
        <p:txBody>
          <a:bodyPr wrap="none" lIns="0" tIns="0" rIns="0" bIns="0">
            <a:spAutoFit/>
          </a:bodyPr>
          <a:lstStyle/>
          <a:p>
            <a:pPr>
              <a:defRPr sz="1250" b="1">
                <a:solidFill>
                  <a:srgbClr val="165DDE"/>
                </a:solidFill>
                <a:latin typeface="Segoe UI"/>
              </a:defRPr>
            </a:pPr>
            <a:r>
              <a:t>QUY TRÌNH THỰC HIỆN 4 GIAI ĐOẠN</a:t>
            </a:r>
          </a:p>
        </p:txBody>
      </p:sp>
      <p:sp>
        <p:nvSpPr>
          <p:cNvPr id="16" name="Oval 15"/>
          <p:cNvSpPr/>
          <p:nvPr/>
        </p:nvSpPr>
        <p:spPr>
          <a:xfrm>
            <a:off x="7010400" y="25273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1</a:t>
            </a:r>
          </a:p>
        </p:txBody>
      </p:sp>
      <p:sp>
        <p:nvSpPr>
          <p:cNvPr id="17" name="TextBox 16"/>
          <p:cNvSpPr txBox="1"/>
          <p:nvPr/>
        </p:nvSpPr>
        <p:spPr>
          <a:xfrm>
            <a:off x="7454900" y="2476500"/>
            <a:ext cx="3873500" cy="571500"/>
          </a:xfrm>
          <a:prstGeom prst="rect">
            <a:avLst/>
          </a:prstGeom>
          <a:noFill/>
        </p:spPr>
        <p:txBody>
          <a:bodyPr wrap="square" lIns="0" tIns="0" rIns="0" bIns="0">
            <a:spAutoFit/>
          </a:bodyPr>
          <a:lstStyle/>
          <a:p>
            <a:pPr>
              <a:defRPr sz="1250" b="1">
                <a:solidFill>
                  <a:srgbClr val="132E57"/>
                </a:solidFill>
                <a:latin typeface="Segoe UI"/>
              </a:defRPr>
            </a:pPr>
            <a:r>
              <a:t>Ảnh gốc RGB</a:t>
            </a:r>
          </a:p>
          <a:p>
            <a:pPr>
              <a:defRPr sz="1100">
                <a:solidFill>
                  <a:srgbClr val="526985"/>
                </a:solidFill>
                <a:latin typeface="Segoe UI"/>
              </a:defRPr>
            </a:pPr>
            <a:r>
              <a:t>Kích thước 100 × 100 pixel, dải mức xám tự nhiên</a:t>
            </a:r>
          </a:p>
        </p:txBody>
      </p:sp>
      <p:sp>
        <p:nvSpPr>
          <p:cNvPr id="18" name="Oval 17"/>
          <p:cNvSpPr/>
          <p:nvPr/>
        </p:nvSpPr>
        <p:spPr>
          <a:xfrm>
            <a:off x="7010400" y="32258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2</a:t>
            </a:r>
          </a:p>
        </p:txBody>
      </p:sp>
      <p:sp>
        <p:nvSpPr>
          <p:cNvPr id="19" name="TextBox 18"/>
          <p:cNvSpPr txBox="1"/>
          <p:nvPr/>
        </p:nvSpPr>
        <p:spPr>
          <a:xfrm>
            <a:off x="7454900" y="3175000"/>
            <a:ext cx="3873500" cy="571500"/>
          </a:xfrm>
          <a:prstGeom prst="rect">
            <a:avLst/>
          </a:prstGeom>
          <a:noFill/>
        </p:spPr>
        <p:txBody>
          <a:bodyPr wrap="square" lIns="0" tIns="0" rIns="0" bIns="0">
            <a:spAutoFit/>
          </a:bodyPr>
          <a:lstStyle/>
          <a:p>
            <a:pPr>
              <a:defRPr sz="1250" b="1">
                <a:solidFill>
                  <a:srgbClr val="132E57"/>
                </a:solidFill>
                <a:latin typeface="Segoe UI"/>
              </a:defRPr>
            </a:pPr>
            <a:r>
              <a:t>Chuyển sang YCrCb</a:t>
            </a:r>
          </a:p>
          <a:p>
            <a:pPr>
              <a:defRPr sz="1100">
                <a:solidFill>
                  <a:srgbClr val="526985"/>
                </a:solidFill>
                <a:latin typeface="Segoe UI"/>
              </a:defRPr>
            </a:pPr>
            <a:r>
              <a:t>Tách riêng kênh độ sáng Y khỏi hai kênh màu Cr, Cb</a:t>
            </a:r>
          </a:p>
        </p:txBody>
      </p:sp>
      <p:sp>
        <p:nvSpPr>
          <p:cNvPr id="20" name="Oval 19"/>
          <p:cNvSpPr/>
          <p:nvPr/>
        </p:nvSpPr>
        <p:spPr>
          <a:xfrm>
            <a:off x="7010400" y="39243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3</a:t>
            </a:r>
          </a:p>
        </p:txBody>
      </p:sp>
      <p:sp>
        <p:nvSpPr>
          <p:cNvPr id="21" name="TextBox 20"/>
          <p:cNvSpPr txBox="1"/>
          <p:nvPr/>
        </p:nvSpPr>
        <p:spPr>
          <a:xfrm>
            <a:off x="7454900" y="3873500"/>
            <a:ext cx="3873500" cy="571500"/>
          </a:xfrm>
          <a:prstGeom prst="rect">
            <a:avLst/>
          </a:prstGeom>
          <a:noFill/>
        </p:spPr>
        <p:txBody>
          <a:bodyPr wrap="square" lIns="0" tIns="0" rIns="0" bIns="0">
            <a:spAutoFit/>
          </a:bodyPr>
          <a:lstStyle/>
          <a:p>
            <a:pPr>
              <a:defRPr sz="1250" b="1">
                <a:solidFill>
                  <a:srgbClr val="132E57"/>
                </a:solidFill>
                <a:latin typeface="Segoe UI"/>
              </a:defRPr>
            </a:pPr>
            <a:r>
              <a:t>Kéo giãn kênh Y</a:t>
            </a:r>
          </a:p>
          <a:p>
            <a:pPr>
              <a:defRPr sz="1100">
                <a:solidFill>
                  <a:srgbClr val="526985"/>
                </a:solidFill>
                <a:latin typeface="Segoe UI"/>
              </a:defRPr>
            </a:pPr>
            <a:r>
              <a:t>Tính P1–P99, ánh xạ tuyến tính và clip về [0, 255]</a:t>
            </a:r>
          </a:p>
        </p:txBody>
      </p:sp>
      <p:sp>
        <p:nvSpPr>
          <p:cNvPr id="22" name="Oval 21"/>
          <p:cNvSpPr/>
          <p:nvPr/>
        </p:nvSpPr>
        <p:spPr>
          <a:xfrm>
            <a:off x="7010400" y="46228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4</a:t>
            </a:r>
          </a:p>
        </p:txBody>
      </p:sp>
      <p:sp>
        <p:nvSpPr>
          <p:cNvPr id="23" name="TextBox 22"/>
          <p:cNvSpPr txBox="1"/>
          <p:nvPr/>
        </p:nvSpPr>
        <p:spPr>
          <a:xfrm>
            <a:off x="7454900" y="4572000"/>
            <a:ext cx="3873500" cy="571500"/>
          </a:xfrm>
          <a:prstGeom prst="rect">
            <a:avLst/>
          </a:prstGeom>
          <a:noFill/>
        </p:spPr>
        <p:txBody>
          <a:bodyPr wrap="square" lIns="0" tIns="0" rIns="0" bIns="0">
            <a:spAutoFit/>
          </a:bodyPr>
          <a:lstStyle/>
          <a:p>
            <a:pPr>
              <a:defRPr sz="1250" b="1">
                <a:solidFill>
                  <a:srgbClr val="132E57"/>
                </a:solidFill>
                <a:latin typeface="Segoe UI"/>
              </a:defRPr>
            </a:pPr>
            <a:r>
              <a:t>Tái cấu trúc RGB</a:t>
            </a:r>
          </a:p>
          <a:p>
            <a:pPr>
              <a:defRPr sz="1100">
                <a:solidFill>
                  <a:srgbClr val="526985"/>
                </a:solidFill>
                <a:latin typeface="Segoe UI"/>
              </a:defRPr>
            </a:pPr>
            <a:r>
              <a:t>Ghép Y đã xử lý với Cr, Cb gốc để đưa vào mạng CNN</a:t>
            </a:r>
          </a:p>
        </p:txBody>
      </p:sp>
      <p:sp>
        <p:nvSpPr>
          <p:cNvPr id="24" name="TextBox 23"/>
          <p:cNvSpPr txBox="1"/>
          <p:nvPr/>
        </p:nvSpPr>
        <p:spPr>
          <a:xfrm>
            <a:off x="609600" y="5905500"/>
            <a:ext cx="10972800" cy="381000"/>
          </a:xfrm>
          <a:prstGeom prst="rect">
            <a:avLst/>
          </a:prstGeom>
          <a:noFill/>
        </p:spPr>
        <p:txBody>
          <a:bodyPr wrap="square" lIns="0" tIns="0" rIns="0" bIns="0">
            <a:spAutoFit/>
          </a:bodyPr>
          <a:lstStyle/>
          <a:p>
            <a:pPr>
              <a:defRPr sz="1200">
                <a:solidFill>
                  <a:srgbClr val="526985"/>
                </a:solidFill>
                <a:latin typeface="Segoe UI"/>
              </a:defRPr>
            </a:pPr>
            <a:r>
              <a:t>Lưu ý phương pháp: Contrast Stretching làm rõ chênh lệch sáng tối nhưng không đảm bảo loại bỏ hoàn toàn nhiễu và có thể làm phẳng các nếp nhăn nhỏ trên mu bàn tay nếu các điểm này rơi vào vùng clipping.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Phương pháp 2: Cân bằng lược đồ (Histogram Equalization)</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Tái phân bố các mức cường độ kênh Y dựa trên hàm phân phối tích lũy xác suất (CDF)</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05</a:t>
            </a:r>
          </a:p>
        </p:txBody>
      </p:sp>
      <p:sp>
        <p:nvSpPr>
          <p:cNvPr id="6" name="Rectangle 5"/>
          <p:cNvSpPr/>
          <p:nvPr/>
        </p:nvSpPr>
        <p:spPr>
          <a:xfrm>
            <a:off x="609600" y="1841500"/>
            <a:ext cx="5461000" cy="1333500"/>
          </a:xfrm>
          <a:prstGeom prst="rect">
            <a:avLst/>
          </a:prstGeom>
          <a:solidFill>
            <a:srgbClr val="EAF2FF"/>
          </a:solidFill>
          <a:ln w="1905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943100"/>
            <a:ext cx="5003800" cy="1143000"/>
          </a:xfrm>
          <a:prstGeom prst="rect">
            <a:avLst/>
          </a:prstGeom>
          <a:noFill/>
        </p:spPr>
        <p:txBody>
          <a:bodyPr wrap="square" lIns="0" tIns="0" rIns="0" bIns="0">
            <a:spAutoFit/>
          </a:bodyPr>
          <a:lstStyle/>
          <a:p>
            <a:pPr>
              <a:defRPr sz="1150" b="1">
                <a:solidFill>
                  <a:srgbClr val="165DDE"/>
                </a:solidFill>
                <a:latin typeface="Segoe UI"/>
              </a:defRPr>
            </a:pPr>
            <a:r>
              <a:t>CÔNG THỨC XÁC SUẤT VÀ ÁNH XẠ TÍCH LŨY (CDF)</a:t>
            </a:r>
          </a:p>
          <a:p>
            <a:pPr>
              <a:defRPr sz="1400" b="1">
                <a:solidFill>
                  <a:srgbClr val="132E57"/>
                </a:solidFill>
                <a:latin typeface="Segoe UI"/>
              </a:defRPr>
            </a:pPr>
            <a:r>
              <a:t>p_r(r_k) = n_k / N      (Xác suất mức xám k)</a:t>
            </a:r>
          </a:p>
          <a:p>
            <a:pPr>
              <a:defRPr sz="1400" b="1">
                <a:solidFill>
                  <a:srgbClr val="132E57"/>
                </a:solidFill>
                <a:latin typeface="Segoe UI"/>
              </a:defRPr>
            </a:pPr>
            <a:r>
              <a:t>s_k = ((L − 1) / N) × Σ_{j=0}^k n_j      (Ánh xạ CDF)</a:t>
            </a:r>
          </a:p>
          <a:p>
            <a:pPr>
              <a:defRPr sz="1050">
                <a:solidFill>
                  <a:srgbClr val="526985"/>
                </a:solidFill>
                <a:latin typeface="Segoe UI"/>
              </a:defRPr>
            </a:pPr>
            <a:r>
              <a:t>n_k: số pixel mức k; N = 10.000 pixel tổng (100×100); L = 256 mức xám.</a:t>
            </a:r>
          </a:p>
        </p:txBody>
      </p:sp>
      <p:sp>
        <p:nvSpPr>
          <p:cNvPr id="8" name="Rectangle 7"/>
          <p:cNvSpPr/>
          <p:nvPr/>
        </p:nvSpPr>
        <p:spPr>
          <a:xfrm>
            <a:off x="609600" y="3302000"/>
            <a:ext cx="5461000" cy="22225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429000"/>
            <a:ext cx="5003800" cy="1968500"/>
          </a:xfrm>
          <a:prstGeom prst="rect">
            <a:avLst/>
          </a:prstGeom>
          <a:noFill/>
        </p:spPr>
        <p:txBody>
          <a:bodyPr wrap="square" lIns="0" tIns="0" rIns="0" bIns="0">
            <a:spAutoFit/>
          </a:bodyPr>
          <a:lstStyle/>
          <a:p>
            <a:pPr>
              <a:defRPr sz="1200" b="1">
                <a:solidFill>
                  <a:srgbClr val="132E57"/>
                </a:solidFill>
                <a:latin typeface="Segoe UI"/>
              </a:defRPr>
            </a:pPr>
            <a:r>
              <a:t>CƠ CHẾ TÁC ĐỘNG CỦA CÂN BẰNG LƯỢC ĐỒ:</a:t>
            </a:r>
          </a:p>
          <a:p>
            <a:r>
              <a:rPr b="1" sz="1150">
                <a:solidFill>
                  <a:srgbClr val="165DDE"/>
                </a:solidFill>
              </a:rPr>
              <a:t>• San phẳng lược đồ mức xám: </a:t>
            </a:r>
            <a:r>
              <a:rPr sz="1100">
                <a:solidFill>
                  <a:srgbClr val="526985"/>
                </a:solidFill>
              </a:rPr>
              <a:t>Chuyển đổi lược đồ cường độ tập trung hẹp thành phân phối đều xấp xỉ trên toàn dải [0, 255].</a:t>
            </a:r>
          </a:p>
          <a:p>
            <a:r>
              <a:rPr b="1" sz="1150">
                <a:solidFill>
                  <a:srgbClr val="165DDE"/>
                </a:solidFill>
              </a:rPr>
              <a:t>• Tăng cường tương phản toàn cục: </a:t>
            </a:r>
            <a:r>
              <a:rPr sz="1100">
                <a:solidFill>
                  <a:srgbClr val="526985"/>
                </a:solidFill>
              </a:rPr>
              <a:t>Khuếch đại độ tương phản tại các vùng có mật độ pixel cao, làm nổi bật cấu trúc chính.</a:t>
            </a:r>
          </a:p>
          <a:p>
            <a:r>
              <a:rPr b="1" sz="1150">
                <a:solidFill>
                  <a:srgbClr val="165DDE"/>
                </a:solidFill>
              </a:rPr>
              <a:t>• Tác dụng phụ đối với đặc trưng: </a:t>
            </a:r>
            <a:r>
              <a:rPr sz="1100">
                <a:solidFill>
                  <a:srgbClr val="526985"/>
                </a:solidFill>
              </a:rPr>
              <a:t>Có thể làm sáng quá mức các vùng tối tự nhiên, triệt tiêu bóng đổ giữa các ngón tay và khuếch đại nhiễu nền.</a:t>
            </a:r>
          </a:p>
        </p:txBody>
      </p:sp>
      <p:pic>
        <p:nvPicPr>
          <p:cNvPr id="10" name="Picture 9" descr="hist_concept.png"/>
          <p:cNvPicPr>
            <a:picLocks noChangeAspect="1"/>
          </p:cNvPicPr>
          <p:nvPr/>
        </p:nvPicPr>
        <p:blipFill>
          <a:blip r:embed="rId2"/>
          <a:stretch>
            <a:fillRect/>
          </a:stretch>
        </p:blipFill>
        <p:spPr>
          <a:xfrm>
            <a:off x="6375400" y="1968500"/>
            <a:ext cx="5207000" cy="3111500"/>
          </a:xfrm>
          <a:prstGeom prst="rect">
            <a:avLst/>
          </a:prstGeom>
        </p:spPr>
      </p:pic>
      <p:sp>
        <p:nvSpPr>
          <p:cNvPr id="11" name="TextBox 10"/>
          <p:cNvSpPr txBox="1"/>
          <p:nvPr/>
        </p:nvSpPr>
        <p:spPr>
          <a:xfrm>
            <a:off x="6375400" y="5143500"/>
            <a:ext cx="5207000" cy="444500"/>
          </a:xfrm>
          <a:prstGeom prst="rect">
            <a:avLst/>
          </a:prstGeom>
          <a:noFill/>
        </p:spPr>
        <p:txBody>
          <a:bodyPr wrap="square" lIns="0" tIns="0" rIns="0" bIns="0">
            <a:spAutoFit/>
          </a:bodyPr>
          <a:lstStyle/>
          <a:p>
            <a:pPr>
              <a:defRPr sz="1100">
                <a:solidFill>
                  <a:srgbClr val="526985"/>
                </a:solidFill>
                <a:latin typeface="Segoe UI"/>
              </a:defRPr>
            </a:pPr>
            <a:r>
              <a:t>Biểu đồ minh họa khái niệm: Lược đồ ban đầu bị nén hẹp ở mức xám trung bình được trải đều tuyến tính hóa sau khi biến đổi bằng hàm CDF.</a:t>
            </a:r>
          </a:p>
        </p:txBody>
      </p:sp>
      <p:sp>
        <p:nvSpPr>
          <p:cNvPr id="12" name="TextBox 11"/>
          <p:cNvSpPr txBox="1"/>
          <p:nvPr/>
        </p:nvSpPr>
        <p:spPr>
          <a:xfrm>
            <a:off x="609600" y="5905500"/>
            <a:ext cx="10972800" cy="381000"/>
          </a:xfrm>
          <a:prstGeom prst="rect">
            <a:avLst/>
          </a:prstGeom>
          <a:noFill/>
        </p:spPr>
        <p:txBody>
          <a:bodyPr wrap="square" lIns="0" tIns="0" rIns="0" bIns="0">
            <a:spAutoFit/>
          </a:bodyPr>
          <a:lstStyle/>
          <a:p>
            <a:pPr>
              <a:defRPr sz="1200">
                <a:solidFill>
                  <a:srgbClr val="526985"/>
                </a:solidFill>
                <a:latin typeface="Segoe UI"/>
              </a:defRPr>
            </a:pPr>
            <a:r>
              <a:t>Ghi chú: Biểu đồ phân phối trên là hình minh họa khái niệm cho nguyên lý san phẳng lược đồ, không phải biểu đồ thực nghiệm trích xuất từ từng pixel của 25 ảnh.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Kết quả thực nghiệm tổng quan: Độ chính xác và Tốc độ</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Trong tập kiểm thử 25 ảnh ASL, cả hai phương pháp tăng cường tương phản đều cho kết quả thấp hơn ảnh gốc</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06</a:t>
            </a:r>
          </a:p>
        </p:txBody>
      </p:sp>
      <p:sp>
        <p:nvSpPr>
          <p:cNvPr id="6" name="Rectangle 5"/>
          <p:cNvSpPr/>
          <p:nvPr/>
        </p:nvSpPr>
        <p:spPr>
          <a:xfrm>
            <a:off x="609600" y="1803400"/>
            <a:ext cx="3454400" cy="1270000"/>
          </a:xfrm>
          <a:prstGeom prst="rect">
            <a:avLst/>
          </a:prstGeom>
          <a:solidFill>
            <a:srgbClr val="F3F7FC"/>
          </a:solidFill>
          <a:ln w="1905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1905000"/>
            <a:ext cx="3048000" cy="1066800"/>
          </a:xfrm>
          <a:prstGeom prst="rect">
            <a:avLst/>
          </a:prstGeom>
          <a:noFill/>
        </p:spPr>
        <p:txBody>
          <a:bodyPr wrap="square" lIns="0" tIns="0" rIns="0" bIns="0">
            <a:spAutoFit/>
          </a:bodyPr>
          <a:lstStyle/>
          <a:p>
            <a:pPr>
              <a:defRPr sz="1200" b="1">
                <a:solidFill>
                  <a:srgbClr val="132E57"/>
                </a:solidFill>
                <a:latin typeface="Segoe UI"/>
              </a:defRPr>
            </a:pPr>
            <a:r>
              <a:t>Ảnh gốc (Baseline)</a:t>
            </a:r>
          </a:p>
          <a:p>
            <a:pPr>
              <a:defRPr sz="3600" b="1">
                <a:solidFill>
                  <a:srgbClr val="165DDE"/>
                </a:solidFill>
                <a:latin typeface="Segoe UI"/>
              </a:defRPr>
            </a:pPr>
            <a:r>
              <a:t>100%</a:t>
            </a:r>
          </a:p>
          <a:p>
            <a:pPr>
              <a:defRPr sz="1000">
                <a:solidFill>
                  <a:srgbClr val="526985"/>
                </a:solidFill>
                <a:latin typeface="Segoe UI"/>
              </a:defRPr>
            </a:pPr>
            <a:r>
              <a:t>25 / 25 ảnh chính xác  •  Độ tự tin: 99,06%</a:t>
            </a:r>
          </a:p>
          <a:p>
            <a:pPr>
              <a:defRPr sz="1000">
                <a:solidFill>
                  <a:srgbClr val="526985"/>
                </a:solidFill>
                <a:latin typeface="Segoe UI"/>
              </a:defRPr>
            </a:pPr>
            <a:r>
              <a:t>Thời gian tiền xử lý: 0,24 ms / ảnh</a:t>
            </a:r>
          </a:p>
        </p:txBody>
      </p:sp>
      <p:sp>
        <p:nvSpPr>
          <p:cNvPr id="8" name="Rectangle 7"/>
          <p:cNvSpPr/>
          <p:nvPr/>
        </p:nvSpPr>
        <p:spPr>
          <a:xfrm>
            <a:off x="4368800" y="1803400"/>
            <a:ext cx="3454400" cy="1270000"/>
          </a:xfrm>
          <a:prstGeom prst="rect">
            <a:avLst/>
          </a:prstGeom>
          <a:solidFill>
            <a:srgbClr val="F3F7FC"/>
          </a:solidFill>
          <a:ln w="1905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05000"/>
            <a:ext cx="3048000" cy="1066800"/>
          </a:xfrm>
          <a:prstGeom prst="rect">
            <a:avLst/>
          </a:prstGeom>
          <a:noFill/>
        </p:spPr>
        <p:txBody>
          <a:bodyPr wrap="square" lIns="0" tIns="0" rIns="0" bIns="0">
            <a:spAutoFit/>
          </a:bodyPr>
          <a:lstStyle/>
          <a:p>
            <a:pPr>
              <a:defRPr sz="1200" b="1">
                <a:solidFill>
                  <a:srgbClr val="132E57"/>
                </a:solidFill>
                <a:latin typeface="Segoe UI"/>
              </a:defRPr>
            </a:pPr>
            <a:r>
              <a:t>Contrast Stretching</a:t>
            </a:r>
          </a:p>
          <a:p>
            <a:pPr>
              <a:defRPr sz="3600" b="1">
                <a:solidFill>
                  <a:srgbClr val="526985"/>
                </a:solidFill>
                <a:latin typeface="Segoe UI"/>
              </a:defRPr>
            </a:pPr>
            <a:r>
              <a:t>88%</a:t>
            </a:r>
          </a:p>
          <a:p>
            <a:pPr>
              <a:defRPr sz="1000">
                <a:solidFill>
                  <a:srgbClr val="526985"/>
                </a:solidFill>
                <a:latin typeface="Segoe UI"/>
              </a:defRPr>
            </a:pPr>
            <a:r>
              <a:t>22 / 25 ảnh (giảm 12%)  •  Độ tự tin: 93,03%</a:t>
            </a:r>
          </a:p>
          <a:p>
            <a:pPr>
              <a:defRPr sz="1000">
                <a:solidFill>
                  <a:srgbClr val="526985"/>
                </a:solidFill>
                <a:latin typeface="Segoe UI"/>
              </a:defRPr>
            </a:pPr>
            <a:r>
              <a:t>Thời gian tiền xử lý: 0,81 ms / ảnh</a:t>
            </a:r>
          </a:p>
        </p:txBody>
      </p:sp>
      <p:sp>
        <p:nvSpPr>
          <p:cNvPr id="10" name="Rectangle 9"/>
          <p:cNvSpPr/>
          <p:nvPr/>
        </p:nvSpPr>
        <p:spPr>
          <a:xfrm>
            <a:off x="8128000" y="1803400"/>
            <a:ext cx="3454400" cy="1270000"/>
          </a:xfrm>
          <a:prstGeom prst="rect">
            <a:avLst/>
          </a:prstGeom>
          <a:solidFill>
            <a:srgbClr val="F3F7FC"/>
          </a:solidFill>
          <a:ln w="19050">
            <a:solidFill>
              <a:srgbClr val="B76A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1200" y="1905000"/>
            <a:ext cx="3048000" cy="1066800"/>
          </a:xfrm>
          <a:prstGeom prst="rect">
            <a:avLst/>
          </a:prstGeom>
          <a:noFill/>
        </p:spPr>
        <p:txBody>
          <a:bodyPr wrap="square" lIns="0" tIns="0" rIns="0" bIns="0">
            <a:spAutoFit/>
          </a:bodyPr>
          <a:lstStyle/>
          <a:p>
            <a:pPr>
              <a:defRPr sz="1200" b="1">
                <a:solidFill>
                  <a:srgbClr val="132E57"/>
                </a:solidFill>
                <a:latin typeface="Segoe UI"/>
              </a:defRPr>
            </a:pPr>
            <a:r>
              <a:t>Histogram Equalization</a:t>
            </a:r>
          </a:p>
          <a:p>
            <a:pPr>
              <a:defRPr sz="3600" b="1">
                <a:solidFill>
                  <a:srgbClr val="B76A12"/>
                </a:solidFill>
                <a:latin typeface="Segoe UI"/>
              </a:defRPr>
            </a:pPr>
            <a:r>
              <a:t>68%</a:t>
            </a:r>
          </a:p>
          <a:p>
            <a:pPr>
              <a:defRPr sz="1000">
                <a:solidFill>
                  <a:srgbClr val="526985"/>
                </a:solidFill>
                <a:latin typeface="Segoe UI"/>
              </a:defRPr>
            </a:pPr>
            <a:r>
              <a:t>17 / 25 ảnh (giảm 32%)  •  Độ tự tin: 78,90%</a:t>
            </a:r>
          </a:p>
          <a:p>
            <a:pPr>
              <a:defRPr sz="1000">
                <a:solidFill>
                  <a:srgbClr val="526985"/>
                </a:solidFill>
                <a:latin typeface="Segoe UI"/>
              </a:defRPr>
            </a:pPr>
            <a:r>
              <a:t>Thời gian tiền xử lý: 0,41 ms / ảnh</a:t>
            </a:r>
          </a:p>
        </p:txBody>
      </p:sp>
      <p:pic>
        <p:nvPicPr>
          <p:cNvPr id="12" name="Picture 11" descr="accuracy_chart.png"/>
          <p:cNvPicPr>
            <a:picLocks noChangeAspect="1"/>
          </p:cNvPicPr>
          <p:nvPr/>
        </p:nvPicPr>
        <p:blipFill>
          <a:blip r:embed="rId2"/>
          <a:stretch>
            <a:fillRect/>
          </a:stretch>
        </p:blipFill>
        <p:spPr>
          <a:xfrm>
            <a:off x="609600" y="3238500"/>
            <a:ext cx="4826000" cy="2476500"/>
          </a:xfrm>
          <a:prstGeom prst="rect">
            <a:avLst/>
          </a:prstGeom>
        </p:spPr>
      </p:pic>
      <p:sp>
        <p:nvSpPr>
          <p:cNvPr id="13" name="Rectangle 12"/>
          <p:cNvSpPr/>
          <p:nvPr/>
        </p:nvSpPr>
        <p:spPr>
          <a:xfrm>
            <a:off x="5740400" y="3238500"/>
            <a:ext cx="5842000" cy="2476500"/>
          </a:xfrm>
          <a:prstGeom prst="rect">
            <a:avLst/>
          </a:prstGeom>
          <a:solidFill>
            <a:srgbClr val="EAF2FF"/>
          </a:solidFill>
          <a:ln w="1905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94400" y="3365500"/>
            <a:ext cx="5334000" cy="2222500"/>
          </a:xfrm>
          <a:prstGeom prst="rect">
            <a:avLst/>
          </a:prstGeom>
          <a:noFill/>
        </p:spPr>
        <p:txBody>
          <a:bodyPr wrap="square" lIns="0" tIns="0" rIns="0" bIns="0">
            <a:spAutoFit/>
          </a:bodyPr>
          <a:lstStyle/>
          <a:p>
            <a:pPr>
              <a:defRPr sz="1300" b="1">
                <a:solidFill>
                  <a:srgbClr val="165DDE"/>
                </a:solidFill>
                <a:latin typeface="Segoe UI"/>
              </a:defRPr>
            </a:pPr>
            <a:r>
              <a:t>PHÁT HIỆN THỰC NGHIỆM THEN CHỐT</a:t>
            </a:r>
          </a:p>
          <a:p>
            <a:r>
              <a:rPr b="1" sz="1150">
                <a:solidFill>
                  <a:srgbClr val="132E57"/>
                </a:solidFill>
              </a:rPr>
              <a:t>• Suy giảm độ chính xác rõ rệt: </a:t>
            </a:r>
            <a:r>
              <a:rPr sz="1100">
                <a:solidFill>
                  <a:srgbClr val="526985"/>
                </a:solidFill>
              </a:rPr>
              <a:t>Cả hai kỹ thuật tiền xử lý đều làm giảm hiệu suất so với ảnh gốc (100% → 88% → 68%). Cân bằng lược đồ gây thiệt hại nặng nề nhất.</a:t>
            </a:r>
          </a:p>
          <a:p>
            <a:r>
              <a:rPr b="1" sz="1150">
                <a:solidFill>
                  <a:srgbClr val="132E57"/>
                </a:solidFill>
              </a:rPr>
              <a:t>• Sụt giảm độ tự tin (Confidence): </a:t>
            </a:r>
            <a:r>
              <a:rPr sz="1100">
                <a:solidFill>
                  <a:srgbClr val="526985"/>
                </a:solidFill>
              </a:rPr>
              <a:t>Độ tự tin trung bình giảm từ 99,06% xuống 93,03% ở Contrast Stretching và rơi mạnh xuống 78,90% ở Histogram Equalization.</a:t>
            </a:r>
          </a:p>
          <a:p>
            <a:r>
              <a:rPr b="1" sz="1150">
                <a:solidFill>
                  <a:srgbClr val="132E57"/>
                </a:solidFill>
              </a:rPr>
              <a:t>• Độ trễ tính toán tăng thêm: </a:t>
            </a:r>
            <a:r>
              <a:rPr sz="1100">
                <a:solidFill>
                  <a:srgbClr val="526985"/>
                </a:solidFill>
              </a:rPr>
              <a:t>Contrast Stretching tốn 0,81 ms/ảnh (gấp 3,38 lần ảnh gốc 0,24 ms) do phép tính phân vị P1/P99; Histogram Equalization tốn 0,41 ms/ảnh.</a:t>
            </a:r>
          </a:p>
        </p:txBody>
      </p:sp>
      <p:sp>
        <p:nvSpPr>
          <p:cNvPr id="15" name="TextBox 14"/>
          <p:cNvSpPr txBox="1"/>
          <p:nvPr/>
        </p:nvSpPr>
        <p:spPr>
          <a:xfrm>
            <a:off x="609600" y="5905500"/>
            <a:ext cx="10972800" cy="381000"/>
          </a:xfrm>
          <a:prstGeom prst="rect">
            <a:avLst/>
          </a:prstGeom>
          <a:noFill/>
        </p:spPr>
        <p:txBody>
          <a:bodyPr wrap="square" lIns="0" tIns="0" rIns="0" bIns="0">
            <a:spAutoFit/>
          </a:bodyPr>
          <a:lstStyle/>
          <a:p>
            <a:pPr>
              <a:defRPr sz="1200">
                <a:solidFill>
                  <a:srgbClr val="526985"/>
                </a:solidFill>
                <a:latin typeface="Segoe UI"/>
              </a:defRPr>
            </a:pPr>
            <a:r>
              <a:t>Lưu ý khoa học: Kết quả đo đạc chính xác trên tập kiểm thử 25 ảnh đã cung cấp. Không khái quát hóa thành kết luận rằng tiền xử lý luôn làm giảm độ chính xác trên mọi tập dữ liệu hoặc kiến trúc CNN khác.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Phân tích hiện tượng Covariate Shift trong thị giác máy tính</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Sự sai lệch giữa phân phối dữ liệu huấn luyện P_train(X) và dữ liệu kiểm thử P_test(X)</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07</a:t>
            </a:r>
          </a:p>
        </p:txBody>
      </p:sp>
      <p:sp>
        <p:nvSpPr>
          <p:cNvPr id="6" name="Rectangle 5"/>
          <p:cNvSpPr/>
          <p:nvPr/>
        </p:nvSpPr>
        <p:spPr>
          <a:xfrm>
            <a:off x="609600" y="1803400"/>
            <a:ext cx="10972800" cy="8636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3600" y="1879600"/>
            <a:ext cx="10464800" cy="698500"/>
          </a:xfrm>
          <a:prstGeom prst="rect">
            <a:avLst/>
          </a:prstGeom>
          <a:noFill/>
        </p:spPr>
        <p:txBody>
          <a:bodyPr wrap="square" lIns="0" tIns="0" rIns="0" bIns="0">
            <a:spAutoFit/>
          </a:bodyPr>
          <a:lstStyle/>
          <a:p>
            <a:pPr>
              <a:defRPr sz="1150" b="1">
                <a:solidFill>
                  <a:srgbClr val="165DDE"/>
                </a:solidFill>
                <a:latin typeface="Segoe UI"/>
              </a:defRPr>
            </a:pPr>
            <a:r>
              <a:t>BẢN CHẤT TOÁN HỌC CỦA COVARIATE SHIFT</a:t>
            </a:r>
          </a:p>
          <a:p>
            <a:pPr>
              <a:defRPr sz="1150">
                <a:solidFill>
                  <a:srgbClr val="132E57"/>
                </a:solidFill>
                <a:latin typeface="Segoe UI"/>
              </a:defRPr>
            </a:pPr>
            <a:r>
              <a:t>Hiện tượng Covariate Shift xảy ra khi phân phối biên của đầu vào thay đổi: P_test(X) ≠ P_train(X), trong khi phân phối điều kiện P(Y | X) giả định giữ nguyên. Mạng CNN đã tối ưu các bộ lọc trọng số W theo P_train(X); do đó khi P_test(X) bị biến dạng do tiền xử lý, phản ứng tại các tầng tích chập không còn tối ưu.</a:t>
            </a:r>
          </a:p>
        </p:txBody>
      </p:sp>
      <p:sp>
        <p:nvSpPr>
          <p:cNvPr id="8" name="Rectangle 7"/>
          <p:cNvSpPr/>
          <p:nvPr/>
        </p:nvSpPr>
        <p:spPr>
          <a:xfrm>
            <a:off x="762000" y="3035300"/>
            <a:ext cx="10668000" cy="25400"/>
          </a:xfrm>
          <a:prstGeom prst="rect">
            <a:avLst/>
          </a:prstGeom>
          <a:solidFill>
            <a:srgbClr val="D8E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600" y="2857500"/>
            <a:ext cx="2006600" cy="184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2000" y="2959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01</a:t>
            </a:r>
          </a:p>
        </p:txBody>
      </p:sp>
      <p:sp>
        <p:nvSpPr>
          <p:cNvPr id="11" name="TextBox 10"/>
          <p:cNvSpPr txBox="1"/>
          <p:nvPr/>
        </p:nvSpPr>
        <p:spPr>
          <a:xfrm>
            <a:off x="736600" y="3340100"/>
            <a:ext cx="1752600" cy="1270000"/>
          </a:xfrm>
          <a:prstGeom prst="rect">
            <a:avLst/>
          </a:prstGeom>
          <a:noFill/>
        </p:spPr>
        <p:txBody>
          <a:bodyPr wrap="square" lIns="0" tIns="0" rIns="0" bIns="0">
            <a:spAutoFit/>
          </a:bodyPr>
          <a:lstStyle/>
          <a:p>
            <a:pPr>
              <a:defRPr sz="1250" b="1">
                <a:solidFill>
                  <a:srgbClr val="132E57"/>
                </a:solidFill>
                <a:latin typeface="Segoe UI"/>
              </a:defRPr>
            </a:pPr>
            <a:r>
              <a:t>Ảnh gốc ASL</a:t>
            </a:r>
          </a:p>
          <a:p>
            <a:pPr>
              <a:defRPr sz="1100" b="1">
                <a:solidFill>
                  <a:srgbClr val="165DDE"/>
                </a:solidFill>
                <a:latin typeface="Segoe UI"/>
              </a:defRPr>
            </a:pPr>
            <a:r>
              <a:t>Phân phối P_train(X)</a:t>
            </a:r>
          </a:p>
          <a:p>
            <a:pPr>
              <a:defRPr sz="1050">
                <a:solidFill>
                  <a:srgbClr val="526985"/>
                </a:solidFill>
                <a:latin typeface="Segoe UI"/>
              </a:defRPr>
            </a:pPr>
            <a:r>
              <a:t>Ảnh ký hiệu tự nhiên với dải sáng và độ mờ gốc mà mạng đã học.</a:t>
            </a:r>
          </a:p>
        </p:txBody>
      </p:sp>
      <p:sp>
        <p:nvSpPr>
          <p:cNvPr id="12" name="Rectangle 11"/>
          <p:cNvSpPr/>
          <p:nvPr/>
        </p:nvSpPr>
        <p:spPr>
          <a:xfrm>
            <a:off x="2844800" y="2857500"/>
            <a:ext cx="2006600" cy="184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97200" y="2959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02</a:t>
            </a:r>
          </a:p>
        </p:txBody>
      </p:sp>
      <p:sp>
        <p:nvSpPr>
          <p:cNvPr id="14" name="TextBox 13"/>
          <p:cNvSpPr txBox="1"/>
          <p:nvPr/>
        </p:nvSpPr>
        <p:spPr>
          <a:xfrm>
            <a:off x="2971800" y="3340100"/>
            <a:ext cx="1752600" cy="1270000"/>
          </a:xfrm>
          <a:prstGeom prst="rect">
            <a:avLst/>
          </a:prstGeom>
          <a:noFill/>
        </p:spPr>
        <p:txBody>
          <a:bodyPr wrap="square" lIns="0" tIns="0" rIns="0" bIns="0">
            <a:spAutoFit/>
          </a:bodyPr>
          <a:lstStyle/>
          <a:p>
            <a:pPr>
              <a:defRPr sz="1250" b="1">
                <a:solidFill>
                  <a:srgbClr val="132E57"/>
                </a:solidFill>
                <a:latin typeface="Segoe UI"/>
              </a:defRPr>
            </a:pPr>
            <a:r>
              <a:t>Tiền xử lý</a:t>
            </a:r>
          </a:p>
          <a:p>
            <a:pPr>
              <a:defRPr sz="1100" b="1">
                <a:solidFill>
                  <a:srgbClr val="165DDE"/>
                </a:solidFill>
                <a:latin typeface="Segoe UI"/>
              </a:defRPr>
            </a:pPr>
            <a:r>
              <a:t>Kéo giãn / Cân bằng Y</a:t>
            </a:r>
          </a:p>
          <a:p>
            <a:pPr>
              <a:defRPr sz="1050">
                <a:solidFill>
                  <a:srgbClr val="526985"/>
                </a:solidFill>
                <a:latin typeface="Segoe UI"/>
              </a:defRPr>
            </a:pPr>
            <a:r>
              <a:t>Can thiệp tái phân bố pixel, thay đổi lược đồ mức xám toàn cục.</a:t>
            </a:r>
          </a:p>
        </p:txBody>
      </p:sp>
      <p:sp>
        <p:nvSpPr>
          <p:cNvPr id="15" name="Rectangle 14"/>
          <p:cNvSpPr/>
          <p:nvPr/>
        </p:nvSpPr>
        <p:spPr>
          <a:xfrm>
            <a:off x="5080000" y="2857500"/>
            <a:ext cx="2006600" cy="184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32400" y="2959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03</a:t>
            </a:r>
          </a:p>
        </p:txBody>
      </p:sp>
      <p:sp>
        <p:nvSpPr>
          <p:cNvPr id="17" name="TextBox 16"/>
          <p:cNvSpPr txBox="1"/>
          <p:nvPr/>
        </p:nvSpPr>
        <p:spPr>
          <a:xfrm>
            <a:off x="5207000" y="3340100"/>
            <a:ext cx="1752600" cy="1270000"/>
          </a:xfrm>
          <a:prstGeom prst="rect">
            <a:avLst/>
          </a:prstGeom>
          <a:noFill/>
        </p:spPr>
        <p:txBody>
          <a:bodyPr wrap="square" lIns="0" tIns="0" rIns="0" bIns="0">
            <a:spAutoFit/>
          </a:bodyPr>
          <a:lstStyle/>
          <a:p>
            <a:pPr>
              <a:defRPr sz="1250" b="1">
                <a:solidFill>
                  <a:srgbClr val="132E57"/>
                </a:solidFill>
                <a:latin typeface="Segoe UI"/>
              </a:defRPr>
            </a:pPr>
            <a:r>
              <a:t>Lệch phân phối</a:t>
            </a:r>
          </a:p>
          <a:p>
            <a:pPr>
              <a:defRPr sz="1100" b="1">
                <a:solidFill>
                  <a:srgbClr val="165DDE"/>
                </a:solidFill>
                <a:latin typeface="Segoe UI"/>
              </a:defRPr>
            </a:pPr>
            <a:r>
              <a:t>P_test(X) bị biến dạng</a:t>
            </a:r>
          </a:p>
          <a:p>
            <a:pPr>
              <a:defRPr sz="1050">
                <a:solidFill>
                  <a:srgbClr val="526985"/>
                </a:solidFill>
                <a:latin typeface="Segoe UI"/>
              </a:defRPr>
            </a:pPr>
            <a:r>
              <a:t>Ranh giới bóng đổ giữa các ngón tay và nếp nhăn bị khuếch đại hoặc mất.</a:t>
            </a:r>
          </a:p>
        </p:txBody>
      </p:sp>
      <p:sp>
        <p:nvSpPr>
          <p:cNvPr id="18" name="Rectangle 17"/>
          <p:cNvSpPr/>
          <p:nvPr/>
        </p:nvSpPr>
        <p:spPr>
          <a:xfrm>
            <a:off x="7315200" y="2857500"/>
            <a:ext cx="2006600" cy="184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67600" y="2959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04</a:t>
            </a:r>
          </a:p>
        </p:txBody>
      </p:sp>
      <p:sp>
        <p:nvSpPr>
          <p:cNvPr id="20" name="TextBox 19"/>
          <p:cNvSpPr txBox="1"/>
          <p:nvPr/>
        </p:nvSpPr>
        <p:spPr>
          <a:xfrm>
            <a:off x="7442200" y="3340100"/>
            <a:ext cx="1752600" cy="1270000"/>
          </a:xfrm>
          <a:prstGeom prst="rect">
            <a:avLst/>
          </a:prstGeom>
          <a:noFill/>
        </p:spPr>
        <p:txBody>
          <a:bodyPr wrap="square" lIns="0" tIns="0" rIns="0" bIns="0">
            <a:spAutoFit/>
          </a:bodyPr>
          <a:lstStyle/>
          <a:p>
            <a:pPr>
              <a:defRPr sz="1250" b="1">
                <a:solidFill>
                  <a:srgbClr val="132E57"/>
                </a:solidFill>
                <a:latin typeface="Segoe UI"/>
              </a:defRPr>
            </a:pPr>
            <a:r>
              <a:t>Feature Shift</a:t>
            </a:r>
          </a:p>
          <a:p>
            <a:pPr>
              <a:defRPr sz="1100" b="1">
                <a:solidFill>
                  <a:srgbClr val="165DDE"/>
                </a:solidFill>
                <a:latin typeface="Segoe UI"/>
              </a:defRPr>
            </a:pPr>
            <a:r>
              <a:t>Dịch chuyển đặc trưng</a:t>
            </a:r>
          </a:p>
          <a:p>
            <a:pPr>
              <a:defRPr sz="1050">
                <a:solidFill>
                  <a:srgbClr val="526985"/>
                </a:solidFill>
                <a:latin typeface="Segoe UI"/>
              </a:defRPr>
            </a:pPr>
            <a:r>
              <a:t>Các bộ lọc Conv2D 3×3 trích xuất ra feature maps sai lệch vị trí tâm.</a:t>
            </a:r>
          </a:p>
        </p:txBody>
      </p:sp>
      <p:sp>
        <p:nvSpPr>
          <p:cNvPr id="21" name="Rectangle 20"/>
          <p:cNvSpPr/>
          <p:nvPr/>
        </p:nvSpPr>
        <p:spPr>
          <a:xfrm>
            <a:off x="9550400" y="2857500"/>
            <a:ext cx="2006600" cy="184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702800" y="2959100"/>
            <a:ext cx="304800" cy="304800"/>
          </a:xfrm>
          <a:prstGeom prst="ellipse">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FFFF"/>
                </a:solidFill>
                <a:latin typeface="Segoe UI"/>
              </a:defRPr>
            </a:pPr>
            <a:r>
              <a:t>05</a:t>
            </a:r>
          </a:p>
        </p:txBody>
      </p:sp>
      <p:sp>
        <p:nvSpPr>
          <p:cNvPr id="23" name="TextBox 22"/>
          <p:cNvSpPr txBox="1"/>
          <p:nvPr/>
        </p:nvSpPr>
        <p:spPr>
          <a:xfrm>
            <a:off x="9677400" y="3340100"/>
            <a:ext cx="1752600" cy="1270000"/>
          </a:xfrm>
          <a:prstGeom prst="rect">
            <a:avLst/>
          </a:prstGeom>
          <a:noFill/>
        </p:spPr>
        <p:txBody>
          <a:bodyPr wrap="square" lIns="0" tIns="0" rIns="0" bIns="0">
            <a:spAutoFit/>
          </a:bodyPr>
          <a:lstStyle/>
          <a:p>
            <a:pPr>
              <a:defRPr sz="1250" b="1">
                <a:solidFill>
                  <a:srgbClr val="132E57"/>
                </a:solidFill>
                <a:latin typeface="Segoe UI"/>
              </a:defRPr>
            </a:pPr>
            <a:r>
              <a:t>Sai lệch Softmax</a:t>
            </a:r>
          </a:p>
          <a:p>
            <a:pPr>
              <a:defRPr sz="1100" b="1">
                <a:solidFill>
                  <a:srgbClr val="165DDE"/>
                </a:solidFill>
                <a:latin typeface="Segoe UI"/>
              </a:defRPr>
            </a:pPr>
            <a:r>
              <a:t>Phân loại nhầm lẫn</a:t>
            </a:r>
          </a:p>
          <a:p>
            <a:pPr>
              <a:defRPr sz="1050">
                <a:solidFill>
                  <a:srgbClr val="526985"/>
                </a:solidFill>
                <a:latin typeface="Segoe UI"/>
              </a:defRPr>
            </a:pPr>
            <a:r>
              <a:t>Véc-tơ đặc trưng rơi vào vùng quyết định của lớp ký tự khác.</a:t>
            </a:r>
          </a:p>
        </p:txBody>
      </p:sp>
      <p:sp>
        <p:nvSpPr>
          <p:cNvPr id="24" name="Rectangle 23"/>
          <p:cNvSpPr/>
          <p:nvPr/>
        </p:nvSpPr>
        <p:spPr>
          <a:xfrm>
            <a:off x="609600" y="4889500"/>
            <a:ext cx="10972800" cy="952500"/>
          </a:xfrm>
          <a:prstGeom prst="rect">
            <a:avLst/>
          </a:prstGeom>
          <a:solidFill>
            <a:srgbClr val="EAF2FF"/>
          </a:solidFill>
          <a:ln w="1270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3600" y="4978400"/>
            <a:ext cx="10464800" cy="762000"/>
          </a:xfrm>
          <a:prstGeom prst="rect">
            <a:avLst/>
          </a:prstGeom>
          <a:noFill/>
        </p:spPr>
        <p:txBody>
          <a:bodyPr wrap="square" lIns="0" tIns="0" rIns="0" bIns="0">
            <a:spAutoFit/>
          </a:bodyPr>
          <a:lstStyle/>
          <a:p>
            <a:pPr>
              <a:defRPr sz="1150" b="1">
                <a:solidFill>
                  <a:srgbClr val="165DDE"/>
                </a:solidFill>
                <a:latin typeface="Segoe UI"/>
              </a:defRPr>
            </a:pPr>
            <a:r>
              <a:t>LƯU Ý KHOA HỌC: PHÂN BIỆT GIỮA KẾT QUẢ THỰC ĐO VÀ GIẢ THUYẾT CƠ CHẾ</a:t>
            </a:r>
          </a:p>
          <a:p>
            <a:pPr>
              <a:defRPr sz="1100">
                <a:solidFill>
                  <a:srgbClr val="132E57"/>
                </a:solidFill>
                <a:latin typeface="Segoe UI"/>
              </a:defRPr>
            </a:pPr>
            <a:r>
              <a:t>Kết quả suy giảm độ chính xác là hiện tượng thực nghiệm đã được ghi nhận chắc chắn. Tuy nhiên, việc các lớp Conv2D phản ứng với cạnh giả hoặc vector đặc trưng bị dịch chuyển hiện tại là giả thuyết cơ chế hợp lý; cần đo trực tiếp Feature Maps hoặc Activation tại từng tầng tích chập để chứng minh tuyệt đối.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Phân tích chi tiết các ca nhận diện sai (Confusion Pairs)</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Sự biến đổi nếp gấp và ranh giới ngón tay khiến các ký hiệu bàn tay tương đồng bị nhầm lẫn</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08</a:t>
            </a:r>
          </a:p>
        </p:txBody>
      </p:sp>
      <p:sp>
        <p:nvSpPr>
          <p:cNvPr id="6" name="Rectangle 5"/>
          <p:cNvSpPr/>
          <p:nvPr/>
        </p:nvSpPr>
        <p:spPr>
          <a:xfrm>
            <a:off x="609600" y="1803400"/>
            <a:ext cx="5270500" cy="508000"/>
          </a:xfrm>
          <a:prstGeom prst="rect">
            <a:avLst/>
          </a:prstGeom>
          <a:solidFill>
            <a:srgbClr val="EAF2FF"/>
          </a:solidFill>
          <a:ln w="1270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1879600"/>
            <a:ext cx="4864100" cy="355600"/>
          </a:xfrm>
          <a:prstGeom prst="rect">
            <a:avLst/>
          </a:prstGeom>
          <a:noFill/>
        </p:spPr>
        <p:txBody>
          <a:bodyPr wrap="none" lIns="0" tIns="0" rIns="0" bIns="0">
            <a:spAutoFit/>
          </a:bodyPr>
          <a:lstStyle/>
          <a:p>
            <a:pPr>
              <a:defRPr sz="1250" b="1">
                <a:solidFill>
                  <a:srgbClr val="165DDE"/>
                </a:solidFill>
                <a:latin typeface="Segoe UI"/>
              </a:defRPr>
            </a:pPr>
            <a:r>
              <a:t>CONTRAST STRETCHING — 3 LỖI / 25 ẢNH (88%)</a:t>
            </a:r>
          </a:p>
        </p:txBody>
      </p:sp>
      <p:sp>
        <p:nvSpPr>
          <p:cNvPr id="8" name="Rectangle 7"/>
          <p:cNvSpPr/>
          <p:nvPr/>
        </p:nvSpPr>
        <p:spPr>
          <a:xfrm>
            <a:off x="609600" y="2413000"/>
            <a:ext cx="5270500" cy="787400"/>
          </a:xfrm>
          <a:prstGeom prst="rect">
            <a:avLst/>
          </a:prstGeom>
          <a:solidFill>
            <a:srgbClr val="F3F7FC"/>
          </a:solidFill>
          <a:ln w="12700">
            <a:solidFill>
              <a:srgbClr val="B76A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489200"/>
            <a:ext cx="4914900" cy="635000"/>
          </a:xfrm>
          <a:prstGeom prst="rect">
            <a:avLst/>
          </a:prstGeom>
          <a:noFill/>
        </p:spPr>
        <p:txBody>
          <a:bodyPr wrap="square" lIns="0" tIns="0" rIns="0" bIns="0">
            <a:spAutoFit/>
          </a:bodyPr>
          <a:lstStyle/>
          <a:p>
            <a:pPr>
              <a:defRPr sz="1200" b="1">
                <a:solidFill>
                  <a:srgbClr val="B76A12"/>
                </a:solidFill>
                <a:latin typeface="Segoe UI"/>
              </a:defRPr>
            </a:pPr>
            <a:r>
              <a:t>Ký hiệu A → Dự đoán: E</a:t>
            </a:r>
          </a:p>
          <a:p>
            <a:pPr>
              <a:defRPr sz="1050">
                <a:solidFill>
                  <a:srgbClr val="526985"/>
                </a:solidFill>
                <a:latin typeface="Segoe UI"/>
              </a:defRPr>
            </a:pPr>
            <a:r>
              <a:t>Nắm tay có ngón cái áp sát cạnh ngón trỏ. Khi kéo giãn tương phản mạnh, ranh giới ngón cái bị triệt tiêu khiến bàn tay trông giống dạng co cụm của chữ E.</a:t>
            </a:r>
          </a:p>
        </p:txBody>
      </p:sp>
      <p:sp>
        <p:nvSpPr>
          <p:cNvPr id="10" name="Rectangle 9"/>
          <p:cNvSpPr/>
          <p:nvPr/>
        </p:nvSpPr>
        <p:spPr>
          <a:xfrm>
            <a:off x="609600" y="3276600"/>
            <a:ext cx="5270500" cy="787400"/>
          </a:xfrm>
          <a:prstGeom prst="rect">
            <a:avLst/>
          </a:prstGeom>
          <a:solidFill>
            <a:srgbClr val="F3F7FC"/>
          </a:solidFill>
          <a:ln w="12700">
            <a:solidFill>
              <a:srgbClr val="B76A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3352800"/>
            <a:ext cx="4914900" cy="635000"/>
          </a:xfrm>
          <a:prstGeom prst="rect">
            <a:avLst/>
          </a:prstGeom>
          <a:noFill/>
        </p:spPr>
        <p:txBody>
          <a:bodyPr wrap="square" lIns="0" tIns="0" rIns="0" bIns="0">
            <a:spAutoFit/>
          </a:bodyPr>
          <a:lstStyle/>
          <a:p>
            <a:pPr>
              <a:defRPr sz="1200" b="1">
                <a:solidFill>
                  <a:srgbClr val="B76A12"/>
                </a:solidFill>
                <a:latin typeface="Segoe UI"/>
              </a:defRPr>
            </a:pPr>
            <a:r>
              <a:t>Ký hiệu N → Dự đoán: E</a:t>
            </a:r>
          </a:p>
          <a:p>
            <a:pPr>
              <a:defRPr sz="1050">
                <a:solidFill>
                  <a:srgbClr val="526985"/>
                </a:solidFill>
                <a:latin typeface="Segoe UI"/>
              </a:defRPr>
            </a:pPr>
            <a:r>
              <a:t>Nắm tay có hai ngón tay vắt qua ngón cái. Độ tương phản cao làm mất chi tiết bóng đổ dưới nếp gấp ngón, dẫn đến nhầm sang E.</a:t>
            </a:r>
          </a:p>
        </p:txBody>
      </p:sp>
      <p:sp>
        <p:nvSpPr>
          <p:cNvPr id="12" name="Rectangle 11"/>
          <p:cNvSpPr/>
          <p:nvPr/>
        </p:nvSpPr>
        <p:spPr>
          <a:xfrm>
            <a:off x="609600" y="4140200"/>
            <a:ext cx="5270500" cy="787400"/>
          </a:xfrm>
          <a:prstGeom prst="rect">
            <a:avLst/>
          </a:prstGeom>
          <a:solidFill>
            <a:srgbClr val="F3F7FC"/>
          </a:solidFill>
          <a:ln w="12700">
            <a:solidFill>
              <a:srgbClr val="B76A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4216400"/>
            <a:ext cx="4914900" cy="635000"/>
          </a:xfrm>
          <a:prstGeom prst="rect">
            <a:avLst/>
          </a:prstGeom>
          <a:noFill/>
        </p:spPr>
        <p:txBody>
          <a:bodyPr wrap="square" lIns="0" tIns="0" rIns="0" bIns="0">
            <a:spAutoFit/>
          </a:bodyPr>
          <a:lstStyle/>
          <a:p>
            <a:pPr>
              <a:defRPr sz="1200" b="1">
                <a:solidFill>
                  <a:srgbClr val="B76A12"/>
                </a:solidFill>
                <a:latin typeface="Segoe UI"/>
              </a:defRPr>
            </a:pPr>
            <a:r>
              <a:t>Ký hiệu S → Dự đoán: E</a:t>
            </a:r>
          </a:p>
          <a:p>
            <a:pPr>
              <a:defRPr sz="1050">
                <a:solidFill>
                  <a:srgbClr val="526985"/>
                </a:solidFill>
                <a:latin typeface="Segoe UI"/>
              </a:defRPr>
            </a:pPr>
            <a:r>
              <a:t>Nắm tay có ngón cái bắt ngang qua 4 ngón. Chi tiết nổi của ngón cái bị làm phẳng khiến mạng nhầm sang tư thế co cụm của chữ E.</a:t>
            </a:r>
          </a:p>
        </p:txBody>
      </p:sp>
      <p:sp>
        <p:nvSpPr>
          <p:cNvPr id="14" name="Rectangle 13"/>
          <p:cNvSpPr/>
          <p:nvPr/>
        </p:nvSpPr>
        <p:spPr>
          <a:xfrm>
            <a:off x="609600" y="5080000"/>
            <a:ext cx="5270500" cy="698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5156200"/>
            <a:ext cx="4914900" cy="571500"/>
          </a:xfrm>
          <a:prstGeom prst="rect">
            <a:avLst/>
          </a:prstGeom>
          <a:noFill/>
        </p:spPr>
        <p:txBody>
          <a:bodyPr wrap="square" lIns="0" tIns="0" rIns="0" bIns="0">
            <a:spAutoFit/>
          </a:bodyPr>
          <a:lstStyle/>
          <a:p>
            <a:pPr>
              <a:defRPr sz="1100">
                <a:solidFill>
                  <a:srgbClr val="132E57"/>
                </a:solidFill>
                <a:latin typeface="Segoe UI"/>
              </a:defRPr>
            </a:pPr>
            <a:r>
              <a:t>Nhận định: Cả 3 ca lỗi đều co cụm về chữ E. Điều này chứng minh các đặc trưng phân biệt vị trí ngón cái bị làm phẳng khi kéo giãn độ tương phản.</a:t>
            </a:r>
          </a:p>
        </p:txBody>
      </p:sp>
      <p:sp>
        <p:nvSpPr>
          <p:cNvPr id="16" name="Rectangle 15"/>
          <p:cNvSpPr/>
          <p:nvPr/>
        </p:nvSpPr>
        <p:spPr>
          <a:xfrm>
            <a:off x="6184900" y="1803400"/>
            <a:ext cx="5397500" cy="508000"/>
          </a:xfrm>
          <a:prstGeom prst="rect">
            <a:avLst/>
          </a:prstGeom>
          <a:solidFill>
            <a:srgbClr val="F3F7FC"/>
          </a:solidFill>
          <a:ln w="12700">
            <a:solidFill>
              <a:srgbClr val="B76A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8100" y="1879600"/>
            <a:ext cx="4991100" cy="355600"/>
          </a:xfrm>
          <a:prstGeom prst="rect">
            <a:avLst/>
          </a:prstGeom>
          <a:noFill/>
        </p:spPr>
        <p:txBody>
          <a:bodyPr wrap="none" lIns="0" tIns="0" rIns="0" bIns="0">
            <a:spAutoFit/>
          </a:bodyPr>
          <a:lstStyle/>
          <a:p>
            <a:pPr>
              <a:defRPr sz="1250" b="1">
                <a:solidFill>
                  <a:srgbClr val="B76A12"/>
                </a:solidFill>
                <a:latin typeface="Segoe UI"/>
              </a:defRPr>
            </a:pPr>
            <a:r>
              <a:t>HISTOGRAM EQUALIZATION — 8 LỖI / 25 ẢNH (68%)</a:t>
            </a:r>
          </a:p>
        </p:txBody>
      </p:sp>
      <p:sp>
        <p:nvSpPr>
          <p:cNvPr id="18" name="Rectangle 17"/>
          <p:cNvSpPr/>
          <p:nvPr/>
        </p:nvSpPr>
        <p:spPr>
          <a:xfrm>
            <a:off x="6184900" y="2413000"/>
            <a:ext cx="5397500" cy="57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2700" y="2463800"/>
            <a:ext cx="5041900" cy="482600"/>
          </a:xfrm>
          <a:prstGeom prst="rect">
            <a:avLst/>
          </a:prstGeom>
          <a:noFill/>
        </p:spPr>
        <p:txBody>
          <a:bodyPr wrap="square" lIns="0" tIns="0" rIns="0" bIns="0">
            <a:spAutoFit/>
          </a:bodyPr>
          <a:lstStyle/>
          <a:p>
            <a:r>
              <a:rPr sz="1200" b="1">
                <a:solidFill>
                  <a:srgbClr val="132E57"/>
                </a:solidFill>
                <a:latin typeface="Segoe UI"/>
              </a:rPr>
              <a:t>G → H  ;  Q → G  </a:t>
            </a:r>
            <a:r>
              <a:rPr sz="1050">
                <a:solidFill>
                  <a:srgbClr val="526985"/>
                </a:solidFill>
                <a:latin typeface="Segoe UI"/>
              </a:rPr>
              <a:t>Nhóm ngón trỏ chỉ ngang: Mất chi tiết phân biệt ngón giữa</a:t>
            </a:r>
          </a:p>
        </p:txBody>
      </p:sp>
      <p:sp>
        <p:nvSpPr>
          <p:cNvPr id="20" name="Rectangle 19"/>
          <p:cNvSpPr/>
          <p:nvPr/>
        </p:nvSpPr>
        <p:spPr>
          <a:xfrm>
            <a:off x="6184900" y="3048000"/>
            <a:ext cx="5397500" cy="57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2700" y="3098800"/>
            <a:ext cx="5041900" cy="482600"/>
          </a:xfrm>
          <a:prstGeom prst="rect">
            <a:avLst/>
          </a:prstGeom>
          <a:noFill/>
        </p:spPr>
        <p:txBody>
          <a:bodyPr wrap="square" lIns="0" tIns="0" rIns="0" bIns="0">
            <a:spAutoFit/>
          </a:bodyPr>
          <a:lstStyle/>
          <a:p>
            <a:r>
              <a:rPr sz="1200" b="1">
                <a:solidFill>
                  <a:srgbClr val="132E57"/>
                </a:solidFill>
                <a:latin typeface="Segoe UI"/>
              </a:rPr>
              <a:t>I → J  ;  X → V  </a:t>
            </a:r>
            <a:r>
              <a:rPr sz="1050">
                <a:solidFill>
                  <a:srgbClr val="526985"/>
                </a:solidFill>
                <a:latin typeface="Segoe UI"/>
              </a:rPr>
              <a:t>Nhóm ngón út / ngón cong: Ranh giới đầu ngón bị khuếch đại sai lệch</a:t>
            </a:r>
          </a:p>
        </p:txBody>
      </p:sp>
      <p:sp>
        <p:nvSpPr>
          <p:cNvPr id="22" name="Rectangle 21"/>
          <p:cNvSpPr/>
          <p:nvPr/>
        </p:nvSpPr>
        <p:spPr>
          <a:xfrm>
            <a:off x="6184900" y="3683000"/>
            <a:ext cx="5397500" cy="57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2700" y="3733800"/>
            <a:ext cx="5041900" cy="482600"/>
          </a:xfrm>
          <a:prstGeom prst="rect">
            <a:avLst/>
          </a:prstGeom>
          <a:noFill/>
        </p:spPr>
        <p:txBody>
          <a:bodyPr wrap="square" lIns="0" tIns="0" rIns="0" bIns="0">
            <a:spAutoFit/>
          </a:bodyPr>
          <a:lstStyle/>
          <a:p>
            <a:r>
              <a:rPr sz="1200" b="1">
                <a:solidFill>
                  <a:srgbClr val="132E57"/>
                </a:solidFill>
                <a:latin typeface="Segoe UI"/>
              </a:rPr>
              <a:t>N → E  ;  S → E  </a:t>
            </a:r>
            <a:r>
              <a:rPr sz="1050">
                <a:solidFill>
                  <a:srgbClr val="526985"/>
                </a:solidFill>
                <a:latin typeface="Segoe UI"/>
              </a:rPr>
              <a:t>Nhóm nắm tay: Lặp lại hiện tượng co cụm đặc trưng ngón cái về E</a:t>
            </a:r>
          </a:p>
        </p:txBody>
      </p:sp>
      <p:sp>
        <p:nvSpPr>
          <p:cNvPr id="24" name="Rectangle 23"/>
          <p:cNvSpPr/>
          <p:nvPr/>
        </p:nvSpPr>
        <p:spPr>
          <a:xfrm>
            <a:off x="6184900" y="4318000"/>
            <a:ext cx="5397500" cy="571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2700" y="4368800"/>
            <a:ext cx="5041900" cy="482600"/>
          </a:xfrm>
          <a:prstGeom prst="rect">
            <a:avLst/>
          </a:prstGeom>
          <a:noFill/>
        </p:spPr>
        <p:txBody>
          <a:bodyPr wrap="square" lIns="0" tIns="0" rIns="0" bIns="0">
            <a:spAutoFit/>
          </a:bodyPr>
          <a:lstStyle/>
          <a:p>
            <a:r>
              <a:rPr sz="1200" b="1">
                <a:solidFill>
                  <a:srgbClr val="132E57"/>
                </a:solidFill>
                <a:latin typeface="Segoe UI"/>
              </a:rPr>
              <a:t>R → U  ;  U → R  </a:t>
            </a:r>
            <a:r>
              <a:rPr sz="1050">
                <a:solidFill>
                  <a:srgbClr val="526985"/>
                </a:solidFill>
                <a:latin typeface="Segoe UI"/>
              </a:rPr>
              <a:t>Nhóm ngón bắt chéo: Cân bằng mức xám triệt tiêu độ sâu giữa 2 ngón</a:t>
            </a:r>
          </a:p>
        </p:txBody>
      </p:sp>
      <p:sp>
        <p:nvSpPr>
          <p:cNvPr id="26" name="Rectangle 25"/>
          <p:cNvSpPr/>
          <p:nvPr/>
        </p:nvSpPr>
        <p:spPr>
          <a:xfrm>
            <a:off x="6184900" y="5080000"/>
            <a:ext cx="5397500" cy="698500"/>
          </a:xfrm>
          <a:prstGeom prst="rect">
            <a:avLst/>
          </a:prstGeom>
          <a:solidFill>
            <a:srgbClr val="FFFFFF"/>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2700" y="5156200"/>
            <a:ext cx="5041900" cy="571500"/>
          </a:xfrm>
          <a:prstGeom prst="rect">
            <a:avLst/>
          </a:prstGeom>
          <a:noFill/>
        </p:spPr>
        <p:txBody>
          <a:bodyPr wrap="square" lIns="0" tIns="0" rIns="0" bIns="0">
            <a:spAutoFit/>
          </a:bodyPr>
          <a:lstStyle/>
          <a:p>
            <a:pPr>
              <a:defRPr sz="1100">
                <a:solidFill>
                  <a:srgbClr val="B76A12"/>
                </a:solidFill>
                <a:latin typeface="Segoe UI"/>
              </a:defRPr>
            </a:pPr>
            <a:r>
              <a:t>Nhận định: Cân bằng lược đồ gây xáo trộn diện rộng trên các cặp ký hiệu có cấu trúc hình học tương đồng cao do triệt tiêu độ sâu không gian 3D.</a:t>
            </a:r>
          </a:p>
        </p:txBody>
      </p:sp>
      <p:sp>
        <p:nvSpPr>
          <p:cNvPr id="28" name="TextBox 27"/>
          <p:cNvSpPr txBox="1"/>
          <p:nvPr/>
        </p:nvSpPr>
        <p:spPr>
          <a:xfrm>
            <a:off x="609600" y="5905500"/>
            <a:ext cx="10972800" cy="381000"/>
          </a:xfrm>
          <a:prstGeom prst="rect">
            <a:avLst/>
          </a:prstGeom>
          <a:noFill/>
        </p:spPr>
        <p:txBody>
          <a:bodyPr wrap="square" lIns="0" tIns="0" rIns="0" bIns="0">
            <a:spAutoFit/>
          </a:bodyPr>
          <a:lstStyle/>
          <a:p>
            <a:pPr>
              <a:defRPr sz="1200">
                <a:solidFill>
                  <a:srgbClr val="526985"/>
                </a:solidFill>
                <a:latin typeface="Segoe UI"/>
              </a:defRPr>
            </a:pPr>
            <a:r>
              <a:t>Lưu ý phương pháp: Các cặp nhầm lẫn trên là số liệu thực tế được ghi nhận từ mô hình. Phần phân tích hình thái ngón tay là giải thích cơ chế thị giác dự kiến.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584200"/>
          </a:xfrm>
          <a:prstGeom prst="rect">
            <a:avLst/>
          </a:prstGeom>
          <a:noFill/>
        </p:spPr>
        <p:txBody>
          <a:bodyPr wrap="square" lIns="0" tIns="0" rIns="0" bIns="0">
            <a:spAutoFit/>
          </a:bodyPr>
          <a:lstStyle/>
          <a:p>
            <a:pPr>
              <a:defRPr sz="2800" b="1">
                <a:solidFill>
                  <a:srgbClr val="132E57"/>
                </a:solidFill>
                <a:latin typeface="Segoe UI"/>
              </a:defRPr>
            </a:pPr>
            <a:r>
              <a:t>Phân tích đầu ra xác suất Softmax trên ký hiệu 'A'</a:t>
            </a:r>
          </a:p>
        </p:txBody>
      </p:sp>
      <p:sp>
        <p:nvSpPr>
          <p:cNvPr id="4" name="TextBox 3"/>
          <p:cNvSpPr txBox="1"/>
          <p:nvPr/>
        </p:nvSpPr>
        <p:spPr>
          <a:xfrm>
            <a:off x="609600" y="1219200"/>
            <a:ext cx="10972800" cy="381000"/>
          </a:xfrm>
          <a:prstGeom prst="rect">
            <a:avLst/>
          </a:prstGeom>
          <a:noFill/>
        </p:spPr>
        <p:txBody>
          <a:bodyPr wrap="square" lIns="0" tIns="0" rIns="0" bIns="0">
            <a:spAutoFit/>
          </a:bodyPr>
          <a:lstStyle/>
          <a:p>
            <a:pPr>
              <a:defRPr sz="1500" b="0">
                <a:solidFill>
                  <a:srgbClr val="526985"/>
                </a:solidFill>
                <a:latin typeface="Segoe UI"/>
              </a:defRPr>
            </a:pPr>
            <a:r>
              <a:t>Đảo chiều nhãn dự đoán và sự xói mòn độ tự tin khi thay đổi phân phối cường độ sáng</a:t>
            </a:r>
          </a:p>
        </p:txBody>
      </p:sp>
      <p:sp>
        <p:nvSpPr>
          <p:cNvPr id="5" name="TextBox 4"/>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09</a:t>
            </a:r>
          </a:p>
        </p:txBody>
      </p:sp>
      <p:pic>
        <p:nvPicPr>
          <p:cNvPr id="6" name="Picture 5" descr="softmax_chart.png"/>
          <p:cNvPicPr>
            <a:picLocks noChangeAspect="1"/>
          </p:cNvPicPr>
          <p:nvPr/>
        </p:nvPicPr>
        <p:blipFill>
          <a:blip r:embed="rId2"/>
          <a:stretch>
            <a:fillRect/>
          </a:stretch>
        </p:blipFill>
        <p:spPr>
          <a:xfrm>
            <a:off x="609600" y="1841500"/>
            <a:ext cx="6096000" cy="2667000"/>
          </a:xfrm>
          <a:prstGeom prst="rect">
            <a:avLst/>
          </a:prstGeom>
        </p:spPr>
      </p:pic>
      <p:sp>
        <p:nvSpPr>
          <p:cNvPr id="7" name="Rectangle 6"/>
          <p:cNvSpPr/>
          <p:nvPr/>
        </p:nvSpPr>
        <p:spPr>
          <a:xfrm>
            <a:off x="6959600" y="1841500"/>
            <a:ext cx="4622800" cy="812800"/>
          </a:xfrm>
          <a:prstGeom prst="rect">
            <a:avLst/>
          </a:prstGeom>
          <a:solidFill>
            <a:srgbClr val="F3F7FC"/>
          </a:solidFill>
          <a:ln w="1905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7400" y="1917700"/>
            <a:ext cx="4267200" cy="660400"/>
          </a:xfrm>
          <a:prstGeom prst="rect">
            <a:avLst/>
          </a:prstGeom>
          <a:noFill/>
        </p:spPr>
        <p:txBody>
          <a:bodyPr wrap="square" lIns="0" tIns="0" rIns="0" bIns="0">
            <a:spAutoFit/>
          </a:bodyPr>
          <a:lstStyle/>
          <a:p>
            <a:pPr>
              <a:defRPr sz="1150" b="1">
                <a:solidFill>
                  <a:srgbClr val="165DDE"/>
                </a:solidFill>
                <a:latin typeface="Segoe UI"/>
              </a:defRPr>
            </a:pPr>
            <a:r>
              <a:t>1. Ảnh gốc (Baseline): Đúng tuyệt đối</a:t>
            </a:r>
          </a:p>
          <a:p>
            <a:pPr>
              <a:defRPr sz="1050">
                <a:solidFill>
                  <a:srgbClr val="132E57"/>
                </a:solidFill>
                <a:latin typeface="Segoe UI"/>
              </a:defRPr>
            </a:pPr>
            <a:r>
              <a:t>Top-1: Ký hiệu 'A' với Confidence = 99,9%</a:t>
            </a:r>
            <a:br/>
            <a:r>
              <a:t>Xác suất nhãn E &lt; 0,1%. Mô hình hoàn toàn tự tin và dự đoán chính xác.</a:t>
            </a:r>
          </a:p>
        </p:txBody>
      </p:sp>
      <p:sp>
        <p:nvSpPr>
          <p:cNvPr id="9" name="Rectangle 8"/>
          <p:cNvSpPr/>
          <p:nvPr/>
        </p:nvSpPr>
        <p:spPr>
          <a:xfrm>
            <a:off x="6959600" y="2755900"/>
            <a:ext cx="4622800" cy="812800"/>
          </a:xfrm>
          <a:prstGeom prst="rect">
            <a:avLst/>
          </a:prstGeom>
          <a:solidFill>
            <a:srgbClr val="F3F7FC"/>
          </a:solidFill>
          <a:ln w="19050">
            <a:solidFill>
              <a:srgbClr val="B76A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7400" y="2832100"/>
            <a:ext cx="4267200" cy="660400"/>
          </a:xfrm>
          <a:prstGeom prst="rect">
            <a:avLst/>
          </a:prstGeom>
          <a:noFill/>
        </p:spPr>
        <p:txBody>
          <a:bodyPr wrap="square" lIns="0" tIns="0" rIns="0" bIns="0">
            <a:spAutoFit/>
          </a:bodyPr>
          <a:lstStyle/>
          <a:p>
            <a:pPr>
              <a:defRPr sz="1150" b="1">
                <a:solidFill>
                  <a:srgbClr val="B76A12"/>
                </a:solidFill>
                <a:latin typeface="Segoe UI"/>
              </a:defRPr>
            </a:pPr>
            <a:r>
              <a:t>2. Contrast Stretching: Đảo chiều dự đoán</a:t>
            </a:r>
          </a:p>
          <a:p>
            <a:pPr>
              <a:defRPr sz="1050">
                <a:solidFill>
                  <a:srgbClr val="132E57"/>
                </a:solidFill>
                <a:latin typeface="Segoe UI"/>
              </a:defRPr>
            </a:pPr>
            <a:r>
              <a:t>Top-1: Ký hiệu 'E' với Confidence = 98,4%</a:t>
            </a:r>
            <a:br/>
            <a:r>
              <a:t>Xác suất nhãn đúng 'A' rơi xuống chỉ còn 1,6%. Mô hình tự tin cực cao vào một kết quả SAI!</a:t>
            </a:r>
          </a:p>
        </p:txBody>
      </p:sp>
      <p:sp>
        <p:nvSpPr>
          <p:cNvPr id="11" name="Rectangle 10"/>
          <p:cNvSpPr/>
          <p:nvPr/>
        </p:nvSpPr>
        <p:spPr>
          <a:xfrm>
            <a:off x="6959600" y="3670300"/>
            <a:ext cx="4622800" cy="812800"/>
          </a:xfrm>
          <a:prstGeom prst="rect">
            <a:avLst/>
          </a:prstGeom>
          <a:solidFill>
            <a:srgbClr val="F3F7FC"/>
          </a:solidFill>
          <a:ln w="1905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7400" y="3746500"/>
            <a:ext cx="4267200" cy="660400"/>
          </a:xfrm>
          <a:prstGeom prst="rect">
            <a:avLst/>
          </a:prstGeom>
          <a:noFill/>
        </p:spPr>
        <p:txBody>
          <a:bodyPr wrap="square" lIns="0" tIns="0" rIns="0" bIns="0">
            <a:spAutoFit/>
          </a:bodyPr>
          <a:lstStyle/>
          <a:p>
            <a:pPr>
              <a:defRPr sz="1150" b="1">
                <a:solidFill>
                  <a:srgbClr val="526985"/>
                </a:solidFill>
                <a:latin typeface="Segoe UI"/>
              </a:defRPr>
            </a:pPr>
            <a:r>
              <a:t>3. Histogram Equalization: Bào mòn niềm tin</a:t>
            </a:r>
          </a:p>
          <a:p>
            <a:pPr>
              <a:defRPr sz="1050">
                <a:solidFill>
                  <a:srgbClr val="132E57"/>
                </a:solidFill>
                <a:latin typeface="Segoe UI"/>
              </a:defRPr>
            </a:pPr>
            <a:r>
              <a:t>Top-1: Ký hiệu 'A' với Confidence = 91,7%</a:t>
            </a:r>
            <a:br/>
            <a:r>
              <a:t>Xác suất nhãn E tăng lên 8,3%. Vẫn đoán đúng A nhưng độ tự tin sụt giảm rõ rệt.</a:t>
            </a:r>
          </a:p>
        </p:txBody>
      </p:sp>
      <p:sp>
        <p:nvSpPr>
          <p:cNvPr id="13" name="Rectangle 12"/>
          <p:cNvSpPr/>
          <p:nvPr/>
        </p:nvSpPr>
        <p:spPr>
          <a:xfrm>
            <a:off x="609600" y="4699000"/>
            <a:ext cx="10972800" cy="1079500"/>
          </a:xfrm>
          <a:prstGeom prst="rect">
            <a:avLst/>
          </a:prstGeom>
          <a:solidFill>
            <a:srgbClr val="EAF2FF"/>
          </a:solidFill>
          <a:ln w="1905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4800600"/>
            <a:ext cx="10464800" cy="889000"/>
          </a:xfrm>
          <a:prstGeom prst="rect">
            <a:avLst/>
          </a:prstGeom>
          <a:noFill/>
        </p:spPr>
        <p:txBody>
          <a:bodyPr wrap="square" lIns="0" tIns="0" rIns="0" bIns="0">
            <a:spAutoFit/>
          </a:bodyPr>
          <a:lstStyle/>
          <a:p>
            <a:pPr>
              <a:defRPr sz="1200" b="1">
                <a:solidFill>
                  <a:srgbClr val="165DDE"/>
                </a:solidFill>
                <a:latin typeface="Segoe UI"/>
              </a:defRPr>
            </a:pPr>
            <a:r>
              <a:t>BÀI HỌC VỀ HIỆU CHUẨN XÁC SUẤT (MODEL CALIBRATION)</a:t>
            </a:r>
          </a:p>
          <a:p>
            <a:pPr>
              <a:defRPr sz="1100">
                <a:solidFill>
                  <a:srgbClr val="132E57"/>
                </a:solidFill>
                <a:latin typeface="Segoe UI"/>
              </a:defRPr>
            </a:pPr>
            <a:r>
              <a:t>Không được nhầm lẫn giữa Confidence (độ tự tin Softmax) và Accuracy (độ chính xác thực tế). Ở trường hợp Contrast Stretching, mô hình dự đoán nhầm sang 'E' với độ tự tin lên tới 98,4%. Điều này chứng minh Softmax cực đoan (over-confident) khi gặp dữ liệu bị dịch chuyển phân phối, và độ tự tin cao không bảo đảm cho tính đúng đắn của quyết định phân loại.</a:t>
            </a:r>
          </a:p>
        </p:txBody>
      </p:sp>
      <p:sp>
        <p:nvSpPr>
          <p:cNvPr id="15" name="TextBox 14"/>
          <p:cNvSpPr txBox="1"/>
          <p:nvPr/>
        </p:nvSpPr>
        <p:spPr>
          <a:xfrm>
            <a:off x="609600" y="5905500"/>
            <a:ext cx="10972800" cy="381000"/>
          </a:xfrm>
          <a:prstGeom prst="rect">
            <a:avLst/>
          </a:prstGeom>
          <a:noFill/>
        </p:spPr>
        <p:txBody>
          <a:bodyPr wrap="square" lIns="0" tIns="0" rIns="0" bIns="0">
            <a:spAutoFit/>
          </a:bodyPr>
          <a:lstStyle/>
          <a:p>
            <a:pPr>
              <a:defRPr sz="1200">
                <a:solidFill>
                  <a:srgbClr val="526985"/>
                </a:solidFill>
                <a:latin typeface="Segoe UI"/>
              </a:defRPr>
            </a:pPr>
            <a:r>
              <a:t>Ghi chú: Số liệu xác suất Softmax được trích xuất trực tiếp từ véc-tơ đầu ra 29 chiều trên ca kiểm thử chữ 'A'. Các nhãn khác có xác suất xấp xỉ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419100"/>
            <a:ext cx="342900" cy="47625"/>
          </a:xfrm>
          <a:prstGeom prst="rect">
            <a:avLst/>
          </a:prstGeom>
          <a:solidFill>
            <a:srgbClr val="165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84200"/>
            <a:ext cx="10972800" cy="889000"/>
          </a:xfrm>
          <a:prstGeom prst="rect">
            <a:avLst/>
          </a:prstGeom>
          <a:noFill/>
        </p:spPr>
        <p:txBody>
          <a:bodyPr wrap="square" lIns="0" tIns="0" rIns="0" bIns="0">
            <a:spAutoFit/>
          </a:bodyPr>
          <a:lstStyle/>
          <a:p>
            <a:pPr>
              <a:defRPr sz="2800" b="1">
                <a:solidFill>
                  <a:srgbClr val="132E57"/>
                </a:solidFill>
                <a:latin typeface="Segoe UI"/>
              </a:defRPr>
            </a:pPr>
            <a:r>
              <a:t>Tiền xử lý và CNN: Cần sự tương thích phân phối</a:t>
            </a:r>
          </a:p>
          <a:p>
            <a:pPr>
              <a:defRPr sz="1500">
                <a:solidFill>
                  <a:srgbClr val="165DDE"/>
                </a:solidFill>
                <a:latin typeface="Segoe UI"/>
              </a:defRPr>
            </a:pPr>
            <a:r>
              <a:t>Đánh giá bằng thực nghiệm định lượng, không dựa vào cảm quan thị giác của mắt người</a:t>
            </a:r>
          </a:p>
        </p:txBody>
      </p:sp>
      <p:sp>
        <p:nvSpPr>
          <p:cNvPr id="4" name="Rectangle 3"/>
          <p:cNvSpPr/>
          <p:nvPr/>
        </p:nvSpPr>
        <p:spPr>
          <a:xfrm>
            <a:off x="609600" y="1587500"/>
            <a:ext cx="5334000" cy="39370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8200" y="1714500"/>
            <a:ext cx="4876800" cy="3683000"/>
          </a:xfrm>
          <a:prstGeom prst="rect">
            <a:avLst/>
          </a:prstGeom>
          <a:noFill/>
        </p:spPr>
        <p:txBody>
          <a:bodyPr wrap="square" lIns="0" tIns="0" rIns="0" bIns="0">
            <a:spAutoFit/>
          </a:bodyPr>
          <a:lstStyle/>
          <a:p>
            <a:pPr>
              <a:defRPr sz="1250" b="1">
                <a:solidFill>
                  <a:srgbClr val="165DDE"/>
                </a:solidFill>
                <a:latin typeface="Segoe UI"/>
              </a:defRPr>
            </a:pPr>
            <a:r>
              <a:t>5 KẾT LUẬN RÚT RA TỪ THỰC NGHIỆM</a:t>
            </a:r>
          </a:p>
          <a:p>
            <a:pPr>
              <a:spcBef>
                <a:spcPts val="1200"/>
              </a:spcBef>
            </a:pPr>
            <a:r>
              <a:rPr b="1" sz="1150">
                <a:solidFill>
                  <a:srgbClr val="165DDE"/>
                </a:solidFill>
              </a:rPr>
              <a:t>1. Không phải lúc nào cũng tốt: </a:t>
            </a:r>
            <a:r>
              <a:rPr sz="1100">
                <a:solidFill>
                  <a:srgbClr val="132E57"/>
                </a:solidFill>
              </a:rPr>
              <a:t>Tăng cường tương phản không đồng nghĩa với việc cải thiện độ chính xác phân loại của mạng CNN.</a:t>
            </a:r>
          </a:p>
          <a:p>
            <a:pPr>
              <a:spcBef>
                <a:spcPts val="1200"/>
              </a:spcBef>
            </a:pPr>
            <a:r>
              <a:rPr b="1" sz="1150">
                <a:solidFill>
                  <a:srgbClr val="165DDE"/>
                </a:solidFill>
              </a:rPr>
              <a:t>2. Ảnh gốc đạt tối ưu: </a:t>
            </a:r>
            <a:r>
              <a:rPr sz="1100">
                <a:solidFill>
                  <a:srgbClr val="132E57"/>
                </a:solidFill>
              </a:rPr>
              <a:t>Trong tập kiểm thử 25 ảnh, ảnh gốc đạt 100% so với 88% (Contrast Stretching) và 68% (Histogram Equalization).</a:t>
            </a:r>
          </a:p>
          <a:p>
            <a:pPr>
              <a:spcBef>
                <a:spcPts val="1200"/>
              </a:spcBef>
            </a:pPr>
            <a:r>
              <a:rPr b="1" sz="1150">
                <a:solidFill>
                  <a:srgbClr val="165DDE"/>
                </a:solidFill>
              </a:rPr>
              <a:t>3. Nhất quán phân phối P(X): </a:t>
            </a:r>
            <a:r>
              <a:rPr sz="1100">
                <a:solidFill>
                  <a:srgbClr val="132E57"/>
                </a:solidFill>
              </a:rPr>
              <a:t>Độ nhạy của CNN đòi hỏi dữ liệu đầu vào phải tương thích chặt chẽ với phân phối ảnh đã học trong huấn luyện.</a:t>
            </a:r>
          </a:p>
          <a:p>
            <a:pPr>
              <a:spcBef>
                <a:spcPts val="1200"/>
              </a:spcBef>
            </a:pPr>
            <a:r>
              <a:rPr b="1" sz="1150">
                <a:solidFill>
                  <a:srgbClr val="165DDE"/>
                </a:solidFill>
              </a:rPr>
              <a:t>4. Khuyến nghị huấn luyện: </a:t>
            </a:r>
            <a:r>
              <a:rPr sz="1100">
                <a:solidFill>
                  <a:srgbClr val="132E57"/>
                </a:solidFill>
              </a:rPr>
              <a:t>Nếu muốn dùng tiền xử lý trong triển khai thực tế, bắt buộc phải tích hợp chúng vào quy trình Data Augmentation.</a:t>
            </a:r>
          </a:p>
          <a:p>
            <a:pPr>
              <a:spcBef>
                <a:spcPts val="1200"/>
              </a:spcBef>
            </a:pPr>
            <a:r>
              <a:rPr b="1" sz="1150">
                <a:solidFill>
                  <a:srgbClr val="165DDE"/>
                </a:solidFill>
              </a:rPr>
              <a:t>5. Định lượng thay vì cảm quan: </a:t>
            </a:r>
            <a:r>
              <a:rPr sz="1100">
                <a:solidFill>
                  <a:srgbClr val="132E57"/>
                </a:solidFill>
              </a:rPr>
              <a:t>Đánh giá pipeline thị giác máy tính phải dựa trên Accuracy và Loss định lượng, không dựa vào mắt nhìn con người.</a:t>
            </a:r>
          </a:p>
        </p:txBody>
      </p:sp>
      <p:sp>
        <p:nvSpPr>
          <p:cNvPr id="6" name="Rectangle 5"/>
          <p:cNvSpPr/>
          <p:nvPr/>
        </p:nvSpPr>
        <p:spPr>
          <a:xfrm>
            <a:off x="6248400" y="1587500"/>
            <a:ext cx="5334000" cy="3937000"/>
          </a:xfrm>
          <a:prstGeom prst="rect">
            <a:avLst/>
          </a:prstGeom>
          <a:solidFill>
            <a:srgbClr val="F3F7FC"/>
          </a:solidFill>
          <a:ln w="12700">
            <a:solidFill>
              <a:srgbClr val="D8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7000" y="1714500"/>
            <a:ext cx="4876800" cy="3683000"/>
          </a:xfrm>
          <a:prstGeom prst="rect">
            <a:avLst/>
          </a:prstGeom>
          <a:noFill/>
        </p:spPr>
        <p:txBody>
          <a:bodyPr wrap="square" lIns="0" tIns="0" rIns="0" bIns="0">
            <a:spAutoFit/>
          </a:bodyPr>
          <a:lstStyle/>
          <a:p>
            <a:pPr>
              <a:defRPr sz="1250" b="1">
                <a:solidFill>
                  <a:srgbClr val="132E57"/>
                </a:solidFill>
                <a:latin typeface="Segoe UI"/>
              </a:defRPr>
            </a:pPr>
            <a:r>
              <a:t>4 HƯỚNG PHÁT TRIỂN TIẾP THEO</a:t>
            </a:r>
          </a:p>
          <a:p>
            <a:pPr>
              <a:spcBef>
                <a:spcPts val="1400"/>
              </a:spcBef>
            </a:pPr>
            <a:r>
              <a:rPr b="1" sz="1150">
                <a:solidFill>
                  <a:srgbClr val="132E57"/>
                </a:solidFill>
              </a:rPr>
              <a:t>1. Mở rộng tập kiểm thử: </a:t>
            </a:r>
            <a:r>
              <a:rPr sz="1100">
                <a:solidFill>
                  <a:srgbClr val="526985"/>
                </a:solidFill>
              </a:rPr>
              <a:t>Thực nghiệm trên tập dữ liệu hàng nghìn ảnh với nhiều điều kiện phơi sáng, màu da và bối cảnh chụp khác nhau.</a:t>
            </a:r>
          </a:p>
          <a:p>
            <a:pPr>
              <a:spcBef>
                <a:spcPts val="1400"/>
              </a:spcBef>
            </a:pPr>
            <a:r>
              <a:rPr b="1" sz="1150">
                <a:solidFill>
                  <a:srgbClr val="132E57"/>
                </a:solidFill>
              </a:rPr>
              <a:t>2. Kiểm tra tính độc lập: </a:t>
            </a:r>
            <a:r>
              <a:rPr sz="1100">
                <a:solidFill>
                  <a:srgbClr val="526985"/>
                </a:solidFill>
              </a:rPr>
              <a:t>Xác minh mức độ độc lập giữa tập kiểm thử và tập huấn luyện gốc của mô hình để loại trừ hiện tượng ghi nhớ (memorization).</a:t>
            </a:r>
          </a:p>
          <a:p>
            <a:pPr>
              <a:spcBef>
                <a:spcPts val="1400"/>
              </a:spcBef>
            </a:pPr>
            <a:r>
              <a:rPr b="1" sz="1150">
                <a:solidFill>
                  <a:srgbClr val="132E57"/>
                </a:solidFill>
              </a:rPr>
              <a:t>3. Trích xuất Feature Maps: </a:t>
            </a:r>
            <a:r>
              <a:rPr sz="1100">
                <a:solidFill>
                  <a:srgbClr val="526985"/>
                </a:solidFill>
              </a:rPr>
              <a:t>Trực quan hóa activation maps tại các tầng Conv2D để kiểm chứng giả thuyết về việc hình thành cạnh giả hoặc mất nếp gấp.</a:t>
            </a:r>
          </a:p>
          <a:p>
            <a:pPr>
              <a:spcBef>
                <a:spcPts val="1400"/>
              </a:spcBef>
            </a:pPr>
            <a:r>
              <a:rPr b="1" sz="1150">
                <a:solidFill>
                  <a:srgbClr val="132E57"/>
                </a:solidFill>
              </a:rPr>
              <a:t>4. Chuẩn hóa đo thời gian: </a:t>
            </a:r>
            <a:r>
              <a:rPr sz="1100">
                <a:solidFill>
                  <a:srgbClr val="526985"/>
                </a:solidFill>
              </a:rPr>
              <a:t>Lặp lại đo đạc thời gian trễ tiền xử lý trên phần cứng chuẩn hóa (CPU/GPU) với nhiều vòng lặp để tăng độ tin cậy thống kê.</a:t>
            </a:r>
          </a:p>
        </p:txBody>
      </p:sp>
      <p:sp>
        <p:nvSpPr>
          <p:cNvPr id="8" name="Rectangle 7"/>
          <p:cNvSpPr/>
          <p:nvPr/>
        </p:nvSpPr>
        <p:spPr>
          <a:xfrm>
            <a:off x="609600" y="5715000"/>
            <a:ext cx="10972800" cy="609600"/>
          </a:xfrm>
          <a:prstGeom prst="rect">
            <a:avLst/>
          </a:prstGeom>
          <a:solidFill>
            <a:srgbClr val="EAF2FF"/>
          </a:solidFill>
          <a:ln w="12700">
            <a:solidFill>
              <a:srgbClr val="165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600" y="5842000"/>
            <a:ext cx="10464800" cy="381000"/>
          </a:xfrm>
          <a:prstGeom prst="rect">
            <a:avLst/>
          </a:prstGeom>
          <a:noFill/>
        </p:spPr>
        <p:txBody>
          <a:bodyPr wrap="none" lIns="0" tIns="0" rIns="0" bIns="0">
            <a:spAutoFit/>
          </a:bodyPr>
          <a:lstStyle/>
          <a:p>
            <a:pPr>
              <a:defRPr sz="1600" b="1">
                <a:solidFill>
                  <a:srgbClr val="132E57"/>
                </a:solidFill>
                <a:latin typeface="Segoe UI"/>
              </a:defRPr>
            </a:pPr>
            <a:r>
              <a:t>Đúng phân phối. Chuẩn thực nghiệm. Vững độ tin cậy.</a:t>
            </a:r>
          </a:p>
        </p:txBody>
      </p:sp>
      <p:sp>
        <p:nvSpPr>
          <p:cNvPr id="10" name="TextBox 9"/>
          <p:cNvSpPr txBox="1"/>
          <p:nvPr/>
        </p:nvSpPr>
        <p:spPr>
          <a:xfrm>
            <a:off x="11334750" y="6477000"/>
            <a:ext cx="317500" cy="228600"/>
          </a:xfrm>
          <a:prstGeom prst="rect">
            <a:avLst/>
          </a:prstGeom>
          <a:noFill/>
        </p:spPr>
        <p:txBody>
          <a:bodyPr wrap="none" lIns="0" tIns="0" rIns="0" bIns="0">
            <a:spAutoFit/>
          </a:bodyPr>
          <a:lstStyle/>
          <a:p>
            <a:pPr>
              <a:defRPr sz="1125">
                <a:solidFill>
                  <a:srgbClr val="526985"/>
                </a:solidFill>
                <a:latin typeface="Segoe UI"/>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
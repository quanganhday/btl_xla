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4.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E293B"/>
                </a:solidFill>
                <a:latin typeface="Arial"/>
              </a:defRPr>
            </a:pPr>
            <a:r>
              <a:rPr sz="1300" b="0" i="0" u="none" strike="noStrike">
                <a:solidFill>
                  <a:srgbClr val="1E293B"/>
                </a:solidFill>
                <a:latin typeface="Arial"/>
              </a:rPr>
              <a:t>Lược đồ kênh Y: trước cân bằng (minh họa)</a:t>
            </a:r>
          </a:p>
        </c:rich>
      </c:tx>
      <c:layout/>
      <c:overlay val="0"/>
    </c:title>
    <c:autoTitleDeleted val="0"/>
    <c:plotArea>
      <c:layout/>
      <c:areaChart>
        <c:varyColors val="0"/>
        <c:ser>
          <c:idx val="0"/>
          <c:order val="0"/>
          <c:tx>
            <c:strRef>
              <c:f>Sheet1!$B$1</c:f>
              <c:strCache>
                <c:ptCount val="1"/>
                <c:pt idx="0">
                  <c:v>Trước</c:v>
                </c:pt>
              </c:strCache>
            </c:strRef>
          </c:tx>
          <c:spPr>
            <a:solidFill>
              <a:srgbClr val="1F3A5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Sheet1!$A$2:$A$27</c:f>
              <c:multiLvlStrCache>
                <c:ptCount val="26"/>
                <c:lvl>
                  <c:pt idx="0">
                    <c:v>0</c:v>
                  </c:pt>
                  <c:pt idx="1">
                    <c:v> </c:v>
                  </c:pt>
                  <c:pt idx="2">
                    <c:v> </c:v>
                  </c:pt>
                  <c:pt idx="3">
                    <c:v> </c:v>
                  </c:pt>
                  <c:pt idx="4">
                    <c:v> </c:v>
                  </c:pt>
                  <c:pt idx="5">
                    <c:v>50</c:v>
                  </c:pt>
                  <c:pt idx="6">
                    <c:v> </c:v>
                  </c:pt>
                  <c:pt idx="7">
                    <c:v> </c:v>
                  </c:pt>
                  <c:pt idx="8">
                    <c:v> </c:v>
                  </c:pt>
                  <c:pt idx="9">
                    <c:v> </c:v>
                  </c:pt>
                  <c:pt idx="10">
                    <c:v>100</c:v>
                  </c:pt>
                  <c:pt idx="11">
                    <c:v> </c:v>
                  </c:pt>
                  <c:pt idx="12">
                    <c:v> </c:v>
                  </c:pt>
                  <c:pt idx="13">
                    <c:v> </c:v>
                  </c:pt>
                  <c:pt idx="14">
                    <c:v> </c:v>
                  </c:pt>
                  <c:pt idx="15">
                    <c:v>150</c:v>
                  </c:pt>
                  <c:pt idx="16">
                    <c:v> </c:v>
                  </c:pt>
                  <c:pt idx="17">
                    <c:v> </c:v>
                  </c:pt>
                  <c:pt idx="18">
                    <c:v> </c:v>
                  </c:pt>
                  <c:pt idx="19">
                    <c:v> </c:v>
                  </c:pt>
                  <c:pt idx="20">
                    <c:v>200</c:v>
                  </c:pt>
                  <c:pt idx="21">
                    <c:v> </c:v>
                  </c:pt>
                  <c:pt idx="22">
                    <c:v> </c:v>
                  </c:pt>
                  <c:pt idx="23">
                    <c:v> </c:v>
                  </c:pt>
                  <c:pt idx="24">
                    <c:v> </c:v>
                  </c:pt>
                  <c:pt idx="25">
                    <c:v>250</c:v>
                  </c:pt>
                </c:lvl>
              </c:multiLvlStrCache>
            </c:multiLvlStrRef>
          </c:cat>
          <c:val>
            <c:numRef>
              <c:f>Sheet1!$B$2:$B$27</c:f>
              <c:numCache>
                <c:formatCode>General</c:formatCode>
                <c:ptCount val="26"/>
                <c:pt idx="0">
                  <c:v>0</c:v>
                </c:pt>
                <c:pt idx="1">
                  <c:v>0</c:v>
                </c:pt>
                <c:pt idx="2">
                  <c:v>0</c:v>
                </c:pt>
                <c:pt idx="3">
                  <c:v>0</c:v>
                </c:pt>
                <c:pt idx="4">
                  <c:v>0.01</c:v>
                </c:pt>
                <c:pt idx="5">
                  <c:v>0.03</c:v>
                </c:pt>
                <c:pt idx="6">
                  <c:v>0.07</c:v>
                </c:pt>
                <c:pt idx="7">
                  <c:v>0.15</c:v>
                </c:pt>
                <c:pt idx="8">
                  <c:v>0.27</c:v>
                </c:pt>
                <c:pt idx="9">
                  <c:v>0.46</c:v>
                </c:pt>
                <c:pt idx="10">
                  <c:v>0.67</c:v>
                </c:pt>
                <c:pt idx="11">
                  <c:v>0.87</c:v>
                </c:pt>
                <c:pt idx="12">
                  <c:v>0.98</c:v>
                </c:pt>
                <c:pt idx="13">
                  <c:v>0.98</c:v>
                </c:pt>
                <c:pt idx="14">
                  <c:v>0.87</c:v>
                </c:pt>
                <c:pt idx="15">
                  <c:v>0.67</c:v>
                </c:pt>
                <c:pt idx="16">
                  <c:v>0.46</c:v>
                </c:pt>
                <c:pt idx="17">
                  <c:v>0.27</c:v>
                </c:pt>
                <c:pt idx="18">
                  <c:v>0.15</c:v>
                </c:pt>
                <c:pt idx="19">
                  <c:v>0.07</c:v>
                </c:pt>
                <c:pt idx="20">
                  <c:v>0.03</c:v>
                </c:pt>
                <c:pt idx="21">
                  <c:v>0.01</c:v>
                </c:pt>
                <c:pt idx="22">
                  <c:v>0</c:v>
                </c:pt>
                <c:pt idx="23">
                  <c:v>0</c:v>
                </c:pt>
                <c:pt idx="24">
                  <c:v>0</c:v>
                </c:pt>
                <c:pt idx="25">
                  <c:v>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axId val="2094734554"/>
        <c:axId val="2094734552"/>
        <c:axId val="2094734556"/>
      </c:areaChart>
      <c:catAx>
        <c:axId val="2094734554"/>
        <c:scaling>
          <c:orientation val="minMax"/>
        </c:scaling>
        <c:delete val="0"/>
        <c:axPos val="b"/>
        <c:title>
          <c:tx>
            <c:rich>
              <a:bodyPr/>
              <a:lstStyle/>
              <a:p>
                <a:pPr>
                  <a:defRPr sz="900" b="0" i="0" u="none" strike="noStrike">
                    <a:solidFill>
                      <a:srgbClr val="5B6770"/>
                    </a:solidFill>
                    <a:latin typeface="Arial"/>
                  </a:defRPr>
                </a:pPr>
                <a:r>
                  <a:rPr sz="900" b="0" i="0" u="none" strike="noStrike">
                    <a:solidFill>
                      <a:srgbClr val="5B6770"/>
                    </a:solidFill>
                    <a:latin typeface="Arial"/>
                  </a:rPr>
                  <a:t>Mức xám (0–255)</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B6770"/>
                </a:solidFill>
                <a:latin typeface="Arial"/>
              </a:defRPr>
            </a:pPr>
            <a:endParaRPr lang="en-US"/>
          </a:p>
        </c:txPr>
        <c:crossAx val="2094734552"/>
        <c:crosses val="autoZero"/>
        <c:auto val="1"/>
        <c:lblAlgn val="ctr"/>
        <c:noMultiLvlLbl val="1"/>
        <c:tickLblSkip val="5"/>
      </c:catAx>
      <c:valAx>
        <c:axId val="2094734552"/>
        <c:scaling>
          <c:orientation val="minMax"/>
          <c:max val="1.1"/>
          <c:min val="0"/>
        </c:scaling>
        <c:delete val="0"/>
        <c:axPos val="l"/>
        <c:majorGridlines>
          <c:spPr>
            <a:ln w="635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77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E293B"/>
                </a:solidFill>
                <a:latin typeface="Arial"/>
              </a:defRPr>
            </a:pPr>
            <a:r>
              <a:rPr sz="1300" b="0" i="0" u="none" strike="noStrike">
                <a:solidFill>
                  <a:srgbClr val="1E293B"/>
                </a:solidFill>
                <a:latin typeface="Arial"/>
              </a:rPr>
              <a:t>Lược đồ kênh Y: sau cân bằng CDF (minh họa)</a:t>
            </a:r>
          </a:p>
        </c:rich>
      </c:tx>
      <c:layout/>
      <c:overlay val="0"/>
    </c:title>
    <c:autoTitleDeleted val="0"/>
    <c:plotArea>
      <c:layout/>
      <c:areaChart>
        <c:varyColors val="0"/>
        <c:ser>
          <c:idx val="0"/>
          <c:order val="0"/>
          <c:tx>
            <c:strRef>
              <c:f>Sheet1!$B$1</c:f>
              <c:strCache>
                <c:ptCount val="1"/>
                <c:pt idx="0">
                  <c:v>Sau</c:v>
                </c:pt>
              </c:strCache>
            </c:strRef>
          </c:tx>
          <c:spPr>
            <a:solidFill>
              <a:srgbClr val="2A9D8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Sheet1!$A$2:$A$27</c:f>
              <c:multiLvlStrCache>
                <c:ptCount val="26"/>
                <c:lvl>
                  <c:pt idx="0">
                    <c:v>0</c:v>
                  </c:pt>
                  <c:pt idx="1">
                    <c:v> </c:v>
                  </c:pt>
                  <c:pt idx="2">
                    <c:v> </c:v>
                  </c:pt>
                  <c:pt idx="3">
                    <c:v> </c:v>
                  </c:pt>
                  <c:pt idx="4">
                    <c:v> </c:v>
                  </c:pt>
                  <c:pt idx="5">
                    <c:v>50</c:v>
                  </c:pt>
                  <c:pt idx="6">
                    <c:v> </c:v>
                  </c:pt>
                  <c:pt idx="7">
                    <c:v> </c:v>
                  </c:pt>
                  <c:pt idx="8">
                    <c:v> </c:v>
                  </c:pt>
                  <c:pt idx="9">
                    <c:v> </c:v>
                  </c:pt>
                  <c:pt idx="10">
                    <c:v>100</c:v>
                  </c:pt>
                  <c:pt idx="11">
                    <c:v> </c:v>
                  </c:pt>
                  <c:pt idx="12">
                    <c:v> </c:v>
                  </c:pt>
                  <c:pt idx="13">
                    <c:v> </c:v>
                  </c:pt>
                  <c:pt idx="14">
                    <c:v> </c:v>
                  </c:pt>
                  <c:pt idx="15">
                    <c:v>150</c:v>
                  </c:pt>
                  <c:pt idx="16">
                    <c:v> </c:v>
                  </c:pt>
                  <c:pt idx="17">
                    <c:v> </c:v>
                  </c:pt>
                  <c:pt idx="18">
                    <c:v> </c:v>
                  </c:pt>
                  <c:pt idx="19">
                    <c:v> </c:v>
                  </c:pt>
                  <c:pt idx="20">
                    <c:v>200</c:v>
                  </c:pt>
                  <c:pt idx="21">
                    <c:v> </c:v>
                  </c:pt>
                  <c:pt idx="22">
                    <c:v> </c:v>
                  </c:pt>
                  <c:pt idx="23">
                    <c:v> </c:v>
                  </c:pt>
                  <c:pt idx="24">
                    <c:v> </c:v>
                  </c:pt>
                  <c:pt idx="25">
                    <c:v>250</c:v>
                  </c:pt>
                </c:lvl>
              </c:multiLvlStrCache>
            </c:multiLvlStrRef>
          </c:cat>
          <c:val>
            <c:numRef>
              <c:f>Sheet1!$B$2:$B$27</c:f>
              <c:numCache>
                <c:formatCode>General</c:formatCode>
                <c:ptCount val="26"/>
                <c:pt idx="0">
                  <c:v>0.53</c:v>
                </c:pt>
                <c:pt idx="1">
                  <c:v>0.53</c:v>
                </c:pt>
                <c:pt idx="2">
                  <c:v>0.51</c:v>
                </c:pt>
                <c:pt idx="3">
                  <c:v>0.41</c:v>
                </c:pt>
                <c:pt idx="4">
                  <c:v>0.56</c:v>
                </c:pt>
                <c:pt idx="5">
                  <c:v>0.52</c:v>
                </c:pt>
                <c:pt idx="6">
                  <c:v>0.49</c:v>
                </c:pt>
                <c:pt idx="7">
                  <c:v>0.43</c:v>
                </c:pt>
                <c:pt idx="8">
                  <c:v>0.58</c:v>
                </c:pt>
                <c:pt idx="9">
                  <c:v>0.5</c:v>
                </c:pt>
                <c:pt idx="10">
                  <c:v>0.47</c:v>
                </c:pt>
                <c:pt idx="11">
                  <c:v>0.46</c:v>
                </c:pt>
                <c:pt idx="12">
                  <c:v>0.59</c:v>
                </c:pt>
                <c:pt idx="13">
                  <c:v>0.47</c:v>
                </c:pt>
                <c:pt idx="14">
                  <c:v>0.47</c:v>
                </c:pt>
                <c:pt idx="15">
                  <c:v>0.5</c:v>
                </c:pt>
                <c:pt idx="16">
                  <c:v>0.58</c:v>
                </c:pt>
                <c:pt idx="17">
                  <c:v>0.44</c:v>
                </c:pt>
                <c:pt idx="18">
                  <c:v>0.48</c:v>
                </c:pt>
                <c:pt idx="19">
                  <c:v>0.53</c:v>
                </c:pt>
                <c:pt idx="20">
                  <c:v>0.55</c:v>
                </c:pt>
                <c:pt idx="21">
                  <c:v>0.43</c:v>
                </c:pt>
                <c:pt idx="22">
                  <c:v>0.5</c:v>
                </c:pt>
                <c:pt idx="23">
                  <c:v>0.54</c:v>
                </c:pt>
                <c:pt idx="24">
                  <c:v>0.52</c:v>
                </c:pt>
                <c:pt idx="25">
                  <c:v>0.43</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axId val="2094734554"/>
        <c:axId val="2094734552"/>
        <c:axId val="2094734556"/>
      </c:areaChart>
      <c:catAx>
        <c:axId val="2094734554"/>
        <c:scaling>
          <c:orientation val="minMax"/>
        </c:scaling>
        <c:delete val="0"/>
        <c:axPos val="b"/>
        <c:title>
          <c:tx>
            <c:rich>
              <a:bodyPr/>
              <a:lstStyle/>
              <a:p>
                <a:pPr>
                  <a:defRPr sz="900" b="0" i="0" u="none" strike="noStrike">
                    <a:solidFill>
                      <a:srgbClr val="5B6770"/>
                    </a:solidFill>
                    <a:latin typeface="Arial"/>
                  </a:defRPr>
                </a:pPr>
                <a:r>
                  <a:rPr sz="900" b="0" i="0" u="none" strike="noStrike">
                    <a:solidFill>
                      <a:srgbClr val="5B6770"/>
                    </a:solidFill>
                    <a:latin typeface="Arial"/>
                  </a:rPr>
                  <a:t>Mức xám (0–255)</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B6770"/>
                </a:solidFill>
                <a:latin typeface="Arial"/>
              </a:defRPr>
            </a:pPr>
            <a:endParaRPr lang="en-US"/>
          </a:p>
        </c:txPr>
        <c:crossAx val="2094734552"/>
        <c:crosses val="autoZero"/>
        <c:auto val="1"/>
        <c:lblAlgn val="ctr"/>
        <c:noMultiLvlLbl val="1"/>
        <c:tickLblSkip val="5"/>
      </c:catAx>
      <c:valAx>
        <c:axId val="2094734552"/>
        <c:scaling>
          <c:orientation val="minMax"/>
          <c:max val="1.1"/>
          <c:min val="0"/>
        </c:scaling>
        <c:delete val="0"/>
        <c:axPos val="l"/>
        <c:majorGridlines>
          <c:spPr>
            <a:ln w="635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77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E293B"/>
                </a:solidFill>
                <a:latin typeface="Arial"/>
              </a:defRPr>
            </a:pPr>
            <a:r>
              <a:rPr sz="1300" b="0" i="0" u="none" strike="noStrike">
                <a:solidFill>
                  <a:srgbClr val="1E293B"/>
                </a:solidFill>
                <a:latin typeface="Arial"/>
              </a:rPr>
              <a:t>Độ chính xác trên 25 ảnh</a:t>
            </a:r>
          </a:p>
        </c:rich>
      </c:tx>
      <c:layout/>
      <c:overlay val="0"/>
    </c:title>
    <c:autoTitleDeleted val="0"/>
    <c:plotArea>
      <c:layout/>
      <c:barChart>
        <c:barDir val="col"/>
        <c:grouping val="clustered"/>
        <c:varyColors val="0"/>
        <c:ser>
          <c:idx val="0"/>
          <c:order val="0"/>
          <c:tx>
            <c:strRef>
              <c:f>Sheet1!$B$1</c:f>
              <c:strCache>
                <c:ptCount val="1"/>
                <c:pt idx="0">
                  <c:v>Độ chính xác (%)</c:v>
                </c:pt>
              </c:strCache>
            </c:strRef>
          </c:tx>
          <c:spPr>
            <a:solidFill>
              <a:srgbClr val="1F3A5F"/>
            </a:solidFill>
            <a:effectLst/>
          </c:spPr>
          <c:invertIfNegative val="0"/>
          <c:dLbls>
            <c:numFmt formatCode="0&quot;%&quot;" sourceLinked="0"/>
            <c:txPr>
              <a:bodyPr/>
              <a:lstStyle/>
              <a:p>
                <a:pPr>
                  <a:defRPr b="0" i="0" strike="noStrike" sz="1200" u="none">
                    <a:solidFill>
                      <a:srgbClr val="1E293B"/>
                    </a:solidFill>
                    <a:latin typeface="Arial"/>
                  </a:defRPr>
                </a:pPr>
              </a:p>
            </c:txPr>
            <c:showLegendKey val="0"/>
            <c:showVal val="1"/>
            <c:showCatName val="0"/>
            <c:showSerName val="0"/>
            <c:showPercent val="0"/>
            <c:showBubbleSize val="0"/>
            <c:showLeaderLines val="0"/>
          </c:dLbls>
          <c:cat>
            <c:multiLvlStrRef>
              <c:f>Sheet1!$A$2:$A$4</c:f>
              <c:multiLvlStrCache>
                <c:ptCount val="3"/>
                <c:lvl>
                  <c:pt idx="0">
                    <c:v>Ảnh gốc</c:v>
                  </c:pt>
                  <c:pt idx="1">
                    <c:v>Contrast Stretching</c:v>
                  </c:pt>
                  <c:pt idx="2">
                    <c:v>Histogram Equalization</c:v>
                  </c:pt>
                </c:lvl>
              </c:multiLvlStrCache>
            </c:multiLvlStrRef>
          </c:cat>
          <c:val>
            <c:numRef>
              <c:f>Sheet1!$B$2:$B$4</c:f>
              <c:numCache>
                <c:formatCode>General</c:formatCode>
                <c:ptCount val="3"/>
                <c:pt idx="0">
                  <c:v>100</c:v>
                </c:pt>
                <c:pt idx="1">
                  <c:v>88</c:v>
                </c:pt>
                <c:pt idx="2">
                  <c:v>68</c:v>
                </c:pt>
              </c:numCache>
            </c:numRef>
          </c:val>
        </c:ser>
        <c:dLbls>
          <c:numFmt formatCode="0&quot;%&quot;" sourceLinked="0"/>
          <c:txPr>
            <a:bodyPr/>
            <a:lstStyle/>
            <a:p>
              <a:pPr>
                <a:defRPr b="0" i="0" strike="noStrike" sz="1200" u="none">
                  <a:solidFill>
                    <a:srgbClr val="1E293B"/>
                  </a:solidFill>
                  <a:latin typeface="Arial"/>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770"/>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E5E7EB"/>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77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E293B"/>
                </a:solidFill>
                <a:latin typeface="Arial"/>
              </a:defRPr>
            </a:pPr>
            <a:r>
              <a:rPr sz="1300" b="0" i="0" u="none" strike="noStrike">
                <a:solidFill>
                  <a:srgbClr val="1E293B"/>
                </a:solidFill>
                <a:latin typeface="Arial"/>
              </a:rPr>
              <a:t>Phân phối xác suất Softmax trên ký hiệu 'A'</a:t>
            </a:r>
          </a:p>
        </c:rich>
      </c:tx>
      <c:layout/>
      <c:overlay val="0"/>
    </c:title>
    <c:autoTitleDeleted val="0"/>
    <c:plotArea>
      <c:layout/>
      <c:barChart>
        <c:barDir val="bar"/>
        <c:grouping val="stacked"/>
        <c:varyColors val="0"/>
        <c:ser>
          <c:idx val="0"/>
          <c:order val="0"/>
          <c:tx>
            <c:strRef>
              <c:f>Sheet1!$B$1</c:f>
              <c:strCache>
                <c:ptCount val="1"/>
                <c:pt idx="0">
                  <c:v>Xác suất nhãn A (đúng)</c:v>
                </c:pt>
              </c:strCache>
            </c:strRef>
          </c:tx>
          <c:spPr>
            <a:solidFill>
              <a:srgbClr val="1F3A5F"/>
            </a:solidFill>
            <a:effectLst/>
          </c:spPr>
          <c:invertIfNegative val="0"/>
          <c:dLbls>
            <c:numFmt formatCode="0.0&quot;%&quot;" sourceLinked="0"/>
            <c:txPr>
              <a:bodyPr/>
              <a:lstStyle/>
              <a:p>
                <a:pPr>
                  <a:defRPr b="0" i="0" strike="noStrike" sz="1100" u="none">
                    <a:solidFill>
                      <a:srgbClr val="FFFFFF"/>
                    </a:solidFill>
                    <a:latin typeface="Arial"/>
                  </a:defRPr>
                </a:pPr>
              </a:p>
            </c:txPr>
            <c:dLblPos val="ctr"/>
            <c:showLegendKey val="0"/>
            <c:showVal val="1"/>
            <c:showCatName val="0"/>
            <c:showSerName val="0"/>
            <c:showPercent val="0"/>
            <c:showBubbleSize val="0"/>
            <c:showLeaderLines val="0"/>
          </c:dLbls>
          <c:cat>
            <c:multiLvlStrRef>
              <c:f>Sheet1!$A$2:$A$4</c:f>
              <c:multiLvlStrCache>
                <c:ptCount val="3"/>
                <c:lvl>
                  <c:pt idx="0">
                    <c:v>Ảnh gốc</c:v>
                  </c:pt>
                  <c:pt idx="1">
                    <c:v>Contrast Stretching</c:v>
                  </c:pt>
                  <c:pt idx="2">
                    <c:v>Histogram Equalization</c:v>
                  </c:pt>
                </c:lvl>
              </c:multiLvlStrCache>
            </c:multiLvlStrRef>
          </c:cat>
          <c:val>
            <c:numRef>
              <c:f>Sheet1!$B$2:$B$4</c:f>
              <c:numCache>
                <c:formatCode>General</c:formatCode>
                <c:ptCount val="3"/>
                <c:pt idx="0">
                  <c:v>99.9</c:v>
                </c:pt>
                <c:pt idx="1">
                  <c:v>1.6</c:v>
                </c:pt>
                <c:pt idx="2">
                  <c:v>91.7</c:v>
                </c:pt>
              </c:numCache>
            </c:numRef>
          </c:val>
        </c:ser>
        <c:ser>
          <c:idx val="1"/>
          <c:order val="1"/>
          <c:tx>
            <c:strRef>
              <c:f>Sheet1!$C$1</c:f>
              <c:strCache>
                <c:ptCount val="1"/>
                <c:pt idx="0">
                  <c:v>Xác suất nhãn E (nhầm)</c:v>
                </c:pt>
              </c:strCache>
            </c:strRef>
          </c:tx>
          <c:spPr>
            <a:solidFill>
              <a:srgbClr val="E76F51"/>
            </a:solidFill>
            <a:effectLst/>
          </c:spPr>
          <c:invertIfNegative val="0"/>
          <c:dLbls>
            <c:numFmt formatCode="0.0&quot;%&quot;" sourceLinked="0"/>
            <c:txPr>
              <a:bodyPr/>
              <a:lstStyle/>
              <a:p>
                <a:pPr>
                  <a:defRPr b="0" i="0" strike="noStrike" sz="1100" u="none">
                    <a:solidFill>
                      <a:srgbClr val="FFFFFF"/>
                    </a:solidFill>
                    <a:latin typeface="Arial"/>
                  </a:defRPr>
                </a:pPr>
              </a:p>
            </c:txPr>
            <c:dLblPos val="ctr"/>
            <c:showLegendKey val="0"/>
            <c:showVal val="1"/>
            <c:showCatName val="0"/>
            <c:showSerName val="0"/>
            <c:showPercent val="0"/>
            <c:showBubbleSize val="0"/>
            <c:showLeaderLines val="0"/>
          </c:dLbls>
          <c:cat>
            <c:multiLvlStrRef>
              <c:f>Sheet1!$A$2:$A$4</c:f>
              <c:multiLvlStrCache>
                <c:ptCount val="3"/>
                <c:lvl>
                  <c:pt idx="0">
                    <c:v>Ảnh gốc</c:v>
                  </c:pt>
                  <c:pt idx="1">
                    <c:v>Contrast Stretching</c:v>
                  </c:pt>
                  <c:pt idx="2">
                    <c:v>Histogram Equalization</c:v>
                  </c:pt>
                </c:lvl>
              </c:multiLvlStrCache>
            </c:multiLvlStrRef>
          </c:cat>
          <c:val>
            <c:numRef>
              <c:f>Sheet1!$C$2:$C$4</c:f>
              <c:numCache>
                <c:formatCode>General</c:formatCode>
                <c:ptCount val="3"/>
                <c:pt idx="0">
                  <c:v>0.1</c:v>
                </c:pt>
                <c:pt idx="1">
                  <c:v>98.4</c:v>
                </c:pt>
                <c:pt idx="2">
                  <c:v>8.3</c:v>
                </c:pt>
              </c:numCache>
            </c:numRef>
          </c:val>
        </c:ser>
        <c:dLbls>
          <c:numFmt formatCode="0.0&quot;%&quot;" sourceLinked="0"/>
          <c:txPr>
            <a:bodyPr/>
            <a:lstStyle/>
            <a:p>
              <a:pPr>
                <a:defRPr b="0" i="0" strike="noStrike" sz="1100" u="none">
                  <a:solidFill>
                    <a:srgbClr val="FFFFFF"/>
                  </a:solidFill>
                  <a:latin typeface="Arial"/>
                </a:defRPr>
              </a:pPr>
            </a:p>
          </c:txPr>
          <c:dLblPos val="ct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E293B"/>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b"/>
        <c:majorGridlines>
          <c:spPr>
            <a:ln w="6350" cap="flat">
              <a:solidFill>
                <a:srgbClr val="E5E7EB"/>
              </a:solidFill>
              <a:prstDash val="solid"/>
              <a:round/>
            </a:ln>
          </c:spPr>
        </c:majorGridlines>
        <c:numFmt formatCode="0&quot;%&quot;" sourceLinked="0"/>
        <c:majorTickMark val="out"/>
        <c:minorTickMark val="none"/>
        <c:tickLblPos val="low"/>
        <c:spPr>
          <a:ln w="12700" cap="flat">
            <a:solidFill>
              <a:srgbClr val="888888"/>
            </a:solidFill>
            <a:prstDash val="solid"/>
            <a:round/>
          </a:ln>
        </c:spPr>
        <c:txPr>
          <a:bodyPr/>
          <a:lstStyle/>
          <a:p>
            <a:pPr>
              <a:defRPr sz="900" b="0" i="0" u="none" strike="noStrike">
                <a:solidFill>
                  <a:srgbClr val="5B677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latin typeface="Arial"/>
              <a:cs typeface="Aria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30 giây. Mốc dự kiến 0:00–0:30. Tổng bài nói 9 phút 40 giây; dành ~5 phút cho vấn đáp.
Kính chào thầy cô và các bạn. Trong thị giác máy tính, tiền xử lý ảnh như tăng độ tương phản thường được mặc định coi là bước có lợi để làm ảnh rõ nét hơn. Tuy nhiên, khi đưa vào các mô hình Deep Learning đã được huấn luyện sẵn, việc thay đổi phân phối cường độ sáng có thực sự giúp tăng độ chính xác hay ngược lại? Nhóm em xin trình bày đề tài đánh giá thực nghiệm tác động của Contrast Stretching và Histogram Equalization đến mô hình CNN nhận diện ký hiệu bàn tay ASL.
Gợi ý: Dừng 2 giây để người nghe quan sát dải ảnh 3 trạng thái của ký hiệu ASL (nếu bổ sung ảnh minh họa).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45 giây. Mốc dự kiến 0:30–1:15. Tổng bài nói 9 phút 40 giây; dành ~5 phút cho vấn đáp.
Trong thực tế, khi đối mặt với ảnh chụp thiếu sáng hoặc mờ, phản xạ tự nhiên của kỹ sư xử lý ảnh là áp dụng các bộ lọc tăng tương phản. Tuy nhiên, mạng nơ-ron tích chập (CNN) hoạt động dựa trên các bộ lọc không gian học được từ một phân phối cường độ sáng cụ thể. Khi chúng ta thay đổi lược đồ mức xám, chúng ta vô tình gây ra hiện tượng dịch chuyển phân phối đầu vào. Câu hỏi đặt ra là: Liệu một bức ảnh trông rõ nét hơn với con người có thực sự giúp mạng CNN phân loại đúng hơn không?
Ghi chú nguồn: Lý thuyết Covariate Shift (Shimodaira, 2000). Ba trường hợp đối chứng được thực hiện trên cùng tập 25 ảnh.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50 giây. Mốc dự kiến 1:15–2:05. Tổng bài nói 9 phút 40 giây; dành ~5 phút cho vấn đáp.
Để đảm bảo tính khoa học và khách quan, toàn bộ trọng số của mô hình asl_classifier.keras được giữ nguyên vẹn, kiểm tra bằng mã băm SHA-256 không thay đổi. Mô hình gồm hai khối tích chập 64 bộ lọc kích thước 3 nhân 3, tiếp nối bởi tầng Flatten với 33.856 chiều đặc trưng và tầng Dense 128 nơ-ron trước khi phân loại qua Softmax 29 lớp. Tập kiểm thử gồm 25 ký hiệu bàn tay chuẩn đại diện cho bảng chữ cái A đến Y. Mục tiêu là kiểm chứng xem khi mô hình đã học xong, tiền xử lý tác động như thế nào đến phản ứng của các tầng tích chập này.
Chỉ vào sơ đồ pipeline 5 bước. Nhắc người nghe rằng trọng số mạng không được tái huấn luyện trong suốt thử nghiệm.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45 giây. Mốc dự kiến 2:05–2:50. Tổng bài nói 9 phút 40 giây; dành ~5 phút cho vấn đáp.
Phương pháp đầu tiên là Contrast Stretching. Để tránh làm biến đổi tông màu da của bàn tay, nhóm chuyển ảnh từ không gian màu RGB sang YCrCb và chỉ can thiệp vào kênh độ sáng Y. Thay vì dùng giá trị Min và Max tuyệt đối vốn rất nhạy cảm với các điểm ảnh nhiễu, thuật toán sử dụng ngưỡng phân vị 1% và 99%. Công thức ánh xạ tuyến tính đưa các giá trị dưới P1% về 0, trên P99% về 255 và kéo giãn dải ở giữa. Về mặt thị giác, bức ảnh trở nên trong trẻo và tương phản rõ ràng hơn.
Chỉ vào công thức ánh xạ và sơ đồ 4 bước. Giải thích vì sao cần giữ nguyên hai kênh màu Cr và Cb.
Ghi chú nguồn: Cắt phân vị P1/P99 trên mảng numpy 2 chiều; chuyển đổi màu theo chuẩn YCrCb.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45 giây. Mốc dự kiến 2:50–3:35. Tổng bài nói 9 phút 40 giây; dành ~5 phút cho vấn đáp.
Phương pháp thứ hai là Histogram Equalization. Thay vì kéo giãn tuyến tính, thuật toán tính toán hàm phân phối tích lũy (CDF) của kênh độ sáng Y và dùng nó làm hàm ánh xạ. Biểu đồ bên trái cho thấy lược đồ ban đầu tập trung hẹp ở mức xám trung bình; biểu đồ bên phải cho thấy sau khi biến đổi bằng CDF, các mức xám được trải đều. Các mức xám xuất hiện nhiều sẽ được trải rộng ra, giúp cực đại hóa entropy thông tin của ảnh. Tuy nhiên, trong nhận diện cử chỉ bàn tay, bóng đổ giữa các ngón tay và nếp nhăn ở khớp ngón là các tín hiệu biên rất quan trọng. Khi lược đồ bị san phẳng mạnh, các vùng bóng tối tự nhiên có thể bị làm sáng quá mức, dẫn đến mất mát các đặc trưng hình học tinh tế.
Chỉ vào công thức CDF. Nhấn mạnh việc san phẳng mức xám có thể gây hại cho các đặc trưng biên cục bộ.
Ghi chú: Hai biểu đồ lược đồ là minh họa nguyên lý, không phải số đo từ 25 ảnh thực nghiệm.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50 giây. Mốc dự kiến 3:35–4:25. Tổng bài nói 9 phút 40 giây; dành ~5 phút cho vấn đáp.
Đây là kết quả thực nghiệm trung tâm của bài báo cáo. Bảng số liệu cho thấy một sự tương phản rất rõ rệt: Trên tập kiểm thử 25 ảnh, ảnh gốc ban đầu đạt độ chính xác tuyệt đối 100% với confidence trung bình lên tới 99,06%. Khi áp dụng Contrast Stretching, độ chính xác giảm xuống 88% với 3 ảnh bị dự đoán sai. Đáng ngạc nhiên hơn, Histogram Equalization – phương pháp vốn tạo ra ảnh có tương phản thị giác rất mạnh – lại khiến độ chính xác sụt giảm nghiêm trọng xuống còn 68%, tức sai tới 8 trên 25 ảnh. Bên cạnh đó, thời gian xử lý cũng tăng từ 0,24 ms lên 0,81 ms.
Chỉ vào 3 thẻ số liệu và biểu đồ cột. Nhấn mạnh mức giảm 32% của Histogram Equalization là rất lớn.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45 giây. Mốc dự kiến 4:25–5:10. Tổng bài nói 9 phút 40 giây; dành ~5 phút cho vấn đáp.
Để giải thích nguyên nhân tại sao ảnh rõ hơn lại khiến mô hình đoán sai nhiều hơn, chúng ta cần xem xét dưới góc nhìn Covariate Shift. Trong học máy, Covariate Shift là hiện tượng phân phối dữ liệu đầu vào P(X) bị thay đổi so với dữ liệu huấn luyện. Mạng CNN nhận diện bàn tay không phải bằng trực giác mà bằng hàng chục bộ lọc tích chập 3x3 nhạy cảm với độ chênh lệch cường độ pixel. Khi ta cân bằng lược đồ, các nếp gấp tự nhiên giữa các ngón tay có thể bị biến đổi độ dày, tạo ra các cạnh nhân tạo khiến các tầng Conv trích xuất ra đặc trưng sai lệch.
Trình bày theo chuỗi 5 bước từ ảnh gốc đến kết quả Softmax. Nhấn mạnh lưu ý khoa học ở dưới: cơ chế Conv2D là giả thuyết suy diễn, chưa đo feature maps trực tiếp.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50 giây. Mốc dự kiến 5:10–6:00. Tổng bài nói 9 phút 40 giây; dành ~5 phút cho vấn đáp.
Khi đi sâu vào các ca dự đoán sai, chúng ta phát hiện một quy luật hình thái học rất thú vị. Với Contrast Stretching, toàn bộ 3 ca lỗi là A, N và S đều bị mô hình dự đoán nhầm thành chữ E. Trong ngôn ngữ ký hiệu ASL, A, E, N, S đều là các thế nắm tay chặt, điểm khác biệt duy nhất nằm ở vị trí ngón cái. Khi độ tương phản bị kéo giãn, ranh giới nếp gấp của ngón cái bị triệt tiêu, khiến mô hình nhầm lẫn sang chữ E. Tương tự với Histogram Equalization, 8 ca lỗi đều rơi vào các cặp có hình học cực kỳ giống nhau như G với H, R với U hay X với V.
So sánh sự tập trung lỗi của Contrast Stretching (về chữ E) và sự phân tán lỗi của Histogram Equalization (8 cặp).
Ghi chú: Các cặp nhầm lẫn là số liệu thực tế ghi nhận từ mô hình; phần phân tích hình thái ngón tay là giải thích cơ chế thị giác dự kiến.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45 giây. Mốc dự kiến 6:00–6:45. Tổng bài nói 9 phút 40 giây; dành ~5 phút cho vấn đáp.
Để chứng minh tác động sâu sắc của tiền xử lý lên không gian xác suất, slide này phân tích chi tiết trường hợp ký hiệu 'A'. Ở ảnh gốc, mạng rất tự tin: nhãn A đạt 99,9%, E gần như bằng 0. Khi qua Histogram Equalization, mô hình vẫn đoán đúng A nhưng độ tự tin rơi xuống 91,7%, và xác suất nhầm sang E tăng lên 8,3%. Đáng báo động nhất là Contrast Stretching: mô hình bị đảo chiều hoàn toàn, khẳng định 98,4% đây là chữ E và chỉ dành 1,6% cho chữ A. Đây là minh chứng kinh điển cho thấy độ tự tin Softmax cao không đồng nghĩa với dự đoán đúng.
Chỉ vào thanh cam ở trường hợp Contrast Stretching. Nhấn mạnh việc mạng rất tự tin (98,4%) vào một quyết định sai hoàn toàn.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40 giây. Mốc dự kiến 6:45–7:25. Tổng bài nói 9 phút 40 giây; dành ~5 phút cho vấn đáp.
Để kết luận, nghiên cứu của nhóm em đưa ra một thông điệp quan trọng: Trong các hệ thống thị giác máy tính hiện đại dựa trên Deep Learning, tiền xử lý ảnh không thể được áp dụng một cách cảm tính dựa trên việc mắt người nhìn thấy rõ hơn. Bất kỳ sự can thiệp nào làm thay đổi phân phối cường độ sáng đều có nguy cơ gây ra hiện tượng Covariate Shift, dẫn đến suy giảm độ chính xác và làm lệch lạc độ tự tin Softmax. Mọi giải pháp tiền xử lý phải được kiểm chứng bằng thực nghiệm định lượng. Nhóm em xin chân thành cảm ơn thầy cô và sẵn sàng lắng nghe câu hỏi.
Kết thúc đúng 7 phút 25 giây (trong giới hạn 10 phút). Chuyển sang tư thế sẵn sàng cho phần hỏi đáp phản biện.
--- PHẦN VẤN ĐÁP DỰ PHÒNG (KHÔNG ĐỌC TRONG BÀI NÓI) ---
1. Vì sao không huấn luyện lại với dữ liệu đã tăng tương phản? -&gt; Mục tiêu là đánh giá tác động lên mô hình đã triển khai sẵn (off-the-shelf). Nếu huấn luyện lại, mô hình học phân phối mới và không còn phản ánh tác động của Covariate Shift.
2. Vì sao chỉ thử trên 25 ảnh? -&gt; Đây là tập đại diện 25 chữ cái A-Y trong phạm vi bài tập lớn. Nhóm đã ghi rõ hạn chế và đề xuất mở rộng.
3. Contrast Stretching có luôn tệ hơn ảnh gốc không? -&gt; Không. Nếu ảnh đầu vào thực sự tối và mô hình được huấn luyện kèm augmentation tương phản, tiền xử lý có thể có lợi. Điểm mấu chốt là sự tương thích phân phối.
4. Vì sao Histogram Equalization giảm sâu đến 68%? -&gt; HE làm biến dạng phân phối rất mạnh, làm sáng các vùng tối giữa kẽ ngón tay, triệt tiêu bóng đổ là đặc trưng biên quan trọng của CNN.
5. Độ tự tin 98,4% của chữ E nói lên điều gì? -&gt; Mạng over-confident khi phân phối bị lệch; cần calibration (ví dụ Temperature Scaling) trước khi tin cậy vào xác suất.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A5F"/>
        </a:solidFill>
      </p:bgPr>
    </p:bg>
    <p:spTree>
      <p:nvGrpSpPr>
        <p:cNvPr id="1" name=""/>
        <p:cNvGrpSpPr/>
        <p:nvPr/>
      </p:nvGrpSpPr>
      <p:grpSpPr>
        <a:xfrm>
          <a:off x="0" y="0"/>
          <a:ext cx="0" cy="0"/>
          <a:chOff x="0" y="0"/>
          <a:chExt cx="0" cy="0"/>
        </a:xfrm>
      </p:grpSpPr>
      <p:sp>
        <p:nvSpPr>
          <p:cNvPr id="2" name="Shape 0"/>
          <p:cNvSpPr/>
          <p:nvPr/>
        </p:nvSpPr>
        <p:spPr>
          <a:xfrm>
            <a:off x="731520" y="1463040"/>
            <a:ext cx="822960" cy="73152"/>
          </a:xfrm>
          <a:prstGeom prst="rect">
            <a:avLst/>
          </a:prstGeom>
          <a:solidFill>
            <a:srgbClr val="2A9D8F"/>
          </a:solidFill>
          <a:ln w="12700">
            <a:solidFill>
              <a:srgbClr val="2A9D8F"/>
            </a:solidFill>
            <a:prstDash val="solid"/>
          </a:ln>
        </p:spPr>
      </p:sp>
      <p:sp>
        <p:nvSpPr>
          <p:cNvPr id="3" name="Text 1"/>
          <p:cNvSpPr txBox="1"/>
          <p:nvPr/>
        </p:nvSpPr>
        <p:spPr>
          <a:xfrm>
            <a:off x="731520" y="1691640"/>
            <a:ext cx="10515600" cy="365760"/>
          </a:xfrm>
          <a:prstGeom prst="rect">
            <a:avLst/>
          </a:prstGeom>
          <a:noFill/>
          <a:ln/>
        </p:spPr>
        <p:txBody>
          <a:bodyPr wrap="square" lIns="0" tIns="0" rIns="0" bIns="0" rtlCol="0" anchor="ctr"/>
          <a:lstStyle/>
          <a:p>
            <a:pPr indent="0" marL="0">
              <a:buNone/>
            </a:pPr>
            <a:r>
              <a:rPr lang="en-US" sz="1300" b="1" dirty="0">
                <a:solidFill>
                  <a:srgbClr val="9FD8D0"/>
                </a:solidFill>
                <a:latin typeface="Arial" pitchFamily="34" charset="0"/>
                <a:ea typeface="Arial" pitchFamily="34" charset="-122"/>
                <a:cs typeface="Arial" pitchFamily="34" charset="-120"/>
              </a:rPr>
              <a:t>BÁO CÁO THỰC NGHIỆM  |  XỬ LÝ ẢNH &amp; TRÍ TUỆ NHÂN TẠO</a:t>
            </a:r>
            <a:endParaRPr lang="en-US" sz="1300" dirty="0"/>
          </a:p>
        </p:txBody>
      </p:sp>
      <p:sp>
        <p:nvSpPr>
          <p:cNvPr id="4" name="Text 2"/>
          <p:cNvSpPr txBox="1"/>
          <p:nvPr/>
        </p:nvSpPr>
        <p:spPr>
          <a:xfrm>
            <a:off x="731520" y="2194560"/>
            <a:ext cx="10789920" cy="1737360"/>
          </a:xfrm>
          <a:prstGeom prst="rect">
            <a:avLst/>
          </a:prstGeom>
          <a:noFill/>
          <a:ln/>
        </p:spPr>
        <p:txBody>
          <a:bodyPr wrap="square" lIns="0" tIns="0" rIns="0" bIns="0" rtlCol="0" anchor="t"/>
          <a:lstStyle/>
          <a:p>
            <a:pPr indent="0" marL="0">
              <a:buNone/>
            </a:pPr>
            <a:r>
              <a:rPr lang="en-US" sz="3400" b="1" dirty="0">
                <a:solidFill>
                  <a:srgbClr val="FFFFFF"/>
                </a:solidFill>
                <a:latin typeface="Arial" pitchFamily="34" charset="0"/>
                <a:ea typeface="Arial" pitchFamily="34" charset="-122"/>
                <a:cs typeface="Arial" pitchFamily="34" charset="-120"/>
              </a:rPr>
              <a:t>ĐÁNH GIÁ TÁC ĐỘNG CỦA TIỀN XỬ LÝ ẢNH</a:t>
            </a:r>
            <a:endParaRPr lang="en-US" sz="3400" dirty="0"/>
          </a:p>
          <a:p>
            <a:pPr indent="0" marL="0">
              <a:buNone/>
            </a:pPr>
            <a:r>
              <a:rPr lang="en-US" sz="3400" b="1" dirty="0">
                <a:solidFill>
                  <a:srgbClr val="FFFFFF"/>
                </a:solidFill>
                <a:latin typeface="Arial" pitchFamily="34" charset="0"/>
                <a:ea typeface="Arial" pitchFamily="34" charset="-122"/>
                <a:cs typeface="Arial" pitchFamily="34" charset="-120"/>
              </a:rPr>
              <a:t>ĐẾN NHẬN DIỆN KÝ HIỆU ASL BẰNG CNN</a:t>
            </a:r>
            <a:endParaRPr lang="en-US" sz="3400" dirty="0"/>
          </a:p>
        </p:txBody>
      </p:sp>
      <p:sp>
        <p:nvSpPr>
          <p:cNvPr id="5" name="Text 3"/>
          <p:cNvSpPr txBox="1"/>
          <p:nvPr/>
        </p:nvSpPr>
        <p:spPr>
          <a:xfrm>
            <a:off x="731520" y="4069080"/>
            <a:ext cx="10515600" cy="457200"/>
          </a:xfrm>
          <a:prstGeom prst="rect">
            <a:avLst/>
          </a:prstGeom>
          <a:noFill/>
          <a:ln/>
        </p:spPr>
        <p:txBody>
          <a:bodyPr wrap="square" lIns="0" tIns="0" rIns="0" bIns="0" rtlCol="0" anchor="ctr"/>
          <a:lstStyle/>
          <a:p>
            <a:pPr indent="0" marL="0">
              <a:buNone/>
            </a:pPr>
            <a:r>
              <a:rPr lang="en-US" sz="1600" dirty="0">
                <a:solidFill>
                  <a:srgbClr val="D6E2EE"/>
                </a:solidFill>
                <a:latin typeface="Arial" pitchFamily="34" charset="0"/>
                <a:ea typeface="Arial" pitchFamily="34" charset="-122"/>
                <a:cs typeface="Arial" pitchFamily="34" charset="-120"/>
              </a:rPr>
              <a:t>So sánh ảnh gốc, Contrast Stretching và Histogram Equalization trên mô hình đã huấn luyện</a:t>
            </a:r>
            <a:endParaRPr lang="en-US" sz="1600" dirty="0"/>
          </a:p>
        </p:txBody>
      </p:sp>
      <p:sp>
        <p:nvSpPr>
          <p:cNvPr id="6" name="Text 4"/>
          <p:cNvSpPr txBox="1"/>
          <p:nvPr/>
        </p:nvSpPr>
        <p:spPr>
          <a:xfrm>
            <a:off x="731520" y="5760720"/>
            <a:ext cx="10515600" cy="365760"/>
          </a:xfrm>
          <a:prstGeom prst="rect">
            <a:avLst/>
          </a:prstGeom>
          <a:noFill/>
          <a:ln/>
        </p:spPr>
        <p:txBody>
          <a:bodyPr wrap="square" lIns="0" tIns="0" rIns="0" bIns="0" rtlCol="0" anchor="ctr"/>
          <a:lstStyle/>
          <a:p>
            <a:pPr indent="0" marL="0">
              <a:buNone/>
            </a:pPr>
            <a:r>
              <a:rPr lang="en-US" sz="1300" dirty="0">
                <a:solidFill>
                  <a:srgbClr val="9FB4C8"/>
                </a:solidFill>
                <a:latin typeface="Arial" pitchFamily="34" charset="0"/>
                <a:ea typeface="Arial" pitchFamily="34" charset="-122"/>
                <a:cs typeface="Arial" pitchFamily="34" charset="-120"/>
              </a:rPr>
              <a:t>Tập 25 ảnh ASL (A–Y)   •   Model: asl_classifier.keras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1F3A5F"/>
          </a:solidFill>
          <a:ln w="12700">
            <a:solidFill>
              <a:srgbClr val="1F3A5F"/>
            </a:solidFill>
            <a:prstDash val="solid"/>
          </a:ln>
        </p:spPr>
      </p:sp>
      <p:sp>
        <p:nvSpPr>
          <p:cNvPr id="3" name="Text 1"/>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2600" b="1" dirty="0">
                <a:solidFill>
                  <a:srgbClr val="1F3A5F"/>
                </a:solidFill>
                <a:latin typeface="Arial" pitchFamily="34" charset="0"/>
                <a:ea typeface="Arial" pitchFamily="34" charset="-122"/>
                <a:cs typeface="Arial" pitchFamily="34" charset="-120"/>
              </a:rPr>
              <a:t>Cải thiện thị giác liệu có cải thiện độ chính xác?</a:t>
            </a:r>
            <a:endParaRPr lang="en-US" sz="2600" dirty="0"/>
          </a:p>
        </p:txBody>
      </p:sp>
      <p:sp>
        <p:nvSpPr>
          <p:cNvPr id="4" name="Text 2"/>
          <p:cNvSpPr txBox="1"/>
          <p:nvPr/>
        </p:nvSpPr>
        <p:spPr>
          <a:xfrm>
            <a:off x="548640" y="1024128"/>
            <a:ext cx="11064240" cy="365760"/>
          </a:xfrm>
          <a:prstGeom prst="rect">
            <a:avLst/>
          </a:prstGeom>
          <a:noFill/>
          <a:ln/>
        </p:spPr>
        <p:txBody>
          <a:bodyPr wrap="square" lIns="0" tIns="0" rIns="0" bIns="0" rtlCol="0" anchor="ctr"/>
          <a:lstStyle/>
          <a:p>
            <a:pPr indent="0" marL="0">
              <a:buNone/>
            </a:pPr>
            <a:r>
              <a:rPr lang="en-US" sz="1400" dirty="0">
                <a:solidFill>
                  <a:srgbClr val="5B6770"/>
                </a:solidFill>
                <a:latin typeface="Arial" pitchFamily="34" charset="0"/>
                <a:ea typeface="Arial" pitchFamily="34" charset="-122"/>
                <a:cs typeface="Arial" pitchFamily="34" charset="-120"/>
              </a:rPr>
              <a:t>Nghịch lý giữa khả năng quan sát của mắt người và phân phối đặc trưng mà mạng CNN đã học</a:t>
            </a:r>
            <a:endParaRPr lang="en-US" sz="1400" dirty="0"/>
          </a:p>
        </p:txBody>
      </p:sp>
      <p:sp>
        <p:nvSpPr>
          <p:cNvPr id="5" name="Text 3"/>
          <p:cNvSpPr txBox="1"/>
          <p:nvPr/>
        </p:nvSpPr>
        <p:spPr>
          <a:xfrm>
            <a:off x="11155680" y="6355080"/>
            <a:ext cx="640080" cy="274320"/>
          </a:xfrm>
          <a:prstGeom prst="rect">
            <a:avLst/>
          </a:prstGeom>
          <a:noFill/>
          <a:ln/>
        </p:spPr>
        <p:txBody>
          <a:bodyPr wrap="square" lIns="0" tIns="0" rIns="0" bIns="0" rtlCol="0" anchor="ctr"/>
          <a:lstStyle/>
          <a:p>
            <a:pPr algn="r" indent="0" marL="0">
              <a:buNone/>
            </a:pPr>
            <a:r>
              <a:rPr lang="en-US" sz="1000" dirty="0">
                <a:solidFill>
                  <a:srgbClr val="5B6770"/>
                </a:solidFill>
                <a:latin typeface="Arial" pitchFamily="34" charset="0"/>
                <a:ea typeface="Arial" pitchFamily="34" charset="-122"/>
                <a:cs typeface="Arial" pitchFamily="34" charset="-120"/>
              </a:rPr>
              <a:t>02</a:t>
            </a:r>
            <a:endParaRPr lang="en-US" sz="1000" dirty="0"/>
          </a:p>
        </p:txBody>
      </p:sp>
      <p:sp>
        <p:nvSpPr>
          <p:cNvPr id="6" name="Shape 4"/>
          <p:cNvSpPr/>
          <p:nvPr/>
        </p:nvSpPr>
        <p:spPr>
          <a:xfrm>
            <a:off x="548640" y="1691640"/>
            <a:ext cx="3520440" cy="2240280"/>
          </a:xfrm>
          <a:prstGeom prst="rect">
            <a:avLst/>
          </a:prstGeom>
          <a:solidFill>
            <a:srgbClr val="F3F6F9"/>
          </a:solidFill>
          <a:ln w="9525">
            <a:solidFill>
              <a:srgbClr val="D9E1E8"/>
            </a:solidFill>
            <a:prstDash val="solid"/>
          </a:ln>
        </p:spPr>
      </p:sp>
      <p:sp>
        <p:nvSpPr>
          <p:cNvPr id="7" name="Shape 5"/>
          <p:cNvSpPr/>
          <p:nvPr/>
        </p:nvSpPr>
        <p:spPr>
          <a:xfrm>
            <a:off x="777240" y="1920240"/>
            <a:ext cx="384048" cy="384048"/>
          </a:xfrm>
          <a:prstGeom prst="ellipse">
            <a:avLst/>
          </a:prstGeom>
          <a:solidFill>
            <a:srgbClr val="1F3A5F"/>
          </a:solidFill>
          <a:ln w="12700">
            <a:solidFill>
              <a:srgbClr val="1F3A5F"/>
            </a:solidFill>
            <a:prstDash val="solid"/>
          </a:ln>
        </p:spPr>
      </p:sp>
      <p:sp>
        <p:nvSpPr>
          <p:cNvPr id="8" name="Text 6"/>
          <p:cNvSpPr txBox="1"/>
          <p:nvPr/>
        </p:nvSpPr>
        <p:spPr>
          <a:xfrm>
            <a:off x="777240" y="19202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9" name="Text 7"/>
          <p:cNvSpPr txBox="1"/>
          <p:nvPr/>
        </p:nvSpPr>
        <p:spPr>
          <a:xfrm>
            <a:off x="1280160" y="1920240"/>
            <a:ext cx="2651760" cy="384048"/>
          </a:xfrm>
          <a:prstGeom prst="rect">
            <a:avLst/>
          </a:prstGeom>
          <a:noFill/>
          <a:ln/>
        </p:spPr>
        <p:txBody>
          <a:bodyPr wrap="square" lIns="0" tIns="0" rIns="0" bIns="0" rtlCol="0" anchor="ctr"/>
          <a:lstStyle/>
          <a:p>
            <a:pPr indent="0" marL="0">
              <a:buNone/>
            </a:pPr>
            <a:r>
              <a:rPr lang="en-US" sz="1500" b="1" dirty="0">
                <a:solidFill>
                  <a:srgbClr val="1E293B"/>
                </a:solidFill>
                <a:latin typeface="Arial" pitchFamily="34" charset="0"/>
                <a:ea typeface="Arial" pitchFamily="34" charset="-122"/>
                <a:cs typeface="Arial" pitchFamily="34" charset="-120"/>
              </a:rPr>
              <a:t>Tăng cường thị giác</a:t>
            </a:r>
            <a:endParaRPr lang="en-US" sz="1500" dirty="0"/>
          </a:p>
        </p:txBody>
      </p:sp>
      <p:sp>
        <p:nvSpPr>
          <p:cNvPr id="10" name="Text 8"/>
          <p:cNvSpPr txBox="1"/>
          <p:nvPr/>
        </p:nvSpPr>
        <p:spPr>
          <a:xfrm>
            <a:off x="777240" y="2468880"/>
            <a:ext cx="3063240" cy="1371600"/>
          </a:xfrm>
          <a:prstGeom prst="rect">
            <a:avLst/>
          </a:prstGeom>
          <a:noFill/>
          <a:ln/>
        </p:spPr>
        <p:txBody>
          <a:bodyPr wrap="square" lIns="0" tIns="0" rIns="0" bIns="0" rtlCol="0" anchor="t"/>
          <a:lstStyle/>
          <a:p>
            <a:pPr indent="0" marL="0">
              <a:buNone/>
            </a:pPr>
            <a:r>
              <a:rPr lang="en-US" sz="1300" dirty="0">
                <a:solidFill>
                  <a:srgbClr val="5B6770"/>
                </a:solidFill>
                <a:latin typeface="Arial" pitchFamily="34" charset="0"/>
                <a:ea typeface="Arial" pitchFamily="34" charset="-122"/>
                <a:cs typeface="Arial" pitchFamily="34" charset="-120"/>
              </a:rPr>
              <a:t>Tiền xử lý thường được áp dụng với giả định làm ảnh rõ nét, tăng độ tương phản cục bộ để mắt người dễ quan sát hơn.</a:t>
            </a:r>
            <a:endParaRPr lang="en-US" sz="1300" dirty="0"/>
          </a:p>
        </p:txBody>
      </p:sp>
      <p:sp>
        <p:nvSpPr>
          <p:cNvPr id="11" name="Shape 9"/>
          <p:cNvSpPr/>
          <p:nvPr/>
        </p:nvSpPr>
        <p:spPr>
          <a:xfrm>
            <a:off x="4297680" y="1691640"/>
            <a:ext cx="3520440" cy="2240280"/>
          </a:xfrm>
          <a:prstGeom prst="rect">
            <a:avLst/>
          </a:prstGeom>
          <a:solidFill>
            <a:srgbClr val="F3F6F9"/>
          </a:solidFill>
          <a:ln w="9525">
            <a:solidFill>
              <a:srgbClr val="D9E1E8"/>
            </a:solidFill>
            <a:prstDash val="solid"/>
          </a:ln>
        </p:spPr>
      </p:sp>
      <p:sp>
        <p:nvSpPr>
          <p:cNvPr id="12" name="Shape 10"/>
          <p:cNvSpPr/>
          <p:nvPr/>
        </p:nvSpPr>
        <p:spPr>
          <a:xfrm>
            <a:off x="4526280" y="1920240"/>
            <a:ext cx="384048" cy="384048"/>
          </a:xfrm>
          <a:prstGeom prst="ellipse">
            <a:avLst/>
          </a:prstGeom>
          <a:solidFill>
            <a:srgbClr val="1F3A5F"/>
          </a:solidFill>
          <a:ln w="12700">
            <a:solidFill>
              <a:srgbClr val="1F3A5F"/>
            </a:solidFill>
            <a:prstDash val="solid"/>
          </a:ln>
        </p:spPr>
      </p:sp>
      <p:sp>
        <p:nvSpPr>
          <p:cNvPr id="13" name="Text 11"/>
          <p:cNvSpPr txBox="1"/>
          <p:nvPr/>
        </p:nvSpPr>
        <p:spPr>
          <a:xfrm>
            <a:off x="4526280" y="19202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4" name="Text 12"/>
          <p:cNvSpPr txBox="1"/>
          <p:nvPr/>
        </p:nvSpPr>
        <p:spPr>
          <a:xfrm>
            <a:off x="5029200" y="1920240"/>
            <a:ext cx="2651760" cy="384048"/>
          </a:xfrm>
          <a:prstGeom prst="rect">
            <a:avLst/>
          </a:prstGeom>
          <a:noFill/>
          <a:ln/>
        </p:spPr>
        <p:txBody>
          <a:bodyPr wrap="square" lIns="0" tIns="0" rIns="0" bIns="0" rtlCol="0" anchor="ctr"/>
          <a:lstStyle/>
          <a:p>
            <a:pPr indent="0" marL="0">
              <a:buNone/>
            </a:pPr>
            <a:r>
              <a:rPr lang="en-US" sz="1500" b="1" dirty="0">
                <a:solidFill>
                  <a:srgbClr val="1E293B"/>
                </a:solidFill>
                <a:latin typeface="Arial" pitchFamily="34" charset="0"/>
                <a:ea typeface="Arial" pitchFamily="34" charset="-122"/>
                <a:cs typeface="Arial" pitchFamily="34" charset="-120"/>
              </a:rPr>
              <a:t>Lệch phân phối (Shift)</a:t>
            </a:r>
            <a:endParaRPr lang="en-US" sz="1500" dirty="0"/>
          </a:p>
        </p:txBody>
      </p:sp>
      <p:sp>
        <p:nvSpPr>
          <p:cNvPr id="15" name="Text 13"/>
          <p:cNvSpPr txBox="1"/>
          <p:nvPr/>
        </p:nvSpPr>
        <p:spPr>
          <a:xfrm>
            <a:off x="4526280" y="2468880"/>
            <a:ext cx="3063240" cy="1371600"/>
          </a:xfrm>
          <a:prstGeom prst="rect">
            <a:avLst/>
          </a:prstGeom>
          <a:noFill/>
          <a:ln/>
        </p:spPr>
        <p:txBody>
          <a:bodyPr wrap="square" lIns="0" tIns="0" rIns="0" bIns="0" rtlCol="0" anchor="t"/>
          <a:lstStyle/>
          <a:p>
            <a:pPr indent="0" marL="0">
              <a:buNone/>
            </a:pPr>
            <a:r>
              <a:rPr lang="en-US" sz="1300" dirty="0">
                <a:solidFill>
                  <a:srgbClr val="5B6770"/>
                </a:solidFill>
                <a:latin typeface="Arial" pitchFamily="34" charset="0"/>
                <a:ea typeface="Arial" pitchFamily="34" charset="-122"/>
                <a:cs typeface="Arial" pitchFamily="34" charset="-120"/>
              </a:rPr>
              <a:t>Mô hình CNN được tối ưu trên phân phối ảnh huấn luyện ban đầu. Biến đổi độ sáng làm dịch chuyển phân phối pixel đầu vào.</a:t>
            </a:r>
            <a:endParaRPr lang="en-US" sz="1300" dirty="0"/>
          </a:p>
        </p:txBody>
      </p:sp>
      <p:sp>
        <p:nvSpPr>
          <p:cNvPr id="16" name="Shape 14"/>
          <p:cNvSpPr/>
          <p:nvPr/>
        </p:nvSpPr>
        <p:spPr>
          <a:xfrm>
            <a:off x="8046720" y="1691640"/>
            <a:ext cx="3520440" cy="2240280"/>
          </a:xfrm>
          <a:prstGeom prst="rect">
            <a:avLst/>
          </a:prstGeom>
          <a:solidFill>
            <a:srgbClr val="F3F6F9"/>
          </a:solidFill>
          <a:ln w="9525">
            <a:solidFill>
              <a:srgbClr val="D9E1E8"/>
            </a:solidFill>
            <a:prstDash val="solid"/>
          </a:ln>
        </p:spPr>
      </p:sp>
      <p:sp>
        <p:nvSpPr>
          <p:cNvPr id="17" name="Shape 15"/>
          <p:cNvSpPr/>
          <p:nvPr/>
        </p:nvSpPr>
        <p:spPr>
          <a:xfrm>
            <a:off x="8275320" y="1920240"/>
            <a:ext cx="384048" cy="384048"/>
          </a:xfrm>
          <a:prstGeom prst="ellipse">
            <a:avLst/>
          </a:prstGeom>
          <a:solidFill>
            <a:srgbClr val="E76F51"/>
          </a:solidFill>
          <a:ln w="12700">
            <a:solidFill>
              <a:srgbClr val="E76F51"/>
            </a:solidFill>
            <a:prstDash val="solid"/>
          </a:ln>
        </p:spPr>
      </p:sp>
      <p:sp>
        <p:nvSpPr>
          <p:cNvPr id="18" name="Text 16"/>
          <p:cNvSpPr txBox="1"/>
          <p:nvPr/>
        </p:nvSpPr>
        <p:spPr>
          <a:xfrm>
            <a:off x="8275320" y="19202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9" name="Text 17"/>
          <p:cNvSpPr txBox="1"/>
          <p:nvPr/>
        </p:nvSpPr>
        <p:spPr>
          <a:xfrm>
            <a:off x="8778240" y="1920240"/>
            <a:ext cx="2651760" cy="384048"/>
          </a:xfrm>
          <a:prstGeom prst="rect">
            <a:avLst/>
          </a:prstGeom>
          <a:noFill/>
          <a:ln/>
        </p:spPr>
        <p:txBody>
          <a:bodyPr wrap="square" lIns="0" tIns="0" rIns="0" bIns="0" rtlCol="0" anchor="ctr"/>
          <a:lstStyle/>
          <a:p>
            <a:pPr indent="0" marL="0">
              <a:buNone/>
            </a:pPr>
            <a:r>
              <a:rPr lang="en-US" sz="1500" b="1" dirty="0">
                <a:solidFill>
                  <a:srgbClr val="1E293B"/>
                </a:solidFill>
                <a:latin typeface="Arial" pitchFamily="34" charset="0"/>
                <a:ea typeface="Arial" pitchFamily="34" charset="-122"/>
                <a:cs typeface="Arial" pitchFamily="34" charset="-120"/>
              </a:rPr>
              <a:t>Nghịch lý trực quan</a:t>
            </a:r>
            <a:endParaRPr lang="en-US" sz="1500" dirty="0"/>
          </a:p>
        </p:txBody>
      </p:sp>
      <p:sp>
        <p:nvSpPr>
          <p:cNvPr id="20" name="Text 18"/>
          <p:cNvSpPr txBox="1"/>
          <p:nvPr/>
        </p:nvSpPr>
        <p:spPr>
          <a:xfrm>
            <a:off x="8275320" y="2468880"/>
            <a:ext cx="3063240" cy="1371600"/>
          </a:xfrm>
          <a:prstGeom prst="rect">
            <a:avLst/>
          </a:prstGeom>
          <a:noFill/>
          <a:ln/>
        </p:spPr>
        <p:txBody>
          <a:bodyPr wrap="square" lIns="0" tIns="0" rIns="0" bIns="0" rtlCol="0" anchor="t"/>
          <a:lstStyle/>
          <a:p>
            <a:pPr indent="0" marL="0">
              <a:buNone/>
            </a:pPr>
            <a:r>
              <a:rPr lang="en-US" sz="1300" dirty="0">
                <a:solidFill>
                  <a:srgbClr val="5B6770"/>
                </a:solidFill>
                <a:latin typeface="Arial" pitchFamily="34" charset="0"/>
                <a:ea typeface="Arial" pitchFamily="34" charset="-122"/>
                <a:cs typeface="Arial" pitchFamily="34" charset="-120"/>
              </a:rPr>
              <a:t>Ảnh trông rõ nét hơn đối với mắt người không đồng nghĩa với việc mạng CNN sẽ trích xuất đặc trưng chính xác hơn.</a:t>
            </a:r>
            <a:endParaRPr lang="en-US" sz="1300" dirty="0"/>
          </a:p>
        </p:txBody>
      </p:sp>
      <p:sp>
        <p:nvSpPr>
          <p:cNvPr id="21" name="Shape 19"/>
          <p:cNvSpPr/>
          <p:nvPr/>
        </p:nvSpPr>
        <p:spPr>
          <a:xfrm>
            <a:off x="548640" y="4206240"/>
            <a:ext cx="11064240" cy="960120"/>
          </a:xfrm>
          <a:prstGeom prst="rect">
            <a:avLst/>
          </a:prstGeom>
          <a:solidFill>
            <a:srgbClr val="E8F4F2"/>
          </a:solidFill>
          <a:ln w="9525">
            <a:solidFill>
              <a:srgbClr val="2A9D8F"/>
            </a:solidFill>
            <a:prstDash val="solid"/>
          </a:ln>
        </p:spPr>
      </p:sp>
      <p:sp>
        <p:nvSpPr>
          <p:cNvPr id="22" name="Text 20"/>
          <p:cNvSpPr txBox="1"/>
          <p:nvPr/>
        </p:nvSpPr>
        <p:spPr>
          <a:xfrm>
            <a:off x="777240" y="4315968"/>
            <a:ext cx="7315200" cy="274320"/>
          </a:xfrm>
          <a:prstGeom prst="rect">
            <a:avLst/>
          </a:prstGeom>
          <a:noFill/>
          <a:ln/>
        </p:spPr>
        <p:txBody>
          <a:bodyPr wrap="square" lIns="0" tIns="0" rIns="0" bIns="0" rtlCol="0" anchor="ctr"/>
          <a:lstStyle/>
          <a:p>
            <a:pPr indent="0" marL="0">
              <a:buNone/>
            </a:pPr>
            <a:r>
              <a:rPr lang="en-US" sz="1100" b="1" spc="100" kern="0" dirty="0">
                <a:solidFill>
                  <a:srgbClr val="2A9D8F"/>
                </a:solidFill>
                <a:latin typeface="Arial" pitchFamily="34" charset="0"/>
                <a:ea typeface="Arial" pitchFamily="34" charset="-122"/>
                <a:cs typeface="Arial" pitchFamily="34" charset="-120"/>
              </a:rPr>
              <a:t>CÂU HỎI NGHIÊN CỨU TRỌNG TÂM</a:t>
            </a:r>
            <a:endParaRPr lang="en-US" sz="1100" dirty="0"/>
          </a:p>
        </p:txBody>
      </p:sp>
      <p:sp>
        <p:nvSpPr>
          <p:cNvPr id="23" name="Text 21"/>
          <p:cNvSpPr txBox="1"/>
          <p:nvPr/>
        </p:nvSpPr>
        <p:spPr>
          <a:xfrm>
            <a:off x="777240" y="4590288"/>
            <a:ext cx="10607040" cy="502920"/>
          </a:xfrm>
          <a:prstGeom prst="rect">
            <a:avLst/>
          </a:prstGeom>
          <a:noFill/>
          <a:ln/>
        </p:spPr>
        <p:txBody>
          <a:bodyPr wrap="square" lIns="0" tIns="0" rIns="0" bIns="0" rtlCol="0" anchor="t"/>
          <a:lstStyle/>
          <a:p>
            <a:pPr indent="0" marL="0">
              <a:buNone/>
            </a:pPr>
            <a:r>
              <a:rPr lang="en-US" sz="1400" b="1" dirty="0">
                <a:solidFill>
                  <a:srgbClr val="1E293B"/>
                </a:solidFill>
                <a:latin typeface="Arial" pitchFamily="34" charset="0"/>
                <a:ea typeface="Arial" pitchFamily="34" charset="-122"/>
                <a:cs typeface="Arial" pitchFamily="34" charset="-120"/>
              </a:rPr>
              <a:t>Contrast Stretching và Histogram Equalization ảnh hưởng như thế nào đến độ chính xác và phân phối xác suất Softmax của một CNN đã huấn luyện?</a:t>
            </a:r>
            <a:endParaRPr lang="en-US" sz="1400" dirty="0"/>
          </a:p>
        </p:txBody>
      </p:sp>
      <p:sp>
        <p:nvSpPr>
          <p:cNvPr id="24" name="Text 22"/>
          <p:cNvSpPr txBox="1"/>
          <p:nvPr/>
        </p:nvSpPr>
        <p:spPr>
          <a:xfrm>
            <a:off x="548640" y="5440680"/>
            <a:ext cx="11064240" cy="640080"/>
          </a:xfrm>
          <a:prstGeom prst="rect">
            <a:avLst/>
          </a:prstGeom>
          <a:noFill/>
          <a:ln/>
        </p:spPr>
        <p:txBody>
          <a:bodyPr wrap="square" lIns="0" tIns="0" rIns="0" bIns="0" rtlCol="0" anchor="t"/>
          <a:lstStyle/>
          <a:p>
            <a:pPr indent="0" marL="0">
              <a:buNone/>
            </a:pPr>
            <a:r>
              <a:rPr lang="en-US" sz="1300" b="1" dirty="0">
                <a:solidFill>
                  <a:srgbClr val="1F3A5F"/>
                </a:solidFill>
                <a:latin typeface="Arial" pitchFamily="34" charset="0"/>
                <a:ea typeface="Arial" pitchFamily="34" charset="-122"/>
                <a:cs typeface="Arial" pitchFamily="34" charset="-120"/>
              </a:rPr>
              <a:t>Ba trường hợp so sánh trực diện:  </a:t>
            </a:r>
            <a:pPr indent="0" marL="0">
              <a:buNone/>
            </a:pPr>
            <a:r>
              <a:rPr lang="en-US" sz="1300" dirty="0">
                <a:solidFill>
                  <a:srgbClr val="5B6770"/>
                </a:solidFill>
                <a:latin typeface="Arial" pitchFamily="34" charset="0"/>
                <a:ea typeface="Arial" pitchFamily="34" charset="-122"/>
                <a:cs typeface="Arial" pitchFamily="34" charset="-120"/>
              </a:rPr>
              <a:t>1. Ảnh gốc (Baseline)   2. Contrast Stretching: kéo giãn tuyến tính P1–P99 kênh Y   3. Histogram Equalization: cân bằng CDF kênh Y</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1F3A5F"/>
          </a:solidFill>
          <a:ln w="12700">
            <a:solidFill>
              <a:srgbClr val="1F3A5F"/>
            </a:solidFill>
            <a:prstDash val="solid"/>
          </a:ln>
        </p:spPr>
      </p:sp>
      <p:sp>
        <p:nvSpPr>
          <p:cNvPr id="3" name="Text 1"/>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2600" b="1" dirty="0">
                <a:solidFill>
                  <a:srgbClr val="1F3A5F"/>
                </a:solidFill>
                <a:latin typeface="Arial" pitchFamily="34" charset="0"/>
                <a:ea typeface="Arial" pitchFamily="34" charset="-122"/>
                <a:cs typeface="Arial" pitchFamily="34" charset="-120"/>
              </a:rPr>
              <a:t>Dữ liệu kiểm thử và kiến trúc mô hình CNN</a:t>
            </a:r>
            <a:endParaRPr lang="en-US" sz="2600" dirty="0"/>
          </a:p>
        </p:txBody>
      </p:sp>
      <p:sp>
        <p:nvSpPr>
          <p:cNvPr id="4" name="Text 2"/>
          <p:cNvSpPr txBox="1"/>
          <p:nvPr/>
        </p:nvSpPr>
        <p:spPr>
          <a:xfrm>
            <a:off x="548640" y="1024128"/>
            <a:ext cx="11064240" cy="365760"/>
          </a:xfrm>
          <a:prstGeom prst="rect">
            <a:avLst/>
          </a:prstGeom>
          <a:noFill/>
          <a:ln/>
        </p:spPr>
        <p:txBody>
          <a:bodyPr wrap="square" lIns="0" tIns="0" rIns="0" bIns="0" rtlCol="0" anchor="ctr"/>
          <a:lstStyle/>
          <a:p>
            <a:pPr indent="0" marL="0">
              <a:buNone/>
            </a:pPr>
            <a:r>
              <a:rPr lang="en-US" sz="1400" dirty="0">
                <a:solidFill>
                  <a:srgbClr val="5B6770"/>
                </a:solidFill>
                <a:latin typeface="Arial" pitchFamily="34" charset="0"/>
                <a:ea typeface="Arial" pitchFamily="34" charset="-122"/>
                <a:cs typeface="Arial" pitchFamily="34" charset="-120"/>
              </a:rPr>
              <a:t>Đánh giá khách quan tác động của tiền xử lý khi cấu trúc và trọng số mạng được cố định tuyệt đối</a:t>
            </a:r>
            <a:endParaRPr lang="en-US" sz="1400" dirty="0"/>
          </a:p>
        </p:txBody>
      </p:sp>
      <p:sp>
        <p:nvSpPr>
          <p:cNvPr id="5" name="Text 3"/>
          <p:cNvSpPr txBox="1"/>
          <p:nvPr/>
        </p:nvSpPr>
        <p:spPr>
          <a:xfrm>
            <a:off x="11155680" y="6355080"/>
            <a:ext cx="640080" cy="274320"/>
          </a:xfrm>
          <a:prstGeom prst="rect">
            <a:avLst/>
          </a:prstGeom>
          <a:noFill/>
          <a:ln/>
        </p:spPr>
        <p:txBody>
          <a:bodyPr wrap="square" lIns="0" tIns="0" rIns="0" bIns="0" rtlCol="0" anchor="ctr"/>
          <a:lstStyle/>
          <a:p>
            <a:pPr algn="r" indent="0" marL="0">
              <a:buNone/>
            </a:pPr>
            <a:r>
              <a:rPr lang="en-US" sz="1000" dirty="0">
                <a:solidFill>
                  <a:srgbClr val="5B6770"/>
                </a:solidFill>
                <a:latin typeface="Arial" pitchFamily="34" charset="0"/>
                <a:ea typeface="Arial" pitchFamily="34" charset="-122"/>
                <a:cs typeface="Arial" pitchFamily="34" charset="-120"/>
              </a:rPr>
              <a:t>03</a:t>
            </a:r>
            <a:endParaRPr lang="en-US" sz="1000" dirty="0"/>
          </a:p>
        </p:txBody>
      </p:sp>
      <p:sp>
        <p:nvSpPr>
          <p:cNvPr id="6" name="Shape 4"/>
          <p:cNvSpPr/>
          <p:nvPr/>
        </p:nvSpPr>
        <p:spPr>
          <a:xfrm>
            <a:off x="548640" y="1645920"/>
            <a:ext cx="5120640" cy="2011680"/>
          </a:xfrm>
          <a:prstGeom prst="rect">
            <a:avLst/>
          </a:prstGeom>
          <a:solidFill>
            <a:srgbClr val="F3F6F9"/>
          </a:solidFill>
          <a:ln w="9525">
            <a:solidFill>
              <a:srgbClr val="D9E1E8"/>
            </a:solidFill>
            <a:prstDash val="solid"/>
          </a:ln>
        </p:spPr>
      </p:sp>
      <p:sp>
        <p:nvSpPr>
          <p:cNvPr id="7" name="Text 5"/>
          <p:cNvSpPr txBox="1"/>
          <p:nvPr/>
        </p:nvSpPr>
        <p:spPr>
          <a:xfrm>
            <a:off x="777240" y="1783080"/>
            <a:ext cx="4572000" cy="274320"/>
          </a:xfrm>
          <a:prstGeom prst="rect">
            <a:avLst/>
          </a:prstGeom>
          <a:noFill/>
          <a:ln/>
        </p:spPr>
        <p:txBody>
          <a:bodyPr wrap="square" lIns="0" tIns="0" rIns="0" bIns="0" rtlCol="0" anchor="ctr"/>
          <a:lstStyle/>
          <a:p>
            <a:pPr indent="0" marL="0">
              <a:buNone/>
            </a:pPr>
            <a:r>
              <a:rPr lang="en-US" sz="1100" b="1" spc="100" kern="0" dirty="0">
                <a:solidFill>
                  <a:srgbClr val="2A9D8F"/>
                </a:solidFill>
                <a:latin typeface="Arial" pitchFamily="34" charset="0"/>
                <a:ea typeface="Arial" pitchFamily="34" charset="-122"/>
                <a:cs typeface="Arial" pitchFamily="34" charset="-120"/>
              </a:rPr>
              <a:t>TẬP DỮ LIỆU KIỂM THỬ</a:t>
            </a:r>
            <a:endParaRPr lang="en-US" sz="1100" dirty="0"/>
          </a:p>
        </p:txBody>
      </p:sp>
      <p:sp>
        <p:nvSpPr>
          <p:cNvPr id="8" name="Text 6"/>
          <p:cNvSpPr txBox="1"/>
          <p:nvPr/>
        </p:nvSpPr>
        <p:spPr>
          <a:xfrm>
            <a:off x="777240" y="2103120"/>
            <a:ext cx="4754880" cy="14630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E293B"/>
                </a:solidFill>
                <a:latin typeface="Arial" pitchFamily="34" charset="0"/>
                <a:ea typeface="Arial" pitchFamily="34" charset="-122"/>
                <a:cs typeface="Arial" pitchFamily="34" charset="-120"/>
              </a:rPr>
              <a:t>25 ảnh ký hiệu bàn tay ASL tương ứng 25 chữ cái A–Y</a:t>
            </a:r>
            <a:endParaRPr lang="en-US" sz="1300" dirty="0"/>
          </a:p>
          <a:p>
            <a:pPr marL="342900" indent="-342900">
              <a:spcAft>
                <a:spcPts val="600"/>
              </a:spcAft>
              <a:buSzPct val="100000"/>
              <a:buChar char="•"/>
            </a:pPr>
            <a:r>
              <a:rPr lang="en-US" sz="1300" dirty="0">
                <a:solidFill>
                  <a:srgbClr val="1E293B"/>
                </a:solidFill>
                <a:latin typeface="Arial" pitchFamily="34" charset="0"/>
                <a:ea typeface="Arial" pitchFamily="34" charset="-122"/>
                <a:cs typeface="Arial" pitchFamily="34" charset="-120"/>
              </a:rPr>
              <a:t>Định dạng RGB, chuẩn hóa kích thước 100 × 100 pixel</a:t>
            </a:r>
            <a:endParaRPr lang="en-US" sz="1300" dirty="0"/>
          </a:p>
          <a:p>
            <a:pPr marL="342900" indent="-342900">
              <a:spcAft>
                <a:spcPts val="600"/>
              </a:spcAft>
              <a:buSzPct val="100000"/>
              <a:buChar char="•"/>
            </a:pPr>
            <a:r>
              <a:rPr lang="en-US" sz="1300" dirty="0">
                <a:solidFill>
                  <a:srgbClr val="1E293B"/>
                </a:solidFill>
                <a:latin typeface="Arial" pitchFamily="34" charset="0"/>
                <a:ea typeface="Arial" pitchFamily="34" charset="-122"/>
                <a:cs typeface="Arial" pitchFamily="34" charset="-120"/>
              </a:rPr>
              <a:t>Cùng một tập ảnh nguồn dùng cho cả 3 nhánh thử nghiệm</a:t>
            </a:r>
            <a:endParaRPr lang="en-US" sz="1300" dirty="0"/>
          </a:p>
        </p:txBody>
      </p:sp>
      <p:sp>
        <p:nvSpPr>
          <p:cNvPr id="9" name="Shape 7"/>
          <p:cNvSpPr/>
          <p:nvPr/>
        </p:nvSpPr>
        <p:spPr>
          <a:xfrm>
            <a:off x="5943600" y="1645920"/>
            <a:ext cx="5669280" cy="2011680"/>
          </a:xfrm>
          <a:prstGeom prst="rect">
            <a:avLst/>
          </a:prstGeom>
          <a:solidFill>
            <a:srgbClr val="F3F6F9"/>
          </a:solidFill>
          <a:ln w="9525">
            <a:solidFill>
              <a:srgbClr val="D9E1E8"/>
            </a:solidFill>
            <a:prstDash val="solid"/>
          </a:ln>
        </p:spPr>
      </p:sp>
      <p:sp>
        <p:nvSpPr>
          <p:cNvPr id="10" name="Text 8"/>
          <p:cNvSpPr txBox="1"/>
          <p:nvPr/>
        </p:nvSpPr>
        <p:spPr>
          <a:xfrm>
            <a:off x="6172200" y="1783080"/>
            <a:ext cx="5303520" cy="274320"/>
          </a:xfrm>
          <a:prstGeom prst="rect">
            <a:avLst/>
          </a:prstGeom>
          <a:noFill/>
          <a:ln/>
        </p:spPr>
        <p:txBody>
          <a:bodyPr wrap="square" lIns="0" tIns="0" rIns="0" bIns="0" rtlCol="0" anchor="ctr"/>
          <a:lstStyle/>
          <a:p>
            <a:pPr indent="0" marL="0">
              <a:buNone/>
            </a:pPr>
            <a:r>
              <a:rPr lang="en-US" sz="1100" b="1" spc="100" kern="0" dirty="0">
                <a:solidFill>
                  <a:srgbClr val="2A9D8F"/>
                </a:solidFill>
                <a:latin typeface="Arial" pitchFamily="34" charset="0"/>
                <a:ea typeface="Arial" pitchFamily="34" charset="-122"/>
                <a:cs typeface="Arial" pitchFamily="34" charset="-120"/>
              </a:rPr>
              <a:t>MÔ HÌNH THỰC NGHIỆM: ASL_CLASSIFIER.KERAS</a:t>
            </a:r>
            <a:endParaRPr lang="en-US" sz="1100" dirty="0"/>
          </a:p>
        </p:txBody>
      </p:sp>
      <p:sp>
        <p:nvSpPr>
          <p:cNvPr id="11" name="Text 9"/>
          <p:cNvSpPr txBox="1"/>
          <p:nvPr/>
        </p:nvSpPr>
        <p:spPr>
          <a:xfrm>
            <a:off x="6172200" y="2103120"/>
            <a:ext cx="5303520" cy="14630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E293B"/>
                </a:solidFill>
                <a:latin typeface="Arial" pitchFamily="34" charset="0"/>
                <a:ea typeface="Arial" pitchFamily="34" charset="-122"/>
                <a:cs typeface="Arial" pitchFamily="34" charset="-120"/>
              </a:rPr>
              <a:t>Trọng số gốc được đóng băng hoàn toàn; mã SHA-256 cố định</a:t>
            </a:r>
            <a:endParaRPr lang="en-US" sz="1300" dirty="0"/>
          </a:p>
          <a:p>
            <a:pPr marL="342900" indent="-342900">
              <a:spcAft>
                <a:spcPts val="600"/>
              </a:spcAft>
              <a:buSzPct val="100000"/>
              <a:buChar char="•"/>
            </a:pPr>
            <a:r>
              <a:rPr lang="en-US" sz="1300" dirty="0">
                <a:solidFill>
                  <a:srgbClr val="1E293B"/>
                </a:solidFill>
                <a:latin typeface="Arial" pitchFamily="34" charset="0"/>
                <a:ea typeface="Arial" pitchFamily="34" charset="-122"/>
                <a:cs typeface="Arial" pitchFamily="34" charset="-120"/>
              </a:rPr>
              <a:t>Đầu vào: tensor chuẩn hóa [0, 1], kích thước (100, 100, 3)</a:t>
            </a:r>
            <a:endParaRPr lang="en-US" sz="1300" dirty="0"/>
          </a:p>
          <a:p>
            <a:pPr marL="342900" indent="-342900">
              <a:spcAft>
                <a:spcPts val="600"/>
              </a:spcAft>
              <a:buSzPct val="100000"/>
              <a:buChar char="•"/>
            </a:pPr>
            <a:r>
              <a:rPr lang="en-US" sz="1300" dirty="0">
                <a:solidFill>
                  <a:srgbClr val="1E293B"/>
                </a:solidFill>
                <a:latin typeface="Arial" pitchFamily="34" charset="0"/>
                <a:ea typeface="Arial" pitchFamily="34" charset="-122"/>
                <a:cs typeface="Arial" pitchFamily="34" charset="-120"/>
              </a:rPr>
              <a:t>Đầu ra: 29 lớp ký tự (26 chữ cái + ký hiệu phụ) qua Softmax</a:t>
            </a:r>
            <a:endParaRPr lang="en-US" sz="1300" dirty="0"/>
          </a:p>
        </p:txBody>
      </p:sp>
      <p:sp>
        <p:nvSpPr>
          <p:cNvPr id="12" name="Text 10"/>
          <p:cNvSpPr txBox="1"/>
          <p:nvPr/>
        </p:nvSpPr>
        <p:spPr>
          <a:xfrm>
            <a:off x="548640" y="3931920"/>
            <a:ext cx="5486400" cy="274320"/>
          </a:xfrm>
          <a:prstGeom prst="rect">
            <a:avLst/>
          </a:prstGeom>
          <a:noFill/>
          <a:ln/>
        </p:spPr>
        <p:txBody>
          <a:bodyPr wrap="square" lIns="0" tIns="0" rIns="0" bIns="0" rtlCol="0" anchor="ctr"/>
          <a:lstStyle/>
          <a:p>
            <a:pPr indent="0" marL="0">
              <a:buNone/>
            </a:pPr>
            <a:r>
              <a:rPr lang="en-US" sz="1100" b="1" spc="100" kern="0" dirty="0">
                <a:solidFill>
                  <a:srgbClr val="2A9D8F"/>
                </a:solidFill>
                <a:latin typeface="Arial" pitchFamily="34" charset="0"/>
                <a:ea typeface="Arial" pitchFamily="34" charset="-122"/>
                <a:cs typeface="Arial" pitchFamily="34" charset="-120"/>
              </a:rPr>
              <a:t>KIẾN TRÚC PIPELINE 5 BƯỚC</a:t>
            </a:r>
            <a:endParaRPr lang="en-US" sz="1100" dirty="0"/>
          </a:p>
        </p:txBody>
      </p:sp>
      <p:sp>
        <p:nvSpPr>
          <p:cNvPr id="13" name="Shape 11"/>
          <p:cNvSpPr/>
          <p:nvPr/>
        </p:nvSpPr>
        <p:spPr>
          <a:xfrm>
            <a:off x="548640" y="4251960"/>
            <a:ext cx="2057400" cy="1600200"/>
          </a:xfrm>
          <a:prstGeom prst="rect">
            <a:avLst/>
          </a:prstGeom>
          <a:solidFill>
            <a:srgbClr val="F3F6F9"/>
          </a:solidFill>
          <a:ln w="9525">
            <a:solidFill>
              <a:srgbClr val="D9E1E8"/>
            </a:solidFill>
            <a:prstDash val="solid"/>
          </a:ln>
        </p:spPr>
      </p:sp>
      <p:sp>
        <p:nvSpPr>
          <p:cNvPr id="14" name="Shape 12"/>
          <p:cNvSpPr/>
          <p:nvPr/>
        </p:nvSpPr>
        <p:spPr>
          <a:xfrm>
            <a:off x="685800" y="4389120"/>
            <a:ext cx="384048" cy="384048"/>
          </a:xfrm>
          <a:prstGeom prst="ellipse">
            <a:avLst/>
          </a:prstGeom>
          <a:solidFill>
            <a:srgbClr val="1F3A5F"/>
          </a:solidFill>
          <a:ln w="12700">
            <a:solidFill>
              <a:srgbClr val="1F3A5F"/>
            </a:solidFill>
            <a:prstDash val="solid"/>
          </a:ln>
        </p:spPr>
      </p:sp>
      <p:sp>
        <p:nvSpPr>
          <p:cNvPr id="15" name="Text 13"/>
          <p:cNvSpPr txBox="1"/>
          <p:nvPr/>
        </p:nvSpPr>
        <p:spPr>
          <a:xfrm>
            <a:off x="685800" y="43891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6" name="Text 14"/>
          <p:cNvSpPr txBox="1"/>
          <p:nvPr/>
        </p:nvSpPr>
        <p:spPr>
          <a:xfrm>
            <a:off x="685800" y="4846320"/>
            <a:ext cx="1828800" cy="320040"/>
          </a:xfrm>
          <a:prstGeom prst="rect">
            <a:avLst/>
          </a:prstGeom>
          <a:noFill/>
          <a:ln/>
        </p:spPr>
        <p:txBody>
          <a:bodyPr wrap="square" lIns="0" tIns="0" rIns="0" bIns="0" rtlCol="0" anchor="ctr"/>
          <a:lstStyle/>
          <a:p>
            <a:pPr indent="0" marL="0">
              <a:buNone/>
            </a:pPr>
            <a:r>
              <a:rPr lang="en-US" sz="1200" b="1" dirty="0">
                <a:solidFill>
                  <a:srgbClr val="1E293B"/>
                </a:solidFill>
                <a:latin typeface="Arial" pitchFamily="34" charset="0"/>
                <a:ea typeface="Arial" pitchFamily="34" charset="-122"/>
                <a:cs typeface="Arial" pitchFamily="34" charset="-120"/>
              </a:rPr>
              <a:t>Input &amp; Scale</a:t>
            </a:r>
            <a:endParaRPr lang="en-US" sz="1200" dirty="0"/>
          </a:p>
        </p:txBody>
      </p:sp>
      <p:sp>
        <p:nvSpPr>
          <p:cNvPr id="17" name="Text 15"/>
          <p:cNvSpPr txBox="1"/>
          <p:nvPr/>
        </p:nvSpPr>
        <p:spPr>
          <a:xfrm>
            <a:off x="685800" y="5166360"/>
            <a:ext cx="1828800" cy="640080"/>
          </a:xfrm>
          <a:prstGeom prst="rect">
            <a:avLst/>
          </a:prstGeom>
          <a:noFill/>
          <a:ln/>
        </p:spPr>
        <p:txBody>
          <a:bodyPr wrap="square" lIns="0" tIns="0" rIns="0" bIns="0" rtlCol="0" anchor="t"/>
          <a:lstStyle/>
          <a:p>
            <a:pPr indent="0" marL="0">
              <a:buNone/>
            </a:pPr>
            <a:r>
              <a:rPr lang="en-US" sz="1150" dirty="0">
                <a:solidFill>
                  <a:srgbClr val="5B6770"/>
                </a:solidFill>
                <a:latin typeface="Arial" pitchFamily="34" charset="0"/>
                <a:ea typeface="Arial" pitchFamily="34" charset="-122"/>
                <a:cs typeface="Arial" pitchFamily="34" charset="-120"/>
              </a:rPr>
              <a:t>(100, 100, 3)</a:t>
            </a:r>
            <a:endParaRPr lang="en-US" sz="1150" dirty="0"/>
          </a:p>
          <a:p>
            <a:pPr indent="0" marL="0">
              <a:buNone/>
            </a:pPr>
            <a:r>
              <a:rPr lang="en-US" sz="1150" dirty="0">
                <a:solidFill>
                  <a:srgbClr val="5B6770"/>
                </a:solidFill>
                <a:latin typeface="Arial" pitchFamily="34" charset="0"/>
                <a:ea typeface="Arial" pitchFamily="34" charset="-122"/>
                <a:cs typeface="Arial" pitchFamily="34" charset="-120"/>
              </a:rPr>
              <a:t>Chuẩn hóa pixel về [0, 1]</a:t>
            </a:r>
            <a:endParaRPr lang="en-US" sz="1150" dirty="0"/>
          </a:p>
        </p:txBody>
      </p:sp>
      <p:sp>
        <p:nvSpPr>
          <p:cNvPr id="18" name="Shape 16"/>
          <p:cNvSpPr/>
          <p:nvPr/>
        </p:nvSpPr>
        <p:spPr>
          <a:xfrm>
            <a:off x="2788920" y="4251960"/>
            <a:ext cx="2057400" cy="1600200"/>
          </a:xfrm>
          <a:prstGeom prst="rect">
            <a:avLst/>
          </a:prstGeom>
          <a:solidFill>
            <a:srgbClr val="FFFFFF"/>
          </a:solidFill>
          <a:ln w="9525">
            <a:solidFill>
              <a:srgbClr val="D9E1E8"/>
            </a:solidFill>
            <a:prstDash val="solid"/>
          </a:ln>
        </p:spPr>
      </p:sp>
      <p:sp>
        <p:nvSpPr>
          <p:cNvPr id="19" name="Shape 17"/>
          <p:cNvSpPr/>
          <p:nvPr/>
        </p:nvSpPr>
        <p:spPr>
          <a:xfrm>
            <a:off x="2926080" y="4389120"/>
            <a:ext cx="384048" cy="384048"/>
          </a:xfrm>
          <a:prstGeom prst="ellipse">
            <a:avLst/>
          </a:prstGeom>
          <a:solidFill>
            <a:srgbClr val="1F3A5F"/>
          </a:solidFill>
          <a:ln w="12700">
            <a:solidFill>
              <a:srgbClr val="1F3A5F"/>
            </a:solidFill>
            <a:prstDash val="solid"/>
          </a:ln>
        </p:spPr>
      </p:sp>
      <p:sp>
        <p:nvSpPr>
          <p:cNvPr id="20" name="Text 18"/>
          <p:cNvSpPr txBox="1"/>
          <p:nvPr/>
        </p:nvSpPr>
        <p:spPr>
          <a:xfrm>
            <a:off x="2926080" y="43891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21" name="Text 19"/>
          <p:cNvSpPr txBox="1"/>
          <p:nvPr/>
        </p:nvSpPr>
        <p:spPr>
          <a:xfrm>
            <a:off x="2926080" y="4846320"/>
            <a:ext cx="1828800" cy="320040"/>
          </a:xfrm>
          <a:prstGeom prst="rect">
            <a:avLst/>
          </a:prstGeom>
          <a:noFill/>
          <a:ln/>
        </p:spPr>
        <p:txBody>
          <a:bodyPr wrap="square" lIns="0" tIns="0" rIns="0" bIns="0" rtlCol="0" anchor="ctr"/>
          <a:lstStyle/>
          <a:p>
            <a:pPr indent="0" marL="0">
              <a:buNone/>
            </a:pPr>
            <a:r>
              <a:rPr lang="en-US" sz="1200" b="1" dirty="0">
                <a:solidFill>
                  <a:srgbClr val="1E293B"/>
                </a:solidFill>
                <a:latin typeface="Arial" pitchFamily="34" charset="0"/>
                <a:ea typeface="Arial" pitchFamily="34" charset="-122"/>
                <a:cs typeface="Arial" pitchFamily="34" charset="-120"/>
              </a:rPr>
              <a:t>Conv Block 1</a:t>
            </a:r>
            <a:endParaRPr lang="en-US" sz="1200" dirty="0"/>
          </a:p>
        </p:txBody>
      </p:sp>
      <p:sp>
        <p:nvSpPr>
          <p:cNvPr id="22" name="Text 20"/>
          <p:cNvSpPr txBox="1"/>
          <p:nvPr/>
        </p:nvSpPr>
        <p:spPr>
          <a:xfrm>
            <a:off x="2926080" y="5166360"/>
            <a:ext cx="1828800" cy="640080"/>
          </a:xfrm>
          <a:prstGeom prst="rect">
            <a:avLst/>
          </a:prstGeom>
          <a:noFill/>
          <a:ln/>
        </p:spPr>
        <p:txBody>
          <a:bodyPr wrap="square" lIns="0" tIns="0" rIns="0" bIns="0" rtlCol="0" anchor="t"/>
          <a:lstStyle/>
          <a:p>
            <a:pPr indent="0" marL="0">
              <a:buNone/>
            </a:pPr>
            <a:r>
              <a:rPr lang="en-US" sz="1150" dirty="0">
                <a:solidFill>
                  <a:srgbClr val="5B6770"/>
                </a:solidFill>
                <a:latin typeface="Arial" pitchFamily="34" charset="0"/>
                <a:ea typeface="Arial" pitchFamily="34" charset="-122"/>
                <a:cs typeface="Arial" pitchFamily="34" charset="-120"/>
              </a:rPr>
              <a:t>64 filters 3×3</a:t>
            </a:r>
            <a:endParaRPr lang="en-US" sz="1150" dirty="0"/>
          </a:p>
          <a:p>
            <a:pPr indent="0" marL="0">
              <a:buNone/>
            </a:pPr>
            <a:r>
              <a:rPr lang="en-US" sz="1150" dirty="0">
                <a:solidFill>
                  <a:srgbClr val="5B6770"/>
                </a:solidFill>
                <a:latin typeface="Arial" pitchFamily="34" charset="0"/>
                <a:ea typeface="Arial" pitchFamily="34" charset="-122"/>
                <a:cs typeface="Arial" pitchFamily="34" charset="-120"/>
              </a:rPr>
              <a:t>ReLU + MaxPooling 2×2</a:t>
            </a:r>
            <a:endParaRPr lang="en-US" sz="1150" dirty="0"/>
          </a:p>
        </p:txBody>
      </p:sp>
      <p:sp>
        <p:nvSpPr>
          <p:cNvPr id="23" name="Shape 21"/>
          <p:cNvSpPr/>
          <p:nvPr/>
        </p:nvSpPr>
        <p:spPr>
          <a:xfrm>
            <a:off x="5029200" y="4251960"/>
            <a:ext cx="2057400" cy="1600200"/>
          </a:xfrm>
          <a:prstGeom prst="rect">
            <a:avLst/>
          </a:prstGeom>
          <a:solidFill>
            <a:srgbClr val="F3F6F9"/>
          </a:solidFill>
          <a:ln w="9525">
            <a:solidFill>
              <a:srgbClr val="D9E1E8"/>
            </a:solidFill>
            <a:prstDash val="solid"/>
          </a:ln>
        </p:spPr>
      </p:sp>
      <p:sp>
        <p:nvSpPr>
          <p:cNvPr id="24" name="Shape 22"/>
          <p:cNvSpPr/>
          <p:nvPr/>
        </p:nvSpPr>
        <p:spPr>
          <a:xfrm>
            <a:off x="5166360" y="4389120"/>
            <a:ext cx="384048" cy="384048"/>
          </a:xfrm>
          <a:prstGeom prst="ellipse">
            <a:avLst/>
          </a:prstGeom>
          <a:solidFill>
            <a:srgbClr val="1F3A5F"/>
          </a:solidFill>
          <a:ln w="12700">
            <a:solidFill>
              <a:srgbClr val="1F3A5F"/>
            </a:solidFill>
            <a:prstDash val="solid"/>
          </a:ln>
        </p:spPr>
      </p:sp>
      <p:sp>
        <p:nvSpPr>
          <p:cNvPr id="25" name="Text 23"/>
          <p:cNvSpPr txBox="1"/>
          <p:nvPr/>
        </p:nvSpPr>
        <p:spPr>
          <a:xfrm>
            <a:off x="5166360" y="43891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26" name="Text 24"/>
          <p:cNvSpPr txBox="1"/>
          <p:nvPr/>
        </p:nvSpPr>
        <p:spPr>
          <a:xfrm>
            <a:off x="5166360" y="4846320"/>
            <a:ext cx="1828800" cy="320040"/>
          </a:xfrm>
          <a:prstGeom prst="rect">
            <a:avLst/>
          </a:prstGeom>
          <a:noFill/>
          <a:ln/>
        </p:spPr>
        <p:txBody>
          <a:bodyPr wrap="square" lIns="0" tIns="0" rIns="0" bIns="0" rtlCol="0" anchor="ctr"/>
          <a:lstStyle/>
          <a:p>
            <a:pPr indent="0" marL="0">
              <a:buNone/>
            </a:pPr>
            <a:r>
              <a:rPr lang="en-US" sz="1200" b="1" dirty="0">
                <a:solidFill>
                  <a:srgbClr val="1E293B"/>
                </a:solidFill>
                <a:latin typeface="Arial" pitchFamily="34" charset="0"/>
                <a:ea typeface="Arial" pitchFamily="34" charset="-122"/>
                <a:cs typeface="Arial" pitchFamily="34" charset="-120"/>
              </a:rPr>
              <a:t>Conv Block 2</a:t>
            </a:r>
            <a:endParaRPr lang="en-US" sz="1200" dirty="0"/>
          </a:p>
        </p:txBody>
      </p:sp>
      <p:sp>
        <p:nvSpPr>
          <p:cNvPr id="27" name="Text 25"/>
          <p:cNvSpPr txBox="1"/>
          <p:nvPr/>
        </p:nvSpPr>
        <p:spPr>
          <a:xfrm>
            <a:off x="5166360" y="5166360"/>
            <a:ext cx="1828800" cy="640080"/>
          </a:xfrm>
          <a:prstGeom prst="rect">
            <a:avLst/>
          </a:prstGeom>
          <a:noFill/>
          <a:ln/>
        </p:spPr>
        <p:txBody>
          <a:bodyPr wrap="square" lIns="0" tIns="0" rIns="0" bIns="0" rtlCol="0" anchor="t"/>
          <a:lstStyle/>
          <a:p>
            <a:pPr indent="0" marL="0">
              <a:buNone/>
            </a:pPr>
            <a:r>
              <a:rPr lang="en-US" sz="1150" dirty="0">
                <a:solidFill>
                  <a:srgbClr val="5B6770"/>
                </a:solidFill>
                <a:latin typeface="Arial" pitchFamily="34" charset="0"/>
                <a:ea typeface="Arial" pitchFamily="34" charset="-122"/>
                <a:cs typeface="Arial" pitchFamily="34" charset="-120"/>
              </a:rPr>
              <a:t>64 filters 3×3</a:t>
            </a:r>
            <a:endParaRPr lang="en-US" sz="1150" dirty="0"/>
          </a:p>
          <a:p>
            <a:pPr indent="0" marL="0">
              <a:buNone/>
            </a:pPr>
            <a:r>
              <a:rPr lang="en-US" sz="1150" dirty="0">
                <a:solidFill>
                  <a:srgbClr val="5B6770"/>
                </a:solidFill>
                <a:latin typeface="Arial" pitchFamily="34" charset="0"/>
                <a:ea typeface="Arial" pitchFamily="34" charset="-122"/>
                <a:cs typeface="Arial" pitchFamily="34" charset="-120"/>
              </a:rPr>
              <a:t>ReLU + MaxPooling 2×2</a:t>
            </a:r>
            <a:endParaRPr lang="en-US" sz="1150" dirty="0"/>
          </a:p>
        </p:txBody>
      </p:sp>
      <p:sp>
        <p:nvSpPr>
          <p:cNvPr id="28" name="Shape 26"/>
          <p:cNvSpPr/>
          <p:nvPr/>
        </p:nvSpPr>
        <p:spPr>
          <a:xfrm>
            <a:off x="7269480" y="4251960"/>
            <a:ext cx="2057400" cy="1600200"/>
          </a:xfrm>
          <a:prstGeom prst="rect">
            <a:avLst/>
          </a:prstGeom>
          <a:solidFill>
            <a:srgbClr val="FFFFFF"/>
          </a:solidFill>
          <a:ln w="9525">
            <a:solidFill>
              <a:srgbClr val="D9E1E8"/>
            </a:solidFill>
            <a:prstDash val="solid"/>
          </a:ln>
        </p:spPr>
      </p:sp>
      <p:sp>
        <p:nvSpPr>
          <p:cNvPr id="29" name="Shape 27"/>
          <p:cNvSpPr/>
          <p:nvPr/>
        </p:nvSpPr>
        <p:spPr>
          <a:xfrm>
            <a:off x="7406640" y="4389120"/>
            <a:ext cx="384048" cy="384048"/>
          </a:xfrm>
          <a:prstGeom prst="ellipse">
            <a:avLst/>
          </a:prstGeom>
          <a:solidFill>
            <a:srgbClr val="1F3A5F"/>
          </a:solidFill>
          <a:ln w="12700">
            <a:solidFill>
              <a:srgbClr val="1F3A5F"/>
            </a:solidFill>
            <a:prstDash val="solid"/>
          </a:ln>
        </p:spPr>
      </p:sp>
      <p:sp>
        <p:nvSpPr>
          <p:cNvPr id="30" name="Text 28"/>
          <p:cNvSpPr txBox="1"/>
          <p:nvPr/>
        </p:nvSpPr>
        <p:spPr>
          <a:xfrm>
            <a:off x="7406640" y="43891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31" name="Text 29"/>
          <p:cNvSpPr txBox="1"/>
          <p:nvPr/>
        </p:nvSpPr>
        <p:spPr>
          <a:xfrm>
            <a:off x="7406640" y="4846320"/>
            <a:ext cx="1828800" cy="320040"/>
          </a:xfrm>
          <a:prstGeom prst="rect">
            <a:avLst/>
          </a:prstGeom>
          <a:noFill/>
          <a:ln/>
        </p:spPr>
        <p:txBody>
          <a:bodyPr wrap="square" lIns="0" tIns="0" rIns="0" bIns="0" rtlCol="0" anchor="ctr"/>
          <a:lstStyle/>
          <a:p>
            <a:pPr indent="0" marL="0">
              <a:buNone/>
            </a:pPr>
            <a:r>
              <a:rPr lang="en-US" sz="1200" b="1" dirty="0">
                <a:solidFill>
                  <a:srgbClr val="1E293B"/>
                </a:solidFill>
                <a:latin typeface="Arial" pitchFamily="34" charset="0"/>
                <a:ea typeface="Arial" pitchFamily="34" charset="-122"/>
                <a:cs typeface="Arial" pitchFamily="34" charset="-120"/>
              </a:rPr>
              <a:t>Dense Layer</a:t>
            </a:r>
            <a:endParaRPr lang="en-US" sz="1200" dirty="0"/>
          </a:p>
        </p:txBody>
      </p:sp>
      <p:sp>
        <p:nvSpPr>
          <p:cNvPr id="32" name="Text 30"/>
          <p:cNvSpPr txBox="1"/>
          <p:nvPr/>
        </p:nvSpPr>
        <p:spPr>
          <a:xfrm>
            <a:off x="7406640" y="5166360"/>
            <a:ext cx="1828800" cy="640080"/>
          </a:xfrm>
          <a:prstGeom prst="rect">
            <a:avLst/>
          </a:prstGeom>
          <a:noFill/>
          <a:ln/>
        </p:spPr>
        <p:txBody>
          <a:bodyPr wrap="square" lIns="0" tIns="0" rIns="0" bIns="0" rtlCol="0" anchor="t"/>
          <a:lstStyle/>
          <a:p>
            <a:pPr indent="0" marL="0">
              <a:buNone/>
            </a:pPr>
            <a:r>
              <a:rPr lang="en-US" sz="1150" dirty="0">
                <a:solidFill>
                  <a:srgbClr val="5B6770"/>
                </a:solidFill>
                <a:latin typeface="Arial" pitchFamily="34" charset="0"/>
                <a:ea typeface="Arial" pitchFamily="34" charset="-122"/>
                <a:cs typeface="Arial" pitchFamily="34" charset="-120"/>
              </a:rPr>
              <a:t>128 units (ReLU)</a:t>
            </a:r>
            <a:endParaRPr lang="en-US" sz="1150" dirty="0"/>
          </a:p>
          <a:p>
            <a:pPr indent="0" marL="0">
              <a:buNone/>
            </a:pPr>
            <a:r>
              <a:rPr lang="en-US" sz="1150" dirty="0">
                <a:solidFill>
                  <a:srgbClr val="5B6770"/>
                </a:solidFill>
                <a:latin typeface="Arial" pitchFamily="34" charset="0"/>
                <a:ea typeface="Arial" pitchFamily="34" charset="-122"/>
                <a:cs typeface="Arial" pitchFamily="34" charset="-120"/>
              </a:rPr>
              <a:t>Flatten: 33.856 đặc trưng</a:t>
            </a:r>
            <a:endParaRPr lang="en-US" sz="1150" dirty="0"/>
          </a:p>
        </p:txBody>
      </p:sp>
      <p:sp>
        <p:nvSpPr>
          <p:cNvPr id="33" name="Shape 31"/>
          <p:cNvSpPr/>
          <p:nvPr/>
        </p:nvSpPr>
        <p:spPr>
          <a:xfrm>
            <a:off x="9509760" y="4251960"/>
            <a:ext cx="2057400" cy="1600200"/>
          </a:xfrm>
          <a:prstGeom prst="rect">
            <a:avLst/>
          </a:prstGeom>
          <a:solidFill>
            <a:srgbClr val="F3F6F9"/>
          </a:solidFill>
          <a:ln w="9525">
            <a:solidFill>
              <a:srgbClr val="E76F51"/>
            </a:solidFill>
            <a:prstDash val="solid"/>
          </a:ln>
        </p:spPr>
      </p:sp>
      <p:sp>
        <p:nvSpPr>
          <p:cNvPr id="34" name="Shape 32"/>
          <p:cNvSpPr/>
          <p:nvPr/>
        </p:nvSpPr>
        <p:spPr>
          <a:xfrm>
            <a:off x="9646920" y="4389120"/>
            <a:ext cx="384048" cy="384048"/>
          </a:xfrm>
          <a:prstGeom prst="ellipse">
            <a:avLst/>
          </a:prstGeom>
          <a:solidFill>
            <a:srgbClr val="E76F51"/>
          </a:solidFill>
          <a:ln w="12700">
            <a:solidFill>
              <a:srgbClr val="E76F51"/>
            </a:solidFill>
            <a:prstDash val="solid"/>
          </a:ln>
        </p:spPr>
      </p:sp>
      <p:sp>
        <p:nvSpPr>
          <p:cNvPr id="35" name="Text 33"/>
          <p:cNvSpPr txBox="1"/>
          <p:nvPr/>
        </p:nvSpPr>
        <p:spPr>
          <a:xfrm>
            <a:off x="9646920" y="43891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36" name="Text 34"/>
          <p:cNvSpPr txBox="1"/>
          <p:nvPr/>
        </p:nvSpPr>
        <p:spPr>
          <a:xfrm>
            <a:off x="9646920" y="4846320"/>
            <a:ext cx="1828800" cy="320040"/>
          </a:xfrm>
          <a:prstGeom prst="rect">
            <a:avLst/>
          </a:prstGeom>
          <a:noFill/>
          <a:ln/>
        </p:spPr>
        <p:txBody>
          <a:bodyPr wrap="square" lIns="0" tIns="0" rIns="0" bIns="0" rtlCol="0" anchor="ctr"/>
          <a:lstStyle/>
          <a:p>
            <a:pPr indent="0" marL="0">
              <a:buNone/>
            </a:pPr>
            <a:r>
              <a:rPr lang="en-US" sz="1200" b="1" dirty="0">
                <a:solidFill>
                  <a:srgbClr val="1E293B"/>
                </a:solidFill>
                <a:latin typeface="Arial" pitchFamily="34" charset="0"/>
                <a:ea typeface="Arial" pitchFamily="34" charset="-122"/>
                <a:cs typeface="Arial" pitchFamily="34" charset="-120"/>
              </a:rPr>
              <a:t>Softmax Output</a:t>
            </a:r>
            <a:endParaRPr lang="en-US" sz="1200" dirty="0"/>
          </a:p>
        </p:txBody>
      </p:sp>
      <p:sp>
        <p:nvSpPr>
          <p:cNvPr id="37" name="Text 35"/>
          <p:cNvSpPr txBox="1"/>
          <p:nvPr/>
        </p:nvSpPr>
        <p:spPr>
          <a:xfrm>
            <a:off x="9646920" y="5166360"/>
            <a:ext cx="1828800" cy="640080"/>
          </a:xfrm>
          <a:prstGeom prst="rect">
            <a:avLst/>
          </a:prstGeom>
          <a:noFill/>
          <a:ln/>
        </p:spPr>
        <p:txBody>
          <a:bodyPr wrap="square" lIns="0" tIns="0" rIns="0" bIns="0" rtlCol="0" anchor="t"/>
          <a:lstStyle/>
          <a:p>
            <a:pPr indent="0" marL="0">
              <a:buNone/>
            </a:pPr>
            <a:r>
              <a:rPr lang="en-US" sz="1150" dirty="0">
                <a:solidFill>
                  <a:srgbClr val="5B6770"/>
                </a:solidFill>
                <a:latin typeface="Arial" pitchFamily="34" charset="0"/>
                <a:ea typeface="Arial" pitchFamily="34" charset="-122"/>
                <a:cs typeface="Arial" pitchFamily="34" charset="-120"/>
              </a:rPr>
              <a:t>29 classes</a:t>
            </a:r>
            <a:endParaRPr lang="en-US" sz="1150" dirty="0"/>
          </a:p>
          <a:p>
            <a:pPr indent="0" marL="0">
              <a:buNone/>
            </a:pPr>
            <a:r>
              <a:rPr lang="en-US" sz="1150" dirty="0">
                <a:solidFill>
                  <a:srgbClr val="5B6770"/>
                </a:solidFill>
                <a:latin typeface="Arial" pitchFamily="34" charset="0"/>
                <a:ea typeface="Arial" pitchFamily="34" charset="-122"/>
                <a:cs typeface="Arial" pitchFamily="34" charset="-120"/>
              </a:rPr>
              <a:t>Phân phối xác suất</a:t>
            </a:r>
            <a:endParaRPr lang="en-US" sz="1150" dirty="0"/>
          </a:p>
        </p:txBody>
      </p:sp>
      <p:sp>
        <p:nvSpPr>
          <p:cNvPr id="38" name="Text 36"/>
          <p:cNvSpPr txBox="1"/>
          <p:nvPr/>
        </p:nvSpPr>
        <p:spPr>
          <a:xfrm>
            <a:off x="548640" y="5989320"/>
            <a:ext cx="10607040" cy="365760"/>
          </a:xfrm>
          <a:prstGeom prst="rect">
            <a:avLst/>
          </a:prstGeom>
          <a:noFill/>
          <a:ln/>
        </p:spPr>
        <p:txBody>
          <a:bodyPr wrap="square" lIns="0" tIns="0" rIns="0" bIns="0" rtlCol="0" anchor="ctr"/>
          <a:lstStyle/>
          <a:p>
            <a:pPr indent="0" marL="0">
              <a:buNone/>
            </a:pPr>
            <a:r>
              <a:rPr lang="en-US" sz="1050" i="1" dirty="0">
                <a:solidFill>
                  <a:srgbClr val="5B6770"/>
                </a:solidFill>
                <a:latin typeface="Arial" pitchFamily="34" charset="0"/>
                <a:ea typeface="Arial" pitchFamily="34" charset="-122"/>
                <a:cs typeface="Arial" pitchFamily="34" charset="-120"/>
              </a:rPr>
              <a:t>Lưu ý khoa học: Trọng số được giữ cố định để cô lập tác động của tiền xử lý. Chưa khẳng định tập 25 ảnh hoàn toàn độc lập với dữ liệu huấn luyện ban đầu do thiếu siêu dữ liệu nguồn.</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1F3A5F"/>
          </a:solidFill>
          <a:ln w="12700">
            <a:solidFill>
              <a:srgbClr val="1F3A5F"/>
            </a:solidFill>
            <a:prstDash val="solid"/>
          </a:ln>
        </p:spPr>
      </p:sp>
      <p:sp>
        <p:nvSpPr>
          <p:cNvPr id="3" name="Text 1"/>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2600" b="1" dirty="0">
                <a:solidFill>
                  <a:srgbClr val="1F3A5F"/>
                </a:solidFill>
                <a:latin typeface="Arial" pitchFamily="34" charset="0"/>
                <a:ea typeface="Arial" pitchFamily="34" charset="-122"/>
                <a:cs typeface="Arial" pitchFamily="34" charset="-120"/>
              </a:rPr>
              <a:t>Phương pháp 1: Kéo giãn tương phản (Contrast Stretching)</a:t>
            </a:r>
            <a:endParaRPr lang="en-US" sz="2600" dirty="0"/>
          </a:p>
        </p:txBody>
      </p:sp>
      <p:sp>
        <p:nvSpPr>
          <p:cNvPr id="4" name="Text 2"/>
          <p:cNvSpPr txBox="1"/>
          <p:nvPr/>
        </p:nvSpPr>
        <p:spPr>
          <a:xfrm>
            <a:off x="548640" y="1024128"/>
            <a:ext cx="11064240" cy="365760"/>
          </a:xfrm>
          <a:prstGeom prst="rect">
            <a:avLst/>
          </a:prstGeom>
          <a:noFill/>
          <a:ln/>
        </p:spPr>
        <p:txBody>
          <a:bodyPr wrap="square" lIns="0" tIns="0" rIns="0" bIns="0" rtlCol="0" anchor="ctr"/>
          <a:lstStyle/>
          <a:p>
            <a:pPr indent="0" marL="0">
              <a:buNone/>
            </a:pPr>
            <a:r>
              <a:rPr lang="en-US" sz="1400" dirty="0">
                <a:solidFill>
                  <a:srgbClr val="5B6770"/>
                </a:solidFill>
                <a:latin typeface="Arial" pitchFamily="34" charset="0"/>
                <a:ea typeface="Arial" pitchFamily="34" charset="-122"/>
                <a:cs typeface="Arial" pitchFamily="34" charset="-120"/>
              </a:rPr>
              <a:t>Kéo giãn tuyến tính kênh độ sáng Y trong không gian YCrCb, cắt ngưỡng phân vị P1% và P99%</a:t>
            </a:r>
            <a:endParaRPr lang="en-US" sz="1400" dirty="0"/>
          </a:p>
        </p:txBody>
      </p:sp>
      <p:sp>
        <p:nvSpPr>
          <p:cNvPr id="5" name="Text 3"/>
          <p:cNvSpPr txBox="1"/>
          <p:nvPr/>
        </p:nvSpPr>
        <p:spPr>
          <a:xfrm>
            <a:off x="11155680" y="6355080"/>
            <a:ext cx="640080" cy="274320"/>
          </a:xfrm>
          <a:prstGeom prst="rect">
            <a:avLst/>
          </a:prstGeom>
          <a:noFill/>
          <a:ln/>
        </p:spPr>
        <p:txBody>
          <a:bodyPr wrap="square" lIns="0" tIns="0" rIns="0" bIns="0" rtlCol="0" anchor="ctr"/>
          <a:lstStyle/>
          <a:p>
            <a:pPr algn="r" indent="0" marL="0">
              <a:buNone/>
            </a:pPr>
            <a:r>
              <a:rPr lang="en-US" sz="1000" dirty="0">
                <a:solidFill>
                  <a:srgbClr val="5B6770"/>
                </a:solidFill>
                <a:latin typeface="Arial" pitchFamily="34" charset="0"/>
                <a:ea typeface="Arial" pitchFamily="34" charset="-122"/>
                <a:cs typeface="Arial" pitchFamily="34" charset="-120"/>
              </a:rPr>
              <a:t>04</a:t>
            </a:r>
            <a:endParaRPr lang="en-US" sz="1000" dirty="0"/>
          </a:p>
        </p:txBody>
      </p:sp>
      <p:sp>
        <p:nvSpPr>
          <p:cNvPr id="6" name="Shape 4"/>
          <p:cNvSpPr/>
          <p:nvPr/>
        </p:nvSpPr>
        <p:spPr>
          <a:xfrm>
            <a:off x="548640" y="1645920"/>
            <a:ext cx="4937760" cy="2286000"/>
          </a:xfrm>
          <a:prstGeom prst="rect">
            <a:avLst/>
          </a:prstGeom>
          <a:solidFill>
            <a:srgbClr val="EEF5FB"/>
          </a:solidFill>
          <a:ln w="9525">
            <a:solidFill>
              <a:srgbClr val="1F3A5F"/>
            </a:solidFill>
            <a:prstDash val="solid"/>
          </a:ln>
        </p:spPr>
      </p:sp>
      <p:sp>
        <p:nvSpPr>
          <p:cNvPr id="7" name="Text 5"/>
          <p:cNvSpPr txBox="1"/>
          <p:nvPr/>
        </p:nvSpPr>
        <p:spPr>
          <a:xfrm>
            <a:off x="777240" y="1783080"/>
            <a:ext cx="4572000" cy="274320"/>
          </a:xfrm>
          <a:prstGeom prst="rect">
            <a:avLst/>
          </a:prstGeom>
          <a:noFill/>
          <a:ln/>
        </p:spPr>
        <p:txBody>
          <a:bodyPr wrap="square" lIns="0" tIns="0" rIns="0" bIns="0" rtlCol="0" anchor="ctr"/>
          <a:lstStyle/>
          <a:p>
            <a:pPr indent="0" marL="0">
              <a:buNone/>
            </a:pPr>
            <a:r>
              <a:rPr lang="en-US" sz="1100" b="1" spc="100" kern="0" dirty="0">
                <a:solidFill>
                  <a:srgbClr val="1F3A5F"/>
                </a:solidFill>
                <a:latin typeface="Arial" pitchFamily="34" charset="0"/>
                <a:ea typeface="Arial" pitchFamily="34" charset="-122"/>
                <a:cs typeface="Arial" pitchFamily="34" charset="-120"/>
              </a:rPr>
              <a:t>CÔNG THỨC ÁNH XẠ KÊNH Y</a:t>
            </a:r>
            <a:endParaRPr lang="en-US" sz="1100" dirty="0"/>
          </a:p>
        </p:txBody>
      </p:sp>
      <p:sp>
        <p:nvSpPr>
          <p:cNvPr id="8" name="Text 6"/>
          <p:cNvSpPr txBox="1"/>
          <p:nvPr/>
        </p:nvSpPr>
        <p:spPr>
          <a:xfrm>
            <a:off x="777240" y="2194560"/>
            <a:ext cx="4572000" cy="457200"/>
          </a:xfrm>
          <a:prstGeom prst="rect">
            <a:avLst/>
          </a:prstGeom>
          <a:noFill/>
          <a:ln/>
        </p:spPr>
        <p:txBody>
          <a:bodyPr wrap="square" lIns="0" tIns="0" rIns="0" bIns="0" rtlCol="0" anchor="ctr"/>
          <a:lstStyle/>
          <a:p>
            <a:pPr indent="0" marL="0">
              <a:buNone/>
            </a:pPr>
            <a:r>
              <a:rPr lang="en-US" sz="1500" b="1" dirty="0">
                <a:solidFill>
                  <a:srgbClr val="1E293B"/>
                </a:solidFill>
                <a:latin typeface="Courier New" pitchFamily="34" charset="0"/>
                <a:ea typeface="Courier New" pitchFamily="34" charset="-122"/>
                <a:cs typeface="Courier New" pitchFamily="34" charset="-120"/>
              </a:rPr>
              <a:t>s = clip( ((r − P1%) / (P99% − P1%)) × 255, 0, 255 )</a:t>
            </a:r>
            <a:endParaRPr lang="en-US" sz="1500" dirty="0"/>
          </a:p>
        </p:txBody>
      </p:sp>
      <p:sp>
        <p:nvSpPr>
          <p:cNvPr id="9" name="Text 7"/>
          <p:cNvSpPr txBox="1"/>
          <p:nvPr/>
        </p:nvSpPr>
        <p:spPr>
          <a:xfrm>
            <a:off x="777240" y="2743200"/>
            <a:ext cx="4572000" cy="731520"/>
          </a:xfrm>
          <a:prstGeom prst="rect">
            <a:avLst/>
          </a:prstGeom>
          <a:noFill/>
          <a:ln/>
        </p:spPr>
        <p:txBody>
          <a:bodyPr wrap="square" lIns="0" tIns="0" rIns="0" bIns="0" rtlCol="0" anchor="t"/>
          <a:lstStyle/>
          <a:p>
            <a:pPr indent="0" marL="0">
              <a:buNone/>
            </a:pPr>
            <a:r>
              <a:rPr lang="en-US" sz="1250" dirty="0">
                <a:solidFill>
                  <a:srgbClr val="5B6770"/>
                </a:solidFill>
                <a:latin typeface="Arial" pitchFamily="34" charset="0"/>
                <a:ea typeface="Arial" pitchFamily="34" charset="-122"/>
                <a:cs typeface="Arial" pitchFamily="34" charset="-120"/>
              </a:rPr>
              <a:t>Trong đó: r là mức sáng đầu vào; P1% và P99% là ngưỡng phân vị 1% và 99%.</a:t>
            </a:r>
            <a:endParaRPr lang="en-US" sz="1250" dirty="0"/>
          </a:p>
        </p:txBody>
      </p:sp>
      <p:sp>
        <p:nvSpPr>
          <p:cNvPr id="10" name="Text 8"/>
          <p:cNvSpPr txBox="1"/>
          <p:nvPr/>
        </p:nvSpPr>
        <p:spPr>
          <a:xfrm>
            <a:off x="777240" y="3291840"/>
            <a:ext cx="4572000" cy="548640"/>
          </a:xfrm>
          <a:prstGeom prst="rect">
            <a:avLst/>
          </a:prstGeom>
          <a:noFill/>
          <a:ln/>
        </p:spPr>
        <p:txBody>
          <a:bodyPr wrap="square" lIns="0" tIns="0" rIns="0" bIns="0" rtlCol="0" anchor="t"/>
          <a:lstStyle/>
          <a:p>
            <a:pPr indent="0" marL="0">
              <a:buNone/>
            </a:pPr>
            <a:r>
              <a:rPr lang="en-US" sz="1100" i="1" dirty="0">
                <a:solidFill>
                  <a:srgbClr val="E76F51"/>
                </a:solidFill>
                <a:latin typeface="Arial" pitchFamily="34" charset="0"/>
                <a:ea typeface="Arial" pitchFamily="34" charset="-122"/>
                <a:cs typeface="Arial" pitchFamily="34" charset="-120"/>
              </a:rPr>
              <a:t>Lưu ý: Phương pháp làm rõ chênh lệch sáng tối nhưng không loại bỏ hoàn toàn nhiễu, và có thể làm phẳng nếp nhăn nhỏ trên mu bàn tay nếu rơi vào vùng clipping.</a:t>
            </a:r>
            <a:endParaRPr lang="en-US" sz="1100" dirty="0"/>
          </a:p>
        </p:txBody>
      </p:sp>
      <p:sp>
        <p:nvSpPr>
          <p:cNvPr id="11" name="Text 9"/>
          <p:cNvSpPr txBox="1"/>
          <p:nvPr/>
        </p:nvSpPr>
        <p:spPr>
          <a:xfrm>
            <a:off x="5852160" y="1645920"/>
            <a:ext cx="5486400" cy="274320"/>
          </a:xfrm>
          <a:prstGeom prst="rect">
            <a:avLst/>
          </a:prstGeom>
          <a:noFill/>
          <a:ln/>
        </p:spPr>
        <p:txBody>
          <a:bodyPr wrap="square" lIns="0" tIns="0" rIns="0" bIns="0" rtlCol="0" anchor="ctr"/>
          <a:lstStyle/>
          <a:p>
            <a:pPr indent="0" marL="0">
              <a:buNone/>
            </a:pPr>
            <a:r>
              <a:rPr lang="en-US" sz="1100" b="1" spc="100" kern="0" dirty="0">
                <a:solidFill>
                  <a:srgbClr val="2A9D8F"/>
                </a:solidFill>
                <a:latin typeface="Arial" pitchFamily="34" charset="0"/>
                <a:ea typeface="Arial" pitchFamily="34" charset="-122"/>
                <a:cs typeface="Arial" pitchFamily="34" charset="-120"/>
              </a:rPr>
              <a:t>QUY TRÌNH THỰC HIỆN 4 GIAI ĐOẠN</a:t>
            </a:r>
            <a:endParaRPr lang="en-US" sz="1100" dirty="0"/>
          </a:p>
        </p:txBody>
      </p:sp>
      <p:sp>
        <p:nvSpPr>
          <p:cNvPr id="12" name="Shape 10"/>
          <p:cNvSpPr/>
          <p:nvPr/>
        </p:nvSpPr>
        <p:spPr>
          <a:xfrm>
            <a:off x="5852160" y="1965960"/>
            <a:ext cx="5760720" cy="822960"/>
          </a:xfrm>
          <a:prstGeom prst="rect">
            <a:avLst/>
          </a:prstGeom>
          <a:solidFill>
            <a:srgbClr val="F3F6F9"/>
          </a:solidFill>
          <a:ln w="9525">
            <a:solidFill>
              <a:srgbClr val="D9E1E8"/>
            </a:solidFill>
            <a:prstDash val="solid"/>
          </a:ln>
        </p:spPr>
      </p:sp>
      <p:sp>
        <p:nvSpPr>
          <p:cNvPr id="13" name="Shape 11"/>
          <p:cNvSpPr/>
          <p:nvPr/>
        </p:nvSpPr>
        <p:spPr>
          <a:xfrm>
            <a:off x="6035040" y="2185416"/>
            <a:ext cx="384048" cy="384048"/>
          </a:xfrm>
          <a:prstGeom prst="ellipse">
            <a:avLst/>
          </a:prstGeom>
          <a:solidFill>
            <a:srgbClr val="2A9D8F"/>
          </a:solidFill>
          <a:ln w="12700">
            <a:solidFill>
              <a:srgbClr val="2A9D8F"/>
            </a:solidFill>
            <a:prstDash val="solid"/>
          </a:ln>
        </p:spPr>
      </p:sp>
      <p:sp>
        <p:nvSpPr>
          <p:cNvPr id="14" name="Text 12"/>
          <p:cNvSpPr txBox="1"/>
          <p:nvPr/>
        </p:nvSpPr>
        <p:spPr>
          <a:xfrm>
            <a:off x="6035040" y="21854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5" name="Text 13"/>
          <p:cNvSpPr txBox="1"/>
          <p:nvPr/>
        </p:nvSpPr>
        <p:spPr>
          <a:xfrm>
            <a:off x="6629400" y="2039112"/>
            <a:ext cx="4846320" cy="292608"/>
          </a:xfrm>
          <a:prstGeom prst="rect">
            <a:avLst/>
          </a:prstGeom>
          <a:noFill/>
          <a:ln/>
        </p:spPr>
        <p:txBody>
          <a:bodyPr wrap="square" lIns="0" tIns="0" rIns="0" bIns="0" rtlCol="0" anchor="ctr"/>
          <a:lstStyle/>
          <a:p>
            <a:pPr indent="0" marL="0">
              <a:buNone/>
            </a:pPr>
            <a:r>
              <a:rPr lang="en-US" sz="1300" b="1" dirty="0">
                <a:solidFill>
                  <a:srgbClr val="1E293B"/>
                </a:solidFill>
                <a:latin typeface="Arial" pitchFamily="34" charset="0"/>
                <a:ea typeface="Arial" pitchFamily="34" charset="-122"/>
                <a:cs typeface="Arial" pitchFamily="34" charset="-120"/>
              </a:rPr>
              <a:t>Chuyển sang YCrCb</a:t>
            </a:r>
            <a:endParaRPr lang="en-US" sz="1300" dirty="0"/>
          </a:p>
        </p:txBody>
      </p:sp>
      <p:sp>
        <p:nvSpPr>
          <p:cNvPr id="16" name="Text 14"/>
          <p:cNvSpPr txBox="1"/>
          <p:nvPr/>
        </p:nvSpPr>
        <p:spPr>
          <a:xfrm>
            <a:off x="6629400" y="2331720"/>
            <a:ext cx="4846320" cy="411480"/>
          </a:xfrm>
          <a:prstGeom prst="rect">
            <a:avLst/>
          </a:prstGeom>
          <a:noFill/>
          <a:ln/>
        </p:spPr>
        <p:txBody>
          <a:bodyPr wrap="square" lIns="0" tIns="0" rIns="0" bIns="0" rtlCol="0" anchor="t"/>
          <a:lstStyle/>
          <a:p>
            <a:pPr indent="0" marL="0">
              <a:buNone/>
            </a:pPr>
            <a:r>
              <a:rPr lang="en-US" sz="1150" dirty="0">
                <a:solidFill>
                  <a:srgbClr val="5B6770"/>
                </a:solidFill>
                <a:latin typeface="Arial" pitchFamily="34" charset="0"/>
                <a:ea typeface="Arial" pitchFamily="34" charset="-122"/>
                <a:cs typeface="Arial" pitchFamily="34" charset="-120"/>
              </a:rPr>
              <a:t>Tách riêng kênh độ sáng Y khỏi hai kênh màu Cr, Cb</a:t>
            </a:r>
            <a:endParaRPr lang="en-US" sz="1150" dirty="0"/>
          </a:p>
        </p:txBody>
      </p:sp>
      <p:sp>
        <p:nvSpPr>
          <p:cNvPr id="17" name="Shape 15"/>
          <p:cNvSpPr/>
          <p:nvPr/>
        </p:nvSpPr>
        <p:spPr>
          <a:xfrm>
            <a:off x="5852160" y="2898648"/>
            <a:ext cx="5760720" cy="822960"/>
          </a:xfrm>
          <a:prstGeom prst="rect">
            <a:avLst/>
          </a:prstGeom>
          <a:solidFill>
            <a:srgbClr val="F3F6F9"/>
          </a:solidFill>
          <a:ln w="9525">
            <a:solidFill>
              <a:srgbClr val="D9E1E8"/>
            </a:solidFill>
            <a:prstDash val="solid"/>
          </a:ln>
        </p:spPr>
      </p:sp>
      <p:sp>
        <p:nvSpPr>
          <p:cNvPr id="18" name="Shape 16"/>
          <p:cNvSpPr/>
          <p:nvPr/>
        </p:nvSpPr>
        <p:spPr>
          <a:xfrm>
            <a:off x="6035040" y="3118104"/>
            <a:ext cx="384048" cy="384048"/>
          </a:xfrm>
          <a:prstGeom prst="ellipse">
            <a:avLst/>
          </a:prstGeom>
          <a:solidFill>
            <a:srgbClr val="2A9D8F"/>
          </a:solidFill>
          <a:ln w="12700">
            <a:solidFill>
              <a:srgbClr val="2A9D8F"/>
            </a:solidFill>
            <a:prstDash val="solid"/>
          </a:ln>
        </p:spPr>
      </p:sp>
      <p:sp>
        <p:nvSpPr>
          <p:cNvPr id="19" name="Text 17"/>
          <p:cNvSpPr txBox="1"/>
          <p:nvPr/>
        </p:nvSpPr>
        <p:spPr>
          <a:xfrm>
            <a:off x="6035040" y="311810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20" name="Text 18"/>
          <p:cNvSpPr txBox="1"/>
          <p:nvPr/>
        </p:nvSpPr>
        <p:spPr>
          <a:xfrm>
            <a:off x="6629400" y="2971800"/>
            <a:ext cx="4846320" cy="292608"/>
          </a:xfrm>
          <a:prstGeom prst="rect">
            <a:avLst/>
          </a:prstGeom>
          <a:noFill/>
          <a:ln/>
        </p:spPr>
        <p:txBody>
          <a:bodyPr wrap="square" lIns="0" tIns="0" rIns="0" bIns="0" rtlCol="0" anchor="ctr"/>
          <a:lstStyle/>
          <a:p>
            <a:pPr indent="0" marL="0">
              <a:buNone/>
            </a:pPr>
            <a:r>
              <a:rPr lang="en-US" sz="1300" b="1" dirty="0">
                <a:solidFill>
                  <a:srgbClr val="1E293B"/>
                </a:solidFill>
                <a:latin typeface="Arial" pitchFamily="34" charset="0"/>
                <a:ea typeface="Arial" pitchFamily="34" charset="-122"/>
                <a:cs typeface="Arial" pitchFamily="34" charset="-120"/>
              </a:rPr>
              <a:t>Cắt ngưỡng phân vị</a:t>
            </a:r>
            <a:endParaRPr lang="en-US" sz="1300" dirty="0"/>
          </a:p>
        </p:txBody>
      </p:sp>
      <p:sp>
        <p:nvSpPr>
          <p:cNvPr id="21" name="Text 19"/>
          <p:cNvSpPr txBox="1"/>
          <p:nvPr/>
        </p:nvSpPr>
        <p:spPr>
          <a:xfrm>
            <a:off x="6629400" y="3264408"/>
            <a:ext cx="4846320" cy="411480"/>
          </a:xfrm>
          <a:prstGeom prst="rect">
            <a:avLst/>
          </a:prstGeom>
          <a:noFill/>
          <a:ln/>
        </p:spPr>
        <p:txBody>
          <a:bodyPr wrap="square" lIns="0" tIns="0" rIns="0" bIns="0" rtlCol="0" anchor="t"/>
          <a:lstStyle/>
          <a:p>
            <a:pPr indent="0" marL="0">
              <a:buNone/>
            </a:pPr>
            <a:r>
              <a:rPr lang="en-US" sz="1150" dirty="0">
                <a:solidFill>
                  <a:srgbClr val="5B6770"/>
                </a:solidFill>
                <a:latin typeface="Arial" pitchFamily="34" charset="0"/>
                <a:ea typeface="Arial" pitchFamily="34" charset="-122"/>
                <a:cs typeface="Arial" pitchFamily="34" charset="-120"/>
              </a:rPr>
              <a:t>Giá trị &lt; P1% đưa về 0, &gt; P99% đưa về 255, triệt tiêu điểm nhiễu đơn lẻ</a:t>
            </a:r>
            <a:endParaRPr lang="en-US" sz="1150" dirty="0"/>
          </a:p>
        </p:txBody>
      </p:sp>
      <p:sp>
        <p:nvSpPr>
          <p:cNvPr id="22" name="Shape 20"/>
          <p:cNvSpPr/>
          <p:nvPr/>
        </p:nvSpPr>
        <p:spPr>
          <a:xfrm>
            <a:off x="5852160" y="3831336"/>
            <a:ext cx="5760720" cy="822960"/>
          </a:xfrm>
          <a:prstGeom prst="rect">
            <a:avLst/>
          </a:prstGeom>
          <a:solidFill>
            <a:srgbClr val="F3F6F9"/>
          </a:solidFill>
          <a:ln w="9525">
            <a:solidFill>
              <a:srgbClr val="D9E1E8"/>
            </a:solidFill>
            <a:prstDash val="solid"/>
          </a:ln>
        </p:spPr>
      </p:sp>
      <p:sp>
        <p:nvSpPr>
          <p:cNvPr id="23" name="Shape 21"/>
          <p:cNvSpPr/>
          <p:nvPr/>
        </p:nvSpPr>
        <p:spPr>
          <a:xfrm>
            <a:off x="6035040" y="4050792"/>
            <a:ext cx="384048" cy="384048"/>
          </a:xfrm>
          <a:prstGeom prst="ellipse">
            <a:avLst/>
          </a:prstGeom>
          <a:solidFill>
            <a:srgbClr val="2A9D8F"/>
          </a:solidFill>
          <a:ln w="12700">
            <a:solidFill>
              <a:srgbClr val="2A9D8F"/>
            </a:solidFill>
            <a:prstDash val="solid"/>
          </a:ln>
        </p:spPr>
      </p:sp>
      <p:sp>
        <p:nvSpPr>
          <p:cNvPr id="24" name="Text 22"/>
          <p:cNvSpPr txBox="1"/>
          <p:nvPr/>
        </p:nvSpPr>
        <p:spPr>
          <a:xfrm>
            <a:off x="6035040" y="40507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25" name="Text 23"/>
          <p:cNvSpPr txBox="1"/>
          <p:nvPr/>
        </p:nvSpPr>
        <p:spPr>
          <a:xfrm>
            <a:off x="6629400" y="3904488"/>
            <a:ext cx="4846320" cy="292608"/>
          </a:xfrm>
          <a:prstGeom prst="rect">
            <a:avLst/>
          </a:prstGeom>
          <a:noFill/>
          <a:ln/>
        </p:spPr>
        <p:txBody>
          <a:bodyPr wrap="square" lIns="0" tIns="0" rIns="0" bIns="0" rtlCol="0" anchor="ctr"/>
          <a:lstStyle/>
          <a:p>
            <a:pPr indent="0" marL="0">
              <a:buNone/>
            </a:pPr>
            <a:r>
              <a:rPr lang="en-US" sz="1300" b="1" dirty="0">
                <a:solidFill>
                  <a:srgbClr val="1E293B"/>
                </a:solidFill>
                <a:latin typeface="Arial" pitchFamily="34" charset="0"/>
                <a:ea typeface="Arial" pitchFamily="34" charset="-122"/>
                <a:cs typeface="Arial" pitchFamily="34" charset="-120"/>
              </a:rPr>
              <a:t>Kéo giãn kênh Y</a:t>
            </a:r>
            <a:endParaRPr lang="en-US" sz="1300" dirty="0"/>
          </a:p>
        </p:txBody>
      </p:sp>
      <p:sp>
        <p:nvSpPr>
          <p:cNvPr id="26" name="Text 24"/>
          <p:cNvSpPr txBox="1"/>
          <p:nvPr/>
        </p:nvSpPr>
        <p:spPr>
          <a:xfrm>
            <a:off x="6629400" y="4197096"/>
            <a:ext cx="4846320" cy="411480"/>
          </a:xfrm>
          <a:prstGeom prst="rect">
            <a:avLst/>
          </a:prstGeom>
          <a:noFill/>
          <a:ln/>
        </p:spPr>
        <p:txBody>
          <a:bodyPr wrap="square" lIns="0" tIns="0" rIns="0" bIns="0" rtlCol="0" anchor="t"/>
          <a:lstStyle/>
          <a:p>
            <a:pPr indent="0" marL="0">
              <a:buNone/>
            </a:pPr>
            <a:r>
              <a:rPr lang="en-US" sz="1150" dirty="0">
                <a:solidFill>
                  <a:srgbClr val="5B6770"/>
                </a:solidFill>
                <a:latin typeface="Arial" pitchFamily="34" charset="0"/>
                <a:ea typeface="Arial" pitchFamily="34" charset="-122"/>
                <a:cs typeface="Arial" pitchFamily="34" charset="-120"/>
              </a:rPr>
              <a:t>Ánh xạ tuyến tính khoảng [P1%, P99%] để trải kín dải [0, 255]</a:t>
            </a:r>
            <a:endParaRPr lang="en-US" sz="1150" dirty="0"/>
          </a:p>
        </p:txBody>
      </p:sp>
      <p:sp>
        <p:nvSpPr>
          <p:cNvPr id="27" name="Shape 25"/>
          <p:cNvSpPr/>
          <p:nvPr/>
        </p:nvSpPr>
        <p:spPr>
          <a:xfrm>
            <a:off x="5852160" y="4764024"/>
            <a:ext cx="5760720" cy="822960"/>
          </a:xfrm>
          <a:prstGeom prst="rect">
            <a:avLst/>
          </a:prstGeom>
          <a:solidFill>
            <a:srgbClr val="F3F6F9"/>
          </a:solidFill>
          <a:ln w="9525">
            <a:solidFill>
              <a:srgbClr val="D9E1E8"/>
            </a:solidFill>
            <a:prstDash val="solid"/>
          </a:ln>
        </p:spPr>
      </p:sp>
      <p:sp>
        <p:nvSpPr>
          <p:cNvPr id="28" name="Shape 26"/>
          <p:cNvSpPr/>
          <p:nvPr/>
        </p:nvSpPr>
        <p:spPr>
          <a:xfrm>
            <a:off x="6035040" y="4983480"/>
            <a:ext cx="384048" cy="384048"/>
          </a:xfrm>
          <a:prstGeom prst="ellipse">
            <a:avLst/>
          </a:prstGeom>
          <a:solidFill>
            <a:srgbClr val="2A9D8F"/>
          </a:solidFill>
          <a:ln w="12700">
            <a:solidFill>
              <a:srgbClr val="2A9D8F"/>
            </a:solidFill>
            <a:prstDash val="solid"/>
          </a:ln>
        </p:spPr>
      </p:sp>
      <p:sp>
        <p:nvSpPr>
          <p:cNvPr id="29" name="Text 27"/>
          <p:cNvSpPr txBox="1"/>
          <p:nvPr/>
        </p:nvSpPr>
        <p:spPr>
          <a:xfrm>
            <a:off x="6035040" y="49834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30" name="Text 28"/>
          <p:cNvSpPr txBox="1"/>
          <p:nvPr/>
        </p:nvSpPr>
        <p:spPr>
          <a:xfrm>
            <a:off x="6629400" y="4837176"/>
            <a:ext cx="4846320" cy="292608"/>
          </a:xfrm>
          <a:prstGeom prst="rect">
            <a:avLst/>
          </a:prstGeom>
          <a:noFill/>
          <a:ln/>
        </p:spPr>
        <p:txBody>
          <a:bodyPr wrap="square" lIns="0" tIns="0" rIns="0" bIns="0" rtlCol="0" anchor="ctr"/>
          <a:lstStyle/>
          <a:p>
            <a:pPr indent="0" marL="0">
              <a:buNone/>
            </a:pPr>
            <a:r>
              <a:rPr lang="en-US" sz="1300" b="1" dirty="0">
                <a:solidFill>
                  <a:srgbClr val="1E293B"/>
                </a:solidFill>
                <a:latin typeface="Arial" pitchFamily="34" charset="0"/>
                <a:ea typeface="Arial" pitchFamily="34" charset="-122"/>
                <a:cs typeface="Arial" pitchFamily="34" charset="-120"/>
              </a:rPr>
              <a:t>Tái cấu trúc RGB</a:t>
            </a:r>
            <a:endParaRPr lang="en-US" sz="1300" dirty="0"/>
          </a:p>
        </p:txBody>
      </p:sp>
      <p:sp>
        <p:nvSpPr>
          <p:cNvPr id="31" name="Text 29"/>
          <p:cNvSpPr txBox="1"/>
          <p:nvPr/>
        </p:nvSpPr>
        <p:spPr>
          <a:xfrm>
            <a:off x="6629400" y="5129784"/>
            <a:ext cx="4846320" cy="411480"/>
          </a:xfrm>
          <a:prstGeom prst="rect">
            <a:avLst/>
          </a:prstGeom>
          <a:noFill/>
          <a:ln/>
        </p:spPr>
        <p:txBody>
          <a:bodyPr wrap="square" lIns="0" tIns="0" rIns="0" bIns="0" rtlCol="0" anchor="t"/>
          <a:lstStyle/>
          <a:p>
            <a:pPr indent="0" marL="0">
              <a:buNone/>
            </a:pPr>
            <a:r>
              <a:rPr lang="en-US" sz="1150" dirty="0">
                <a:solidFill>
                  <a:srgbClr val="5B6770"/>
                </a:solidFill>
                <a:latin typeface="Arial" pitchFamily="34" charset="0"/>
                <a:ea typeface="Arial" pitchFamily="34" charset="-122"/>
                <a:cs typeface="Arial" pitchFamily="34" charset="-120"/>
              </a:rPr>
              <a:t>Ghép Y đã xử lý với Cr, Cb gốc để đưa vào CNN, giữ nguyên màu da tay</a:t>
            </a:r>
            <a:endParaRPr lang="en-US" sz="1150" dirty="0"/>
          </a:p>
        </p:txBody>
      </p:sp>
      <p:sp>
        <p:nvSpPr>
          <p:cNvPr id="32" name="Text 30"/>
          <p:cNvSpPr txBox="1"/>
          <p:nvPr/>
        </p:nvSpPr>
        <p:spPr>
          <a:xfrm>
            <a:off x="548640" y="4251960"/>
            <a:ext cx="4937760" cy="731520"/>
          </a:xfrm>
          <a:prstGeom prst="rect">
            <a:avLst/>
          </a:prstGeom>
          <a:noFill/>
          <a:ln/>
        </p:spPr>
        <p:txBody>
          <a:bodyPr wrap="square" lIns="0" tIns="0" rIns="0" bIns="0" rtlCol="0" anchor="t"/>
          <a:lstStyle/>
          <a:p>
            <a:pPr indent="0" marL="0">
              <a:buNone/>
            </a:pPr>
            <a:r>
              <a:rPr lang="en-US" sz="1200" dirty="0">
                <a:solidFill>
                  <a:srgbClr val="5B6770"/>
                </a:solidFill>
                <a:latin typeface="Arial" pitchFamily="34" charset="0"/>
                <a:ea typeface="Arial" pitchFamily="34" charset="-122"/>
                <a:cs typeface="Arial" pitchFamily="34" charset="-120"/>
              </a:rPr>
              <a:t>Bảo toàn màu sắc: chỉ can thiệp vào kênh Y; Cr và Cb giữ nguyên nhằm hạn chế sai lệch màu da tay.</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1F3A5F"/>
          </a:solidFill>
          <a:ln w="12700">
            <a:solidFill>
              <a:srgbClr val="1F3A5F"/>
            </a:solidFill>
            <a:prstDash val="solid"/>
          </a:ln>
        </p:spPr>
      </p:sp>
      <p:sp>
        <p:nvSpPr>
          <p:cNvPr id="3" name="Text 1"/>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2600" b="1" dirty="0">
                <a:solidFill>
                  <a:srgbClr val="1F3A5F"/>
                </a:solidFill>
                <a:latin typeface="Arial" pitchFamily="34" charset="0"/>
                <a:ea typeface="Arial" pitchFamily="34" charset="-122"/>
                <a:cs typeface="Arial" pitchFamily="34" charset="-120"/>
              </a:rPr>
              <a:t>Phương pháp 2: Cân bằng lược đồ (Histogram Equalization)</a:t>
            </a:r>
            <a:endParaRPr lang="en-US" sz="2600" dirty="0"/>
          </a:p>
        </p:txBody>
      </p:sp>
      <p:sp>
        <p:nvSpPr>
          <p:cNvPr id="4" name="Text 2"/>
          <p:cNvSpPr txBox="1"/>
          <p:nvPr/>
        </p:nvSpPr>
        <p:spPr>
          <a:xfrm>
            <a:off x="548640" y="1024128"/>
            <a:ext cx="11064240" cy="365760"/>
          </a:xfrm>
          <a:prstGeom prst="rect">
            <a:avLst/>
          </a:prstGeom>
          <a:noFill/>
          <a:ln/>
        </p:spPr>
        <p:txBody>
          <a:bodyPr wrap="square" lIns="0" tIns="0" rIns="0" bIns="0" rtlCol="0" anchor="ctr"/>
          <a:lstStyle/>
          <a:p>
            <a:pPr indent="0" marL="0">
              <a:buNone/>
            </a:pPr>
            <a:r>
              <a:rPr lang="en-US" sz="1400" dirty="0">
                <a:solidFill>
                  <a:srgbClr val="5B6770"/>
                </a:solidFill>
                <a:latin typeface="Arial" pitchFamily="34" charset="0"/>
                <a:ea typeface="Arial" pitchFamily="34" charset="-122"/>
                <a:cs typeface="Arial" pitchFamily="34" charset="-120"/>
              </a:rPr>
              <a:t>Tái phân bố mức cường độ kênh Y dựa trên hàm phân phối tích lũy (CDF)</a:t>
            </a:r>
            <a:endParaRPr lang="en-US" sz="1400" dirty="0"/>
          </a:p>
        </p:txBody>
      </p:sp>
      <p:sp>
        <p:nvSpPr>
          <p:cNvPr id="5" name="Text 3"/>
          <p:cNvSpPr txBox="1"/>
          <p:nvPr/>
        </p:nvSpPr>
        <p:spPr>
          <a:xfrm>
            <a:off x="11155680" y="6355080"/>
            <a:ext cx="640080" cy="274320"/>
          </a:xfrm>
          <a:prstGeom prst="rect">
            <a:avLst/>
          </a:prstGeom>
          <a:noFill/>
          <a:ln/>
        </p:spPr>
        <p:txBody>
          <a:bodyPr wrap="square" lIns="0" tIns="0" rIns="0" bIns="0" rtlCol="0" anchor="ctr"/>
          <a:lstStyle/>
          <a:p>
            <a:pPr algn="r" indent="0" marL="0">
              <a:buNone/>
            </a:pPr>
            <a:r>
              <a:rPr lang="en-US" sz="1000" dirty="0">
                <a:solidFill>
                  <a:srgbClr val="5B6770"/>
                </a:solidFill>
                <a:latin typeface="Arial" pitchFamily="34" charset="0"/>
                <a:ea typeface="Arial" pitchFamily="34" charset="-122"/>
                <a:cs typeface="Arial" pitchFamily="34" charset="-120"/>
              </a:rPr>
              <a:t>05</a:t>
            </a:r>
            <a:endParaRPr lang="en-US" sz="1000" dirty="0"/>
          </a:p>
        </p:txBody>
      </p:sp>
      <p:graphicFrame>
        <p:nvGraphicFramePr>
          <p:cNvPr id="6" name="Chart 0" descr=""/>
          <p:cNvGraphicFramePr/>
          <p:nvPr/>
        </p:nvGraphicFramePr>
        <p:xfrm>
          <a:off x="548640" y="1600200"/>
          <a:ext cx="5440680" cy="2514600"/>
        </p:xfrm>
        <a:graphic xmlns:a="http://schemas.openxmlformats.org/drawingml/2006/main">
          <a:graphicData uri="http://schemas.openxmlformats.org/drawingml/2006/chart">
            <c:chart xmlns:c="http://schemas.openxmlformats.org/drawingml/2006/chart" r:id="rId1"/>
          </a:graphicData>
        </a:graphic>
      </p:graphicFrame>
      <p:graphicFrame>
        <p:nvGraphicFramePr>
          <p:cNvPr id="7" name="Chart 1" descr=""/>
          <p:cNvGraphicFramePr/>
          <p:nvPr/>
        </p:nvGraphicFramePr>
        <p:xfrm>
          <a:off x="6172200" y="1600200"/>
          <a:ext cx="5440680" cy="2514600"/>
        </p:xfrm>
        <a:graphic xmlns:a="http://schemas.openxmlformats.org/drawingml/2006/main">
          <a:graphicData uri="http://schemas.openxmlformats.org/drawingml/2006/chart">
            <c:chart xmlns:c="http://schemas.openxmlformats.org/drawingml/2006/chart" r:id="rId2"/>
          </a:graphicData>
        </a:graphic>
      </p:graphicFrame>
      <p:sp>
        <p:nvSpPr>
          <p:cNvPr id="8" name="Shape 4"/>
          <p:cNvSpPr/>
          <p:nvPr/>
        </p:nvSpPr>
        <p:spPr>
          <a:xfrm>
            <a:off x="548640" y="4297680"/>
            <a:ext cx="5440680" cy="1783080"/>
          </a:xfrm>
          <a:prstGeom prst="rect">
            <a:avLst/>
          </a:prstGeom>
          <a:solidFill>
            <a:srgbClr val="EEF5FB"/>
          </a:solidFill>
          <a:ln w="9525">
            <a:solidFill>
              <a:srgbClr val="1F3A5F"/>
            </a:solidFill>
            <a:prstDash val="solid"/>
          </a:ln>
        </p:spPr>
      </p:sp>
      <p:sp>
        <p:nvSpPr>
          <p:cNvPr id="9" name="Text 5"/>
          <p:cNvSpPr txBox="1"/>
          <p:nvPr/>
        </p:nvSpPr>
        <p:spPr>
          <a:xfrm>
            <a:off x="777240" y="4407408"/>
            <a:ext cx="5029200" cy="274320"/>
          </a:xfrm>
          <a:prstGeom prst="rect">
            <a:avLst/>
          </a:prstGeom>
          <a:noFill/>
          <a:ln/>
        </p:spPr>
        <p:txBody>
          <a:bodyPr wrap="square" lIns="0" tIns="0" rIns="0" bIns="0" rtlCol="0" anchor="ctr"/>
          <a:lstStyle/>
          <a:p>
            <a:pPr indent="0" marL="0">
              <a:buNone/>
            </a:pPr>
            <a:r>
              <a:rPr lang="en-US" sz="1100" b="1" spc="100" kern="0" dirty="0">
                <a:solidFill>
                  <a:srgbClr val="1F3A5F"/>
                </a:solidFill>
                <a:latin typeface="Arial" pitchFamily="34" charset="0"/>
                <a:ea typeface="Arial" pitchFamily="34" charset="-122"/>
                <a:cs typeface="Arial" pitchFamily="34" charset="-120"/>
              </a:rPr>
              <a:t>CÔNG THỨC XÁC SUẤT VÀ ÁNH XẠ CDF</a:t>
            </a:r>
            <a:endParaRPr lang="en-US" sz="1100" dirty="0"/>
          </a:p>
        </p:txBody>
      </p:sp>
      <p:sp>
        <p:nvSpPr>
          <p:cNvPr id="10" name="Text 6"/>
          <p:cNvSpPr txBox="1"/>
          <p:nvPr/>
        </p:nvSpPr>
        <p:spPr>
          <a:xfrm>
            <a:off x="777240" y="4754880"/>
            <a:ext cx="5029200" cy="685800"/>
          </a:xfrm>
          <a:prstGeom prst="rect">
            <a:avLst/>
          </a:prstGeom>
          <a:noFill/>
          <a:ln/>
        </p:spPr>
        <p:txBody>
          <a:bodyPr wrap="square" lIns="0" tIns="0" rIns="0" bIns="0" rtlCol="0" anchor="t"/>
          <a:lstStyle/>
          <a:p>
            <a:pPr indent="0" marL="0">
              <a:spcAft>
                <a:spcPts val="600"/>
              </a:spcAft>
              <a:buNone/>
            </a:pPr>
            <a:r>
              <a:rPr lang="en-US" sz="1400" b="1" dirty="0">
                <a:solidFill>
                  <a:srgbClr val="1E293B"/>
                </a:solidFill>
                <a:latin typeface="Courier New" pitchFamily="34" charset="0"/>
                <a:ea typeface="Courier New" pitchFamily="34" charset="-122"/>
                <a:cs typeface="Courier New" pitchFamily="34" charset="-120"/>
              </a:rPr>
              <a:t>p_r(r_k) = n_k / N</a:t>
            </a:r>
            <a:endParaRPr lang="en-US" sz="1400" dirty="0"/>
          </a:p>
          <a:p>
            <a:pPr indent="0" marL="0">
              <a:spcAft>
                <a:spcPts val="600"/>
              </a:spcAft>
              <a:buNone/>
            </a:pPr>
            <a:r>
              <a:rPr lang="en-US" sz="1400" b="1" dirty="0">
                <a:solidFill>
                  <a:srgbClr val="1E293B"/>
                </a:solidFill>
                <a:latin typeface="Courier New" pitchFamily="34" charset="0"/>
                <a:ea typeface="Courier New" pitchFamily="34" charset="-122"/>
                <a:cs typeface="Courier New" pitchFamily="34" charset="-120"/>
              </a:rPr>
              <a:t>s_k = ((L − 1) / N) × Σ(j=0..k) n_j</a:t>
            </a:r>
            <a:endParaRPr lang="en-US" sz="1400" dirty="0"/>
          </a:p>
        </p:txBody>
      </p:sp>
      <p:sp>
        <p:nvSpPr>
          <p:cNvPr id="11" name="Text 7"/>
          <p:cNvSpPr txBox="1"/>
          <p:nvPr/>
        </p:nvSpPr>
        <p:spPr>
          <a:xfrm>
            <a:off x="777240" y="5532120"/>
            <a:ext cx="5029200" cy="365760"/>
          </a:xfrm>
          <a:prstGeom prst="rect">
            <a:avLst/>
          </a:prstGeom>
          <a:noFill/>
          <a:ln/>
        </p:spPr>
        <p:txBody>
          <a:bodyPr wrap="square" lIns="0" tIns="0" rIns="0" bIns="0" rtlCol="0" anchor="t"/>
          <a:lstStyle/>
          <a:p>
            <a:pPr indent="0" marL="0">
              <a:buNone/>
            </a:pPr>
            <a:r>
              <a:rPr lang="en-US" sz="1150" dirty="0">
                <a:solidFill>
                  <a:srgbClr val="5B6770"/>
                </a:solidFill>
                <a:latin typeface="Arial" pitchFamily="34" charset="0"/>
                <a:ea typeface="Arial" pitchFamily="34" charset="-122"/>
                <a:cs typeface="Arial" pitchFamily="34" charset="-120"/>
              </a:rPr>
              <a:t>n_k: số pixel mức k;  N = 10.000 (100×100);  L = 256 mức xám</a:t>
            </a:r>
            <a:endParaRPr lang="en-US" sz="1150" dirty="0"/>
          </a:p>
        </p:txBody>
      </p:sp>
      <p:sp>
        <p:nvSpPr>
          <p:cNvPr id="12" name="Shape 8"/>
          <p:cNvSpPr/>
          <p:nvPr/>
        </p:nvSpPr>
        <p:spPr>
          <a:xfrm>
            <a:off x="6172200" y="4297680"/>
            <a:ext cx="5440680" cy="1783080"/>
          </a:xfrm>
          <a:prstGeom prst="rect">
            <a:avLst/>
          </a:prstGeom>
          <a:solidFill>
            <a:srgbClr val="F3F6F9"/>
          </a:solidFill>
          <a:ln w="9525">
            <a:solidFill>
              <a:srgbClr val="D9E1E8"/>
            </a:solidFill>
            <a:prstDash val="solid"/>
          </a:ln>
        </p:spPr>
      </p:sp>
      <p:sp>
        <p:nvSpPr>
          <p:cNvPr id="13" name="Text 9"/>
          <p:cNvSpPr txBox="1"/>
          <p:nvPr/>
        </p:nvSpPr>
        <p:spPr>
          <a:xfrm>
            <a:off x="6400800" y="4407408"/>
            <a:ext cx="5029200" cy="274320"/>
          </a:xfrm>
          <a:prstGeom prst="rect">
            <a:avLst/>
          </a:prstGeom>
          <a:noFill/>
          <a:ln/>
        </p:spPr>
        <p:txBody>
          <a:bodyPr wrap="square" lIns="0" tIns="0" rIns="0" bIns="0" rtlCol="0" anchor="ctr"/>
          <a:lstStyle/>
          <a:p>
            <a:pPr indent="0" marL="0">
              <a:buNone/>
            </a:pPr>
            <a:r>
              <a:rPr lang="en-US" sz="1100" b="1" spc="100" kern="0" dirty="0">
                <a:solidFill>
                  <a:srgbClr val="2A9D8F"/>
                </a:solidFill>
                <a:latin typeface="Arial" pitchFamily="34" charset="0"/>
                <a:ea typeface="Arial" pitchFamily="34" charset="-122"/>
                <a:cs typeface="Arial" pitchFamily="34" charset="-120"/>
              </a:rPr>
              <a:t>CƠ CHẾ VÀ TÁC DỤNG PHỤ</a:t>
            </a:r>
            <a:endParaRPr lang="en-US" sz="1100" dirty="0"/>
          </a:p>
        </p:txBody>
      </p:sp>
      <p:sp>
        <p:nvSpPr>
          <p:cNvPr id="14" name="Text 10"/>
          <p:cNvSpPr txBox="1"/>
          <p:nvPr/>
        </p:nvSpPr>
        <p:spPr>
          <a:xfrm>
            <a:off x="6400800" y="4754880"/>
            <a:ext cx="5029200" cy="1234440"/>
          </a:xfrm>
          <a:prstGeom prst="rect">
            <a:avLst/>
          </a:prstGeom>
          <a:noFill/>
          <a:ln/>
        </p:spPr>
        <p:txBody>
          <a:bodyPr wrap="square" lIns="0" tIns="0" rIns="0" bIns="0" rtlCol="0" anchor="t"/>
          <a:lstStyle/>
          <a:p>
            <a:pPr indent="0" marL="0">
              <a:spcAft>
                <a:spcPts val="600"/>
              </a:spcAft>
              <a:buNone/>
            </a:pPr>
            <a:r>
              <a:rPr lang="en-US" sz="1250" b="1" dirty="0">
                <a:solidFill>
                  <a:srgbClr val="1E293B"/>
                </a:solidFill>
                <a:latin typeface="Arial" pitchFamily="34" charset="0"/>
                <a:ea typeface="Arial" pitchFamily="34" charset="-122"/>
                <a:cs typeface="Arial" pitchFamily="34" charset="-120"/>
              </a:rPr>
              <a:t>San phẳng lược đồ: </a:t>
            </a:r>
            <a:pPr indent="0" marL="0">
              <a:spcAft>
                <a:spcPts val="600"/>
              </a:spcAft>
              <a:buNone/>
            </a:pPr>
            <a:r>
              <a:rPr lang="en-US" sz="1250" dirty="0">
                <a:solidFill>
                  <a:srgbClr val="5B6770"/>
                </a:solidFill>
                <a:latin typeface="Arial" pitchFamily="34" charset="0"/>
                <a:ea typeface="Arial" pitchFamily="34" charset="-122"/>
                <a:cs typeface="Arial" pitchFamily="34" charset="-120"/>
              </a:rPr>
              <a:t>mức xám nén hẹp được trải đều trên [0, 255]</a:t>
            </a:r>
            <a:endParaRPr lang="en-US" sz="1250" dirty="0"/>
          </a:p>
          <a:p>
            <a:pPr indent="0" marL="0">
              <a:spcAft>
                <a:spcPts val="600"/>
              </a:spcAft>
              <a:buNone/>
            </a:pPr>
            <a:r>
              <a:rPr lang="en-US" sz="1250" b="1" dirty="0">
                <a:solidFill>
                  <a:srgbClr val="E76F51"/>
                </a:solidFill>
                <a:latin typeface="Arial" pitchFamily="34" charset="0"/>
                <a:ea typeface="Arial" pitchFamily="34" charset="-122"/>
                <a:cs typeface="Arial" pitchFamily="34" charset="-120"/>
              </a:rPr>
              <a:t>Tác dụng phụ: </a:t>
            </a:r>
            <a:pPr indent="0" marL="0">
              <a:spcAft>
                <a:spcPts val="600"/>
              </a:spcAft>
              <a:buNone/>
            </a:pPr>
            <a:r>
              <a:rPr lang="en-US" sz="1250" dirty="0">
                <a:solidFill>
                  <a:srgbClr val="5B6770"/>
                </a:solidFill>
                <a:latin typeface="Arial" pitchFamily="34" charset="0"/>
                <a:ea typeface="Arial" pitchFamily="34" charset="-122"/>
                <a:cs typeface="Arial" pitchFamily="34" charset="-120"/>
              </a:rPr>
              <a:t>vùng tối tự nhiên bị làm sáng quá mức, bóng đổ giữa các ngón tay mất đi, nhiễu nền bị khuếch đại</a:t>
            </a:r>
            <a:endParaRPr lang="en-US" sz="1250" dirty="0"/>
          </a:p>
        </p:txBody>
      </p:sp>
      <p:sp>
        <p:nvSpPr>
          <p:cNvPr id="15" name="Text 11"/>
          <p:cNvSpPr txBox="1"/>
          <p:nvPr/>
        </p:nvSpPr>
        <p:spPr>
          <a:xfrm>
            <a:off x="548640" y="6144768"/>
            <a:ext cx="10424160" cy="274320"/>
          </a:xfrm>
          <a:prstGeom prst="rect">
            <a:avLst/>
          </a:prstGeom>
          <a:noFill/>
          <a:ln/>
        </p:spPr>
        <p:txBody>
          <a:bodyPr wrap="square" lIns="0" tIns="0" rIns="0" bIns="0" rtlCol="0" anchor="ctr"/>
          <a:lstStyle/>
          <a:p>
            <a:pPr indent="0" marL="0">
              <a:buNone/>
            </a:pPr>
            <a:r>
              <a:rPr lang="en-US" sz="1000" i="1" dirty="0">
                <a:solidFill>
                  <a:srgbClr val="5B6770"/>
                </a:solidFill>
                <a:latin typeface="Arial" pitchFamily="34" charset="0"/>
                <a:ea typeface="Arial" pitchFamily="34" charset="-122"/>
                <a:cs typeface="Arial" pitchFamily="34" charset="-120"/>
              </a:rPr>
              <a:t>Biểu đồ minh họa nguyên lý, dựng từ hàm toán học, không phải đo trên 25 ảnh thực nghiệm. Triển khai: cv2.equalizeHist trên kênh Y.</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1F3A5F"/>
          </a:solidFill>
          <a:ln w="12700">
            <a:solidFill>
              <a:srgbClr val="1F3A5F"/>
            </a:solidFill>
            <a:prstDash val="solid"/>
          </a:ln>
        </p:spPr>
      </p:sp>
      <p:sp>
        <p:nvSpPr>
          <p:cNvPr id="3" name="Text 1"/>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2600" b="1" dirty="0">
                <a:solidFill>
                  <a:srgbClr val="1F3A5F"/>
                </a:solidFill>
                <a:latin typeface="Arial" pitchFamily="34" charset="0"/>
                <a:ea typeface="Arial" pitchFamily="34" charset="-122"/>
                <a:cs typeface="Arial" pitchFamily="34" charset="-120"/>
              </a:rPr>
              <a:t>Kết quả thực nghiệm tổng quan: Độ chính xác và tốc độ</a:t>
            </a:r>
            <a:endParaRPr lang="en-US" sz="2600" dirty="0"/>
          </a:p>
        </p:txBody>
      </p:sp>
      <p:sp>
        <p:nvSpPr>
          <p:cNvPr id="4" name="Text 2"/>
          <p:cNvSpPr txBox="1"/>
          <p:nvPr/>
        </p:nvSpPr>
        <p:spPr>
          <a:xfrm>
            <a:off x="548640" y="1024128"/>
            <a:ext cx="11064240" cy="365760"/>
          </a:xfrm>
          <a:prstGeom prst="rect">
            <a:avLst/>
          </a:prstGeom>
          <a:noFill/>
          <a:ln/>
        </p:spPr>
        <p:txBody>
          <a:bodyPr wrap="square" lIns="0" tIns="0" rIns="0" bIns="0" rtlCol="0" anchor="ctr"/>
          <a:lstStyle/>
          <a:p>
            <a:pPr indent="0" marL="0">
              <a:buNone/>
            </a:pPr>
            <a:r>
              <a:rPr lang="en-US" sz="1400" dirty="0">
                <a:solidFill>
                  <a:srgbClr val="5B6770"/>
                </a:solidFill>
                <a:latin typeface="Arial" pitchFamily="34" charset="0"/>
                <a:ea typeface="Arial" pitchFamily="34" charset="-122"/>
                <a:cs typeface="Arial" pitchFamily="34" charset="-120"/>
              </a:rPr>
              <a:t>Trên tập kiểm thử 25 ảnh ASL, cả hai phương pháp tăng cường tương phản đều cho kết quả thấp hơn ảnh gốc</a:t>
            </a:r>
            <a:endParaRPr lang="en-US" sz="1400" dirty="0"/>
          </a:p>
        </p:txBody>
      </p:sp>
      <p:sp>
        <p:nvSpPr>
          <p:cNvPr id="5" name="Text 3"/>
          <p:cNvSpPr txBox="1"/>
          <p:nvPr/>
        </p:nvSpPr>
        <p:spPr>
          <a:xfrm>
            <a:off x="11155680" y="6355080"/>
            <a:ext cx="640080" cy="274320"/>
          </a:xfrm>
          <a:prstGeom prst="rect">
            <a:avLst/>
          </a:prstGeom>
          <a:noFill/>
          <a:ln/>
        </p:spPr>
        <p:txBody>
          <a:bodyPr wrap="square" lIns="0" tIns="0" rIns="0" bIns="0" rtlCol="0" anchor="ctr"/>
          <a:lstStyle/>
          <a:p>
            <a:pPr algn="r" indent="0" marL="0">
              <a:buNone/>
            </a:pPr>
            <a:r>
              <a:rPr lang="en-US" sz="1000" dirty="0">
                <a:solidFill>
                  <a:srgbClr val="5B6770"/>
                </a:solidFill>
                <a:latin typeface="Arial" pitchFamily="34" charset="0"/>
                <a:ea typeface="Arial" pitchFamily="34" charset="-122"/>
                <a:cs typeface="Arial" pitchFamily="34" charset="-120"/>
              </a:rPr>
              <a:t>06</a:t>
            </a:r>
            <a:endParaRPr lang="en-US" sz="1000" dirty="0"/>
          </a:p>
        </p:txBody>
      </p:sp>
      <p:sp>
        <p:nvSpPr>
          <p:cNvPr id="6" name="Shape 4"/>
          <p:cNvSpPr/>
          <p:nvPr/>
        </p:nvSpPr>
        <p:spPr>
          <a:xfrm>
            <a:off x="548640" y="1645920"/>
            <a:ext cx="4937760" cy="1207008"/>
          </a:xfrm>
          <a:prstGeom prst="rect">
            <a:avLst/>
          </a:prstGeom>
          <a:solidFill>
            <a:srgbClr val="F3F6F9"/>
          </a:solidFill>
          <a:ln w="9525">
            <a:solidFill>
              <a:srgbClr val="D9E1E8"/>
            </a:solidFill>
            <a:prstDash val="solid"/>
          </a:ln>
        </p:spPr>
      </p:sp>
      <p:sp>
        <p:nvSpPr>
          <p:cNvPr id="7" name="Shape 5"/>
          <p:cNvSpPr/>
          <p:nvPr/>
        </p:nvSpPr>
        <p:spPr>
          <a:xfrm>
            <a:off x="548640" y="1645920"/>
            <a:ext cx="82296" cy="1207008"/>
          </a:xfrm>
          <a:prstGeom prst="rect">
            <a:avLst/>
          </a:prstGeom>
          <a:solidFill>
            <a:srgbClr val="1F3A5F"/>
          </a:solidFill>
          <a:ln w="12700">
            <a:solidFill>
              <a:srgbClr val="1F3A5F"/>
            </a:solidFill>
            <a:prstDash val="solid"/>
          </a:ln>
        </p:spPr>
      </p:sp>
      <p:sp>
        <p:nvSpPr>
          <p:cNvPr id="8" name="Text 6"/>
          <p:cNvSpPr txBox="1"/>
          <p:nvPr/>
        </p:nvSpPr>
        <p:spPr>
          <a:xfrm>
            <a:off x="822960" y="1737360"/>
            <a:ext cx="2926080" cy="320040"/>
          </a:xfrm>
          <a:prstGeom prst="rect">
            <a:avLst/>
          </a:prstGeom>
          <a:noFill/>
          <a:ln/>
        </p:spPr>
        <p:txBody>
          <a:bodyPr wrap="square" lIns="0" tIns="0" rIns="0" bIns="0" rtlCol="0" anchor="ctr"/>
          <a:lstStyle/>
          <a:p>
            <a:pPr indent="0" marL="0">
              <a:buNone/>
            </a:pPr>
            <a:r>
              <a:rPr lang="en-US" sz="1300" b="1" dirty="0">
                <a:solidFill>
                  <a:srgbClr val="1E293B"/>
                </a:solidFill>
                <a:latin typeface="Arial" pitchFamily="34" charset="0"/>
                <a:ea typeface="Arial" pitchFamily="34" charset="-122"/>
                <a:cs typeface="Arial" pitchFamily="34" charset="-120"/>
              </a:rPr>
              <a:t>Ảnh gốc (Baseline)</a:t>
            </a:r>
            <a:endParaRPr lang="en-US" sz="1300" dirty="0"/>
          </a:p>
        </p:txBody>
      </p:sp>
      <p:sp>
        <p:nvSpPr>
          <p:cNvPr id="9" name="Text 7"/>
          <p:cNvSpPr txBox="1"/>
          <p:nvPr/>
        </p:nvSpPr>
        <p:spPr>
          <a:xfrm>
            <a:off x="3840480" y="1691640"/>
            <a:ext cx="1554480" cy="502920"/>
          </a:xfrm>
          <a:prstGeom prst="rect">
            <a:avLst/>
          </a:prstGeom>
          <a:noFill/>
          <a:ln/>
        </p:spPr>
        <p:txBody>
          <a:bodyPr wrap="square" lIns="0" tIns="0" rIns="0" bIns="0" rtlCol="0" anchor="ctr"/>
          <a:lstStyle/>
          <a:p>
            <a:pPr algn="r" indent="0" marL="0">
              <a:buNone/>
            </a:pPr>
            <a:r>
              <a:rPr lang="en-US" sz="2800" b="1" dirty="0">
                <a:solidFill>
                  <a:srgbClr val="1F3A5F"/>
                </a:solidFill>
                <a:latin typeface="Arial" pitchFamily="34" charset="0"/>
                <a:ea typeface="Arial" pitchFamily="34" charset="-122"/>
                <a:cs typeface="Arial" pitchFamily="34" charset="-120"/>
              </a:rPr>
              <a:t>100%</a:t>
            </a:r>
            <a:endParaRPr lang="en-US" sz="2800" dirty="0"/>
          </a:p>
        </p:txBody>
      </p:sp>
      <p:sp>
        <p:nvSpPr>
          <p:cNvPr id="10" name="Text 8"/>
          <p:cNvSpPr txBox="1"/>
          <p:nvPr/>
        </p:nvSpPr>
        <p:spPr>
          <a:xfrm>
            <a:off x="822960" y="2194560"/>
            <a:ext cx="4572000" cy="274320"/>
          </a:xfrm>
          <a:prstGeom prst="rect">
            <a:avLst/>
          </a:prstGeom>
          <a:noFill/>
          <a:ln/>
        </p:spPr>
        <p:txBody>
          <a:bodyPr wrap="square" lIns="0" tIns="0" rIns="0" bIns="0" rtlCol="0" anchor="ctr"/>
          <a:lstStyle/>
          <a:p>
            <a:pPr indent="0" marL="0">
              <a:buNone/>
            </a:pPr>
            <a:r>
              <a:rPr lang="en-US" sz="1050" dirty="0">
                <a:solidFill>
                  <a:srgbClr val="5B6770"/>
                </a:solidFill>
                <a:latin typeface="Arial" pitchFamily="34" charset="0"/>
                <a:ea typeface="Arial" pitchFamily="34" charset="-122"/>
                <a:cs typeface="Arial" pitchFamily="34" charset="-120"/>
              </a:rPr>
              <a:t>25 / 25 ảnh đúng  •  Confidence 99,06%</a:t>
            </a:r>
            <a:endParaRPr lang="en-US" sz="1050" dirty="0"/>
          </a:p>
        </p:txBody>
      </p:sp>
      <p:sp>
        <p:nvSpPr>
          <p:cNvPr id="11" name="Text 9"/>
          <p:cNvSpPr txBox="1"/>
          <p:nvPr/>
        </p:nvSpPr>
        <p:spPr>
          <a:xfrm>
            <a:off x="822960" y="2468880"/>
            <a:ext cx="4572000" cy="274320"/>
          </a:xfrm>
          <a:prstGeom prst="rect">
            <a:avLst/>
          </a:prstGeom>
          <a:noFill/>
          <a:ln/>
        </p:spPr>
        <p:txBody>
          <a:bodyPr wrap="square" lIns="0" tIns="0" rIns="0" bIns="0" rtlCol="0" anchor="ctr"/>
          <a:lstStyle/>
          <a:p>
            <a:pPr indent="0" marL="0">
              <a:buNone/>
            </a:pPr>
            <a:r>
              <a:rPr lang="en-US" sz="1050" dirty="0">
                <a:solidFill>
                  <a:srgbClr val="5B6770"/>
                </a:solidFill>
                <a:latin typeface="Arial" pitchFamily="34" charset="0"/>
                <a:ea typeface="Arial" pitchFamily="34" charset="-122"/>
                <a:cs typeface="Arial" pitchFamily="34" charset="-120"/>
              </a:rPr>
              <a:t>Tiền xử lý: 0,24 ms / ảnh</a:t>
            </a:r>
            <a:endParaRPr lang="en-US" sz="1050" dirty="0"/>
          </a:p>
        </p:txBody>
      </p:sp>
      <p:sp>
        <p:nvSpPr>
          <p:cNvPr id="12" name="Shape 10"/>
          <p:cNvSpPr/>
          <p:nvPr/>
        </p:nvSpPr>
        <p:spPr>
          <a:xfrm>
            <a:off x="548640" y="3017520"/>
            <a:ext cx="4937760" cy="1207008"/>
          </a:xfrm>
          <a:prstGeom prst="rect">
            <a:avLst/>
          </a:prstGeom>
          <a:solidFill>
            <a:srgbClr val="F3F6F9"/>
          </a:solidFill>
          <a:ln w="9525">
            <a:solidFill>
              <a:srgbClr val="D9E1E8"/>
            </a:solidFill>
            <a:prstDash val="solid"/>
          </a:ln>
        </p:spPr>
      </p:sp>
      <p:sp>
        <p:nvSpPr>
          <p:cNvPr id="13" name="Shape 11"/>
          <p:cNvSpPr/>
          <p:nvPr/>
        </p:nvSpPr>
        <p:spPr>
          <a:xfrm>
            <a:off x="548640" y="3017520"/>
            <a:ext cx="82296" cy="1207008"/>
          </a:xfrm>
          <a:prstGeom prst="rect">
            <a:avLst/>
          </a:prstGeom>
          <a:solidFill>
            <a:srgbClr val="2A9D8F"/>
          </a:solidFill>
          <a:ln w="12700">
            <a:solidFill>
              <a:srgbClr val="2A9D8F"/>
            </a:solidFill>
            <a:prstDash val="solid"/>
          </a:ln>
        </p:spPr>
      </p:sp>
      <p:sp>
        <p:nvSpPr>
          <p:cNvPr id="14" name="Text 12"/>
          <p:cNvSpPr txBox="1"/>
          <p:nvPr/>
        </p:nvSpPr>
        <p:spPr>
          <a:xfrm>
            <a:off x="822960" y="3108960"/>
            <a:ext cx="2926080" cy="320040"/>
          </a:xfrm>
          <a:prstGeom prst="rect">
            <a:avLst/>
          </a:prstGeom>
          <a:noFill/>
          <a:ln/>
        </p:spPr>
        <p:txBody>
          <a:bodyPr wrap="square" lIns="0" tIns="0" rIns="0" bIns="0" rtlCol="0" anchor="ctr"/>
          <a:lstStyle/>
          <a:p>
            <a:pPr indent="0" marL="0">
              <a:buNone/>
            </a:pPr>
            <a:r>
              <a:rPr lang="en-US" sz="1300" b="1" dirty="0">
                <a:solidFill>
                  <a:srgbClr val="1E293B"/>
                </a:solidFill>
                <a:latin typeface="Arial" pitchFamily="34" charset="0"/>
                <a:ea typeface="Arial" pitchFamily="34" charset="-122"/>
                <a:cs typeface="Arial" pitchFamily="34" charset="-120"/>
              </a:rPr>
              <a:t>Contrast Stretching</a:t>
            </a:r>
            <a:endParaRPr lang="en-US" sz="1300" dirty="0"/>
          </a:p>
        </p:txBody>
      </p:sp>
      <p:sp>
        <p:nvSpPr>
          <p:cNvPr id="15" name="Text 13"/>
          <p:cNvSpPr txBox="1"/>
          <p:nvPr/>
        </p:nvSpPr>
        <p:spPr>
          <a:xfrm>
            <a:off x="3840480" y="3063240"/>
            <a:ext cx="1554480" cy="502920"/>
          </a:xfrm>
          <a:prstGeom prst="rect">
            <a:avLst/>
          </a:prstGeom>
          <a:noFill/>
          <a:ln/>
        </p:spPr>
        <p:txBody>
          <a:bodyPr wrap="square" lIns="0" tIns="0" rIns="0" bIns="0" rtlCol="0" anchor="ctr"/>
          <a:lstStyle/>
          <a:p>
            <a:pPr algn="r" indent="0" marL="0">
              <a:buNone/>
            </a:pPr>
            <a:r>
              <a:rPr lang="en-US" sz="2800" b="1" dirty="0">
                <a:solidFill>
                  <a:srgbClr val="2A9D8F"/>
                </a:solidFill>
                <a:latin typeface="Arial" pitchFamily="34" charset="0"/>
                <a:ea typeface="Arial" pitchFamily="34" charset="-122"/>
                <a:cs typeface="Arial" pitchFamily="34" charset="-120"/>
              </a:rPr>
              <a:t>88%</a:t>
            </a:r>
            <a:endParaRPr lang="en-US" sz="2800" dirty="0"/>
          </a:p>
        </p:txBody>
      </p:sp>
      <p:sp>
        <p:nvSpPr>
          <p:cNvPr id="16" name="Text 14"/>
          <p:cNvSpPr txBox="1"/>
          <p:nvPr/>
        </p:nvSpPr>
        <p:spPr>
          <a:xfrm>
            <a:off x="822960" y="3566160"/>
            <a:ext cx="4572000" cy="274320"/>
          </a:xfrm>
          <a:prstGeom prst="rect">
            <a:avLst/>
          </a:prstGeom>
          <a:noFill/>
          <a:ln/>
        </p:spPr>
        <p:txBody>
          <a:bodyPr wrap="square" lIns="0" tIns="0" rIns="0" bIns="0" rtlCol="0" anchor="ctr"/>
          <a:lstStyle/>
          <a:p>
            <a:pPr indent="0" marL="0">
              <a:buNone/>
            </a:pPr>
            <a:r>
              <a:rPr lang="en-US" sz="1050" dirty="0">
                <a:solidFill>
                  <a:srgbClr val="5B6770"/>
                </a:solidFill>
                <a:latin typeface="Arial" pitchFamily="34" charset="0"/>
                <a:ea typeface="Arial" pitchFamily="34" charset="-122"/>
                <a:cs typeface="Arial" pitchFamily="34" charset="-120"/>
              </a:rPr>
              <a:t>22 / 25 ảnh (giảm 12%)  •  Confidence 93,03%</a:t>
            </a:r>
            <a:endParaRPr lang="en-US" sz="1050" dirty="0"/>
          </a:p>
        </p:txBody>
      </p:sp>
      <p:sp>
        <p:nvSpPr>
          <p:cNvPr id="17" name="Text 15"/>
          <p:cNvSpPr txBox="1"/>
          <p:nvPr/>
        </p:nvSpPr>
        <p:spPr>
          <a:xfrm>
            <a:off x="822960" y="3840480"/>
            <a:ext cx="4572000" cy="274320"/>
          </a:xfrm>
          <a:prstGeom prst="rect">
            <a:avLst/>
          </a:prstGeom>
          <a:noFill/>
          <a:ln/>
        </p:spPr>
        <p:txBody>
          <a:bodyPr wrap="square" lIns="0" tIns="0" rIns="0" bIns="0" rtlCol="0" anchor="ctr"/>
          <a:lstStyle/>
          <a:p>
            <a:pPr indent="0" marL="0">
              <a:buNone/>
            </a:pPr>
            <a:r>
              <a:rPr lang="en-US" sz="1050" dirty="0">
                <a:solidFill>
                  <a:srgbClr val="5B6770"/>
                </a:solidFill>
                <a:latin typeface="Arial" pitchFamily="34" charset="0"/>
                <a:ea typeface="Arial" pitchFamily="34" charset="-122"/>
                <a:cs typeface="Arial" pitchFamily="34" charset="-120"/>
              </a:rPr>
              <a:t>Tiền xử lý: 0,81 ms / ảnh</a:t>
            </a:r>
            <a:endParaRPr lang="en-US" sz="1050" dirty="0"/>
          </a:p>
        </p:txBody>
      </p:sp>
      <p:sp>
        <p:nvSpPr>
          <p:cNvPr id="18" name="Shape 16"/>
          <p:cNvSpPr/>
          <p:nvPr/>
        </p:nvSpPr>
        <p:spPr>
          <a:xfrm>
            <a:off x="548640" y="4389120"/>
            <a:ext cx="4937760" cy="1207008"/>
          </a:xfrm>
          <a:prstGeom prst="rect">
            <a:avLst/>
          </a:prstGeom>
          <a:solidFill>
            <a:srgbClr val="F3F6F9"/>
          </a:solidFill>
          <a:ln w="9525">
            <a:solidFill>
              <a:srgbClr val="D9E1E8"/>
            </a:solidFill>
            <a:prstDash val="solid"/>
          </a:ln>
        </p:spPr>
      </p:sp>
      <p:sp>
        <p:nvSpPr>
          <p:cNvPr id="19" name="Shape 17"/>
          <p:cNvSpPr/>
          <p:nvPr/>
        </p:nvSpPr>
        <p:spPr>
          <a:xfrm>
            <a:off x="548640" y="4389120"/>
            <a:ext cx="82296" cy="1207008"/>
          </a:xfrm>
          <a:prstGeom prst="rect">
            <a:avLst/>
          </a:prstGeom>
          <a:solidFill>
            <a:srgbClr val="E76F51"/>
          </a:solidFill>
          <a:ln w="12700">
            <a:solidFill>
              <a:srgbClr val="E76F51"/>
            </a:solidFill>
            <a:prstDash val="solid"/>
          </a:ln>
        </p:spPr>
      </p:sp>
      <p:sp>
        <p:nvSpPr>
          <p:cNvPr id="20" name="Text 18"/>
          <p:cNvSpPr txBox="1"/>
          <p:nvPr/>
        </p:nvSpPr>
        <p:spPr>
          <a:xfrm>
            <a:off x="822960" y="4480560"/>
            <a:ext cx="2926080" cy="320040"/>
          </a:xfrm>
          <a:prstGeom prst="rect">
            <a:avLst/>
          </a:prstGeom>
          <a:noFill/>
          <a:ln/>
        </p:spPr>
        <p:txBody>
          <a:bodyPr wrap="square" lIns="0" tIns="0" rIns="0" bIns="0" rtlCol="0" anchor="ctr"/>
          <a:lstStyle/>
          <a:p>
            <a:pPr indent="0" marL="0">
              <a:buNone/>
            </a:pPr>
            <a:r>
              <a:rPr lang="en-US" sz="1300" b="1" dirty="0">
                <a:solidFill>
                  <a:srgbClr val="1E293B"/>
                </a:solidFill>
                <a:latin typeface="Arial" pitchFamily="34" charset="0"/>
                <a:ea typeface="Arial" pitchFamily="34" charset="-122"/>
                <a:cs typeface="Arial" pitchFamily="34" charset="-120"/>
              </a:rPr>
              <a:t>Histogram Equalization</a:t>
            </a:r>
            <a:endParaRPr lang="en-US" sz="1300" dirty="0"/>
          </a:p>
        </p:txBody>
      </p:sp>
      <p:sp>
        <p:nvSpPr>
          <p:cNvPr id="21" name="Text 19"/>
          <p:cNvSpPr txBox="1"/>
          <p:nvPr/>
        </p:nvSpPr>
        <p:spPr>
          <a:xfrm>
            <a:off x="3840480" y="4434840"/>
            <a:ext cx="1554480" cy="502920"/>
          </a:xfrm>
          <a:prstGeom prst="rect">
            <a:avLst/>
          </a:prstGeom>
          <a:noFill/>
          <a:ln/>
        </p:spPr>
        <p:txBody>
          <a:bodyPr wrap="square" lIns="0" tIns="0" rIns="0" bIns="0" rtlCol="0" anchor="ctr"/>
          <a:lstStyle/>
          <a:p>
            <a:pPr algn="r" indent="0" marL="0">
              <a:buNone/>
            </a:pPr>
            <a:r>
              <a:rPr lang="en-US" sz="2800" b="1" dirty="0">
                <a:solidFill>
                  <a:srgbClr val="E76F51"/>
                </a:solidFill>
                <a:latin typeface="Arial" pitchFamily="34" charset="0"/>
                <a:ea typeface="Arial" pitchFamily="34" charset="-122"/>
                <a:cs typeface="Arial" pitchFamily="34" charset="-120"/>
              </a:rPr>
              <a:t>68%</a:t>
            </a:r>
            <a:endParaRPr lang="en-US" sz="2800" dirty="0"/>
          </a:p>
        </p:txBody>
      </p:sp>
      <p:sp>
        <p:nvSpPr>
          <p:cNvPr id="22" name="Text 20"/>
          <p:cNvSpPr txBox="1"/>
          <p:nvPr/>
        </p:nvSpPr>
        <p:spPr>
          <a:xfrm>
            <a:off x="822960" y="4937760"/>
            <a:ext cx="4572000" cy="274320"/>
          </a:xfrm>
          <a:prstGeom prst="rect">
            <a:avLst/>
          </a:prstGeom>
          <a:noFill/>
          <a:ln/>
        </p:spPr>
        <p:txBody>
          <a:bodyPr wrap="square" lIns="0" tIns="0" rIns="0" bIns="0" rtlCol="0" anchor="ctr"/>
          <a:lstStyle/>
          <a:p>
            <a:pPr indent="0" marL="0">
              <a:buNone/>
            </a:pPr>
            <a:r>
              <a:rPr lang="en-US" sz="1050" dirty="0">
                <a:solidFill>
                  <a:srgbClr val="5B6770"/>
                </a:solidFill>
                <a:latin typeface="Arial" pitchFamily="34" charset="0"/>
                <a:ea typeface="Arial" pitchFamily="34" charset="-122"/>
                <a:cs typeface="Arial" pitchFamily="34" charset="-120"/>
              </a:rPr>
              <a:t>17 / 25 ảnh (giảm 32%)  •  Confidence 78,90%</a:t>
            </a:r>
            <a:endParaRPr lang="en-US" sz="1050" dirty="0"/>
          </a:p>
        </p:txBody>
      </p:sp>
      <p:sp>
        <p:nvSpPr>
          <p:cNvPr id="23" name="Text 21"/>
          <p:cNvSpPr txBox="1"/>
          <p:nvPr/>
        </p:nvSpPr>
        <p:spPr>
          <a:xfrm>
            <a:off x="822960" y="5212080"/>
            <a:ext cx="4572000" cy="274320"/>
          </a:xfrm>
          <a:prstGeom prst="rect">
            <a:avLst/>
          </a:prstGeom>
          <a:noFill/>
          <a:ln/>
        </p:spPr>
        <p:txBody>
          <a:bodyPr wrap="square" lIns="0" tIns="0" rIns="0" bIns="0" rtlCol="0" anchor="ctr"/>
          <a:lstStyle/>
          <a:p>
            <a:pPr indent="0" marL="0">
              <a:buNone/>
            </a:pPr>
            <a:r>
              <a:rPr lang="en-US" sz="1050" dirty="0">
                <a:solidFill>
                  <a:srgbClr val="5B6770"/>
                </a:solidFill>
                <a:latin typeface="Arial" pitchFamily="34" charset="0"/>
                <a:ea typeface="Arial" pitchFamily="34" charset="-122"/>
                <a:cs typeface="Arial" pitchFamily="34" charset="-120"/>
              </a:rPr>
              <a:t>Tiền xử lý: 0,41 ms / ảnh</a:t>
            </a:r>
            <a:endParaRPr lang="en-US" sz="1050" dirty="0"/>
          </a:p>
        </p:txBody>
      </p:sp>
      <p:graphicFrame>
        <p:nvGraphicFramePr>
          <p:cNvPr id="24" name="Chart 0" descr=""/>
          <p:cNvGraphicFramePr/>
          <p:nvPr/>
        </p:nvGraphicFramePr>
        <p:xfrm>
          <a:off x="5852160" y="1645920"/>
          <a:ext cx="5760720" cy="2743200"/>
        </p:xfrm>
        <a:graphic xmlns:a="http://schemas.openxmlformats.org/drawingml/2006/main">
          <a:graphicData uri="http://schemas.openxmlformats.org/drawingml/2006/chart">
            <c:chart xmlns:c="http://schemas.openxmlformats.org/drawingml/2006/chart" r:id="rId1"/>
          </a:graphicData>
        </a:graphic>
      </p:graphicFrame>
      <p:sp>
        <p:nvSpPr>
          <p:cNvPr id="25" name="Shape 22"/>
          <p:cNvSpPr/>
          <p:nvPr/>
        </p:nvSpPr>
        <p:spPr>
          <a:xfrm>
            <a:off x="5852160" y="4572000"/>
            <a:ext cx="5760720" cy="1463040"/>
          </a:xfrm>
          <a:prstGeom prst="rect">
            <a:avLst/>
          </a:prstGeom>
          <a:solidFill>
            <a:srgbClr val="EEF5FB"/>
          </a:solidFill>
          <a:ln w="9525">
            <a:solidFill>
              <a:srgbClr val="1F3A5F"/>
            </a:solidFill>
            <a:prstDash val="solid"/>
          </a:ln>
        </p:spPr>
      </p:sp>
      <p:sp>
        <p:nvSpPr>
          <p:cNvPr id="26" name="Text 23"/>
          <p:cNvSpPr txBox="1"/>
          <p:nvPr/>
        </p:nvSpPr>
        <p:spPr>
          <a:xfrm>
            <a:off x="6080760" y="4681728"/>
            <a:ext cx="5394960" cy="1280160"/>
          </a:xfrm>
          <a:prstGeom prst="rect">
            <a:avLst/>
          </a:prstGeom>
          <a:noFill/>
          <a:ln/>
        </p:spPr>
        <p:txBody>
          <a:bodyPr wrap="square" lIns="0" tIns="0" rIns="0" bIns="0" rtlCol="0" anchor="ctr"/>
          <a:lstStyle/>
          <a:p>
            <a:pPr indent="0" marL="0">
              <a:spcAft>
                <a:spcPts val="400"/>
              </a:spcAft>
              <a:buNone/>
            </a:pPr>
            <a:r>
              <a:rPr lang="en-US" sz="1150" b="1" dirty="0">
                <a:solidFill>
                  <a:srgbClr val="1E293B"/>
                </a:solidFill>
                <a:latin typeface="Arial" pitchFamily="34" charset="0"/>
                <a:ea typeface="Arial" pitchFamily="34" charset="-122"/>
                <a:cs typeface="Arial" pitchFamily="34" charset="-120"/>
              </a:rPr>
              <a:t>Suy giảm độ chính xác: </a:t>
            </a:r>
            <a:pPr indent="0" marL="0">
              <a:spcAft>
                <a:spcPts val="400"/>
              </a:spcAft>
              <a:buNone/>
            </a:pPr>
            <a:r>
              <a:rPr lang="en-US" sz="1150" dirty="0">
                <a:solidFill>
                  <a:srgbClr val="5B6770"/>
                </a:solidFill>
                <a:latin typeface="Arial" pitchFamily="34" charset="0"/>
                <a:ea typeface="Arial" pitchFamily="34" charset="-122"/>
                <a:cs typeface="Arial" pitchFamily="34" charset="-120"/>
              </a:rPr>
              <a:t>100% → 88% → 68%; Histogram Equalization gây thiệt hại nặng nhất.</a:t>
            </a:r>
            <a:endParaRPr lang="en-US" sz="1150" dirty="0"/>
          </a:p>
          <a:p>
            <a:pPr indent="0" marL="0">
              <a:spcAft>
                <a:spcPts val="400"/>
              </a:spcAft>
              <a:buNone/>
            </a:pPr>
            <a:r>
              <a:rPr lang="en-US" sz="1150" b="1" dirty="0">
                <a:solidFill>
                  <a:srgbClr val="1E293B"/>
                </a:solidFill>
                <a:latin typeface="Arial" pitchFamily="34" charset="0"/>
                <a:ea typeface="Arial" pitchFamily="34" charset="-122"/>
                <a:cs typeface="Arial" pitchFamily="34" charset="-120"/>
              </a:rPr>
              <a:t>Sụt giảm confidence: </a:t>
            </a:r>
            <a:pPr indent="0" marL="0">
              <a:spcAft>
                <a:spcPts val="400"/>
              </a:spcAft>
              <a:buNone/>
            </a:pPr>
            <a:r>
              <a:rPr lang="en-US" sz="1150" dirty="0">
                <a:solidFill>
                  <a:srgbClr val="5B6770"/>
                </a:solidFill>
                <a:latin typeface="Arial" pitchFamily="34" charset="0"/>
                <a:ea typeface="Arial" pitchFamily="34" charset="-122"/>
                <a:cs typeface="Arial" pitchFamily="34" charset="-120"/>
              </a:rPr>
              <a:t>99,06% → 93,03% → 78,90%.</a:t>
            </a:r>
            <a:endParaRPr lang="en-US" sz="1150" dirty="0"/>
          </a:p>
          <a:p>
            <a:pPr indent="0" marL="0">
              <a:spcAft>
                <a:spcPts val="400"/>
              </a:spcAft>
              <a:buNone/>
            </a:pPr>
            <a:r>
              <a:rPr lang="en-US" sz="1150" b="1" dirty="0">
                <a:solidFill>
                  <a:srgbClr val="1E293B"/>
                </a:solidFill>
                <a:latin typeface="Arial" pitchFamily="34" charset="0"/>
                <a:ea typeface="Arial" pitchFamily="34" charset="-122"/>
                <a:cs typeface="Arial" pitchFamily="34" charset="-120"/>
              </a:rPr>
              <a:t>Chi phí tính toán: </a:t>
            </a:r>
            <a:pPr indent="0" marL="0">
              <a:spcAft>
                <a:spcPts val="400"/>
              </a:spcAft>
              <a:buNone/>
            </a:pPr>
            <a:r>
              <a:rPr lang="en-US" sz="1150" dirty="0">
                <a:solidFill>
                  <a:srgbClr val="5B6770"/>
                </a:solidFill>
                <a:latin typeface="Arial" pitchFamily="34" charset="0"/>
                <a:ea typeface="Arial" pitchFamily="34" charset="-122"/>
                <a:cs typeface="Arial" pitchFamily="34" charset="-120"/>
              </a:rPr>
              <a:t>Contrast Stretching tốn gấp 3,38 lần ảnh gốc do phép tính phân vị.</a:t>
            </a:r>
            <a:endParaRPr lang="en-US" sz="1150" dirty="0"/>
          </a:p>
        </p:txBody>
      </p:sp>
      <p:sp>
        <p:nvSpPr>
          <p:cNvPr id="27" name="Text 24"/>
          <p:cNvSpPr txBox="1"/>
          <p:nvPr/>
        </p:nvSpPr>
        <p:spPr>
          <a:xfrm>
            <a:off x="548640" y="5989320"/>
            <a:ext cx="10515600" cy="320040"/>
          </a:xfrm>
          <a:prstGeom prst="rect">
            <a:avLst/>
          </a:prstGeom>
          <a:noFill/>
          <a:ln/>
        </p:spPr>
        <p:txBody>
          <a:bodyPr wrap="square" lIns="0" tIns="0" rIns="0" bIns="0" rtlCol="0" anchor="ctr"/>
          <a:lstStyle/>
          <a:p>
            <a:pPr indent="0" marL="0">
              <a:buNone/>
            </a:pPr>
            <a:r>
              <a:rPr lang="en-US" sz="1050" i="1" dirty="0">
                <a:solidFill>
                  <a:srgbClr val="5B6770"/>
                </a:solidFill>
                <a:latin typeface="Arial" pitchFamily="34" charset="0"/>
                <a:ea typeface="Arial" pitchFamily="34" charset="-122"/>
                <a:cs typeface="Arial" pitchFamily="34" charset="-120"/>
              </a:rPr>
              <a:t>Kết quả chỉ đúng với tập 25 ảnh đã cung cấp; không khái quát cho mọi tập dữ liệu hay kiến trúc CNN khác.</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1F3A5F"/>
          </a:solidFill>
          <a:ln w="12700">
            <a:solidFill>
              <a:srgbClr val="1F3A5F"/>
            </a:solidFill>
            <a:prstDash val="solid"/>
          </a:ln>
        </p:spPr>
      </p:sp>
      <p:sp>
        <p:nvSpPr>
          <p:cNvPr id="3" name="Text 1"/>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2600" b="1" dirty="0">
                <a:solidFill>
                  <a:srgbClr val="1F3A5F"/>
                </a:solidFill>
                <a:latin typeface="Arial" pitchFamily="34" charset="0"/>
                <a:ea typeface="Arial" pitchFamily="34" charset="-122"/>
                <a:cs typeface="Arial" pitchFamily="34" charset="-120"/>
              </a:rPr>
              <a:t>Phân tích hiện tượng Covariate Shift trong thị giác máy tính</a:t>
            </a:r>
            <a:endParaRPr lang="en-US" sz="2600" dirty="0"/>
          </a:p>
        </p:txBody>
      </p:sp>
      <p:sp>
        <p:nvSpPr>
          <p:cNvPr id="4" name="Text 2"/>
          <p:cNvSpPr txBox="1"/>
          <p:nvPr/>
        </p:nvSpPr>
        <p:spPr>
          <a:xfrm>
            <a:off x="548640" y="1024128"/>
            <a:ext cx="11064240" cy="365760"/>
          </a:xfrm>
          <a:prstGeom prst="rect">
            <a:avLst/>
          </a:prstGeom>
          <a:noFill/>
          <a:ln/>
        </p:spPr>
        <p:txBody>
          <a:bodyPr wrap="square" lIns="0" tIns="0" rIns="0" bIns="0" rtlCol="0" anchor="ctr"/>
          <a:lstStyle/>
          <a:p>
            <a:pPr indent="0" marL="0">
              <a:buNone/>
            </a:pPr>
            <a:r>
              <a:rPr lang="en-US" sz="1400" dirty="0">
                <a:solidFill>
                  <a:srgbClr val="5B6770"/>
                </a:solidFill>
                <a:latin typeface="Arial" pitchFamily="34" charset="0"/>
                <a:ea typeface="Arial" pitchFamily="34" charset="-122"/>
                <a:cs typeface="Arial" pitchFamily="34" charset="-120"/>
              </a:rPr>
              <a:t>Sự sai lệch giữa phân phối dữ liệu huấn luyện P_train(X) và dữ liệu kiểm thử P_test(X)</a:t>
            </a:r>
            <a:endParaRPr lang="en-US" sz="1400" dirty="0"/>
          </a:p>
        </p:txBody>
      </p:sp>
      <p:sp>
        <p:nvSpPr>
          <p:cNvPr id="5" name="Text 3"/>
          <p:cNvSpPr txBox="1"/>
          <p:nvPr/>
        </p:nvSpPr>
        <p:spPr>
          <a:xfrm>
            <a:off x="11155680" y="6355080"/>
            <a:ext cx="640080" cy="274320"/>
          </a:xfrm>
          <a:prstGeom prst="rect">
            <a:avLst/>
          </a:prstGeom>
          <a:noFill/>
          <a:ln/>
        </p:spPr>
        <p:txBody>
          <a:bodyPr wrap="square" lIns="0" tIns="0" rIns="0" bIns="0" rtlCol="0" anchor="ctr"/>
          <a:lstStyle/>
          <a:p>
            <a:pPr algn="r" indent="0" marL="0">
              <a:buNone/>
            </a:pPr>
            <a:r>
              <a:rPr lang="en-US" sz="1000" dirty="0">
                <a:solidFill>
                  <a:srgbClr val="5B6770"/>
                </a:solidFill>
                <a:latin typeface="Arial" pitchFamily="34" charset="0"/>
                <a:ea typeface="Arial" pitchFamily="34" charset="-122"/>
                <a:cs typeface="Arial" pitchFamily="34" charset="-120"/>
              </a:rPr>
              <a:t>07</a:t>
            </a:r>
            <a:endParaRPr lang="en-US" sz="1000" dirty="0"/>
          </a:p>
        </p:txBody>
      </p:sp>
      <p:sp>
        <p:nvSpPr>
          <p:cNvPr id="6" name="Shape 4"/>
          <p:cNvSpPr/>
          <p:nvPr/>
        </p:nvSpPr>
        <p:spPr>
          <a:xfrm>
            <a:off x="548640" y="1645920"/>
            <a:ext cx="11064240" cy="1051560"/>
          </a:xfrm>
          <a:prstGeom prst="rect">
            <a:avLst/>
          </a:prstGeom>
          <a:solidFill>
            <a:srgbClr val="EEF5FB"/>
          </a:solidFill>
          <a:ln w="9525">
            <a:solidFill>
              <a:srgbClr val="1F3A5F"/>
            </a:solidFill>
            <a:prstDash val="solid"/>
          </a:ln>
        </p:spPr>
      </p:sp>
      <p:sp>
        <p:nvSpPr>
          <p:cNvPr id="7" name="Text 5"/>
          <p:cNvSpPr txBox="1"/>
          <p:nvPr/>
        </p:nvSpPr>
        <p:spPr>
          <a:xfrm>
            <a:off x="777240" y="1755648"/>
            <a:ext cx="5486400" cy="274320"/>
          </a:xfrm>
          <a:prstGeom prst="rect">
            <a:avLst/>
          </a:prstGeom>
          <a:noFill/>
          <a:ln/>
        </p:spPr>
        <p:txBody>
          <a:bodyPr wrap="square" lIns="0" tIns="0" rIns="0" bIns="0" rtlCol="0" anchor="ctr"/>
          <a:lstStyle/>
          <a:p>
            <a:pPr indent="0" marL="0">
              <a:buNone/>
            </a:pPr>
            <a:r>
              <a:rPr lang="en-US" sz="1100" b="1" spc="100" kern="0" dirty="0">
                <a:solidFill>
                  <a:srgbClr val="1F3A5F"/>
                </a:solidFill>
                <a:latin typeface="Arial" pitchFamily="34" charset="0"/>
                <a:ea typeface="Arial" pitchFamily="34" charset="-122"/>
                <a:cs typeface="Arial" pitchFamily="34" charset="-120"/>
              </a:rPr>
              <a:t>BẢN CHẤT TOÁN HỌC</a:t>
            </a:r>
            <a:endParaRPr lang="en-US" sz="1100" dirty="0"/>
          </a:p>
        </p:txBody>
      </p:sp>
      <p:sp>
        <p:nvSpPr>
          <p:cNvPr id="8" name="Text 6"/>
          <p:cNvSpPr txBox="1"/>
          <p:nvPr/>
        </p:nvSpPr>
        <p:spPr>
          <a:xfrm>
            <a:off x="777240" y="2011680"/>
            <a:ext cx="10607040" cy="640080"/>
          </a:xfrm>
          <a:prstGeom prst="rect">
            <a:avLst/>
          </a:prstGeom>
          <a:noFill/>
          <a:ln/>
        </p:spPr>
        <p:txBody>
          <a:bodyPr wrap="square" lIns="0" tIns="0" rIns="0" bIns="0" rtlCol="0" anchor="t"/>
          <a:lstStyle/>
          <a:p>
            <a:pPr indent="0" marL="0">
              <a:buNone/>
            </a:pPr>
            <a:r>
              <a:rPr lang="en-US" sz="1250" dirty="0">
                <a:solidFill>
                  <a:srgbClr val="1E293B"/>
                </a:solidFill>
                <a:latin typeface="Arial" pitchFamily="34" charset="0"/>
                <a:ea typeface="Arial" pitchFamily="34" charset="-122"/>
                <a:cs typeface="Arial" pitchFamily="34" charset="-120"/>
              </a:rPr>
              <a:t>Covariate Shift xảy ra khi P_test(X) ≠ P_train(X), trong khi P(Y | X) giữ nguyên. CNN đã tối ưu bộ lọc theo P_train(X); khi P_test(X) bị biến dạng do tiền xử lý, phản ứng của các tầng tích chập không còn tối ưu.</a:t>
            </a:r>
            <a:endParaRPr lang="en-US" sz="1250" dirty="0"/>
          </a:p>
        </p:txBody>
      </p:sp>
      <p:sp>
        <p:nvSpPr>
          <p:cNvPr id="9" name="Shape 7"/>
          <p:cNvSpPr/>
          <p:nvPr/>
        </p:nvSpPr>
        <p:spPr>
          <a:xfrm>
            <a:off x="548640" y="2926080"/>
            <a:ext cx="2057400" cy="2148840"/>
          </a:xfrm>
          <a:prstGeom prst="rect">
            <a:avLst/>
          </a:prstGeom>
          <a:solidFill>
            <a:srgbClr val="F3F6F9"/>
          </a:solidFill>
          <a:ln w="9525">
            <a:solidFill>
              <a:srgbClr val="D9E1E8"/>
            </a:solidFill>
            <a:prstDash val="solid"/>
          </a:ln>
        </p:spPr>
      </p:sp>
      <p:sp>
        <p:nvSpPr>
          <p:cNvPr id="10" name="Shape 8"/>
          <p:cNvSpPr/>
          <p:nvPr/>
        </p:nvSpPr>
        <p:spPr>
          <a:xfrm>
            <a:off x="685800" y="3063240"/>
            <a:ext cx="384048" cy="384048"/>
          </a:xfrm>
          <a:prstGeom prst="ellipse">
            <a:avLst/>
          </a:prstGeom>
          <a:solidFill>
            <a:srgbClr val="1F3A5F"/>
          </a:solidFill>
          <a:ln w="12700">
            <a:solidFill>
              <a:srgbClr val="1F3A5F"/>
            </a:solidFill>
            <a:prstDash val="solid"/>
          </a:ln>
        </p:spPr>
      </p:sp>
      <p:sp>
        <p:nvSpPr>
          <p:cNvPr id="11" name="Text 9"/>
          <p:cNvSpPr txBox="1"/>
          <p:nvPr/>
        </p:nvSpPr>
        <p:spPr>
          <a:xfrm>
            <a:off x="685800" y="30632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2" name="Text 10"/>
          <p:cNvSpPr txBox="1"/>
          <p:nvPr/>
        </p:nvSpPr>
        <p:spPr>
          <a:xfrm>
            <a:off x="685800" y="3566160"/>
            <a:ext cx="1828800" cy="320040"/>
          </a:xfrm>
          <a:prstGeom prst="rect">
            <a:avLst/>
          </a:prstGeom>
          <a:noFill/>
          <a:ln/>
        </p:spPr>
        <p:txBody>
          <a:bodyPr wrap="square" lIns="0" tIns="0" rIns="0" bIns="0" rtlCol="0" anchor="ctr"/>
          <a:lstStyle/>
          <a:p>
            <a:pPr indent="0" marL="0">
              <a:buNone/>
            </a:pPr>
            <a:r>
              <a:rPr lang="en-US" sz="1250" b="1" dirty="0">
                <a:solidFill>
                  <a:srgbClr val="1E293B"/>
                </a:solidFill>
                <a:latin typeface="Arial" pitchFamily="34" charset="0"/>
                <a:ea typeface="Arial" pitchFamily="34" charset="-122"/>
                <a:cs typeface="Arial" pitchFamily="34" charset="-120"/>
              </a:rPr>
              <a:t>Ảnh gốc ASL</a:t>
            </a:r>
            <a:endParaRPr lang="en-US" sz="1250" dirty="0"/>
          </a:p>
        </p:txBody>
      </p:sp>
      <p:sp>
        <p:nvSpPr>
          <p:cNvPr id="13" name="Text 11"/>
          <p:cNvSpPr txBox="1"/>
          <p:nvPr/>
        </p:nvSpPr>
        <p:spPr>
          <a:xfrm>
            <a:off x="685800" y="3913632"/>
            <a:ext cx="1828800" cy="1097280"/>
          </a:xfrm>
          <a:prstGeom prst="rect">
            <a:avLst/>
          </a:prstGeom>
          <a:noFill/>
          <a:ln/>
        </p:spPr>
        <p:txBody>
          <a:bodyPr wrap="square" lIns="0" tIns="0" rIns="0" bIns="0" rtlCol="0" anchor="t"/>
          <a:lstStyle/>
          <a:p>
            <a:pPr indent="0" marL="0">
              <a:buNone/>
            </a:pPr>
            <a:r>
              <a:rPr lang="en-US" sz="1200" dirty="0">
                <a:solidFill>
                  <a:srgbClr val="5B6770"/>
                </a:solidFill>
                <a:latin typeface="Arial" pitchFamily="34" charset="0"/>
                <a:ea typeface="Arial" pitchFamily="34" charset="-122"/>
                <a:cs typeface="Arial" pitchFamily="34" charset="-120"/>
              </a:rPr>
              <a:t>Ảnh tự nhiên với dải sáng gốc mà mạng đã học</a:t>
            </a:r>
            <a:endParaRPr lang="en-US" sz="1200" dirty="0"/>
          </a:p>
        </p:txBody>
      </p:sp>
      <p:sp>
        <p:nvSpPr>
          <p:cNvPr id="14" name="Shape 12"/>
          <p:cNvSpPr/>
          <p:nvPr/>
        </p:nvSpPr>
        <p:spPr>
          <a:xfrm>
            <a:off x="2788920" y="2926080"/>
            <a:ext cx="2057400" cy="2148840"/>
          </a:xfrm>
          <a:prstGeom prst="rect">
            <a:avLst/>
          </a:prstGeom>
          <a:solidFill>
            <a:srgbClr val="F3F6F9"/>
          </a:solidFill>
          <a:ln w="9525">
            <a:solidFill>
              <a:srgbClr val="D9E1E8"/>
            </a:solidFill>
            <a:prstDash val="solid"/>
          </a:ln>
        </p:spPr>
      </p:sp>
      <p:sp>
        <p:nvSpPr>
          <p:cNvPr id="15" name="Shape 13"/>
          <p:cNvSpPr/>
          <p:nvPr/>
        </p:nvSpPr>
        <p:spPr>
          <a:xfrm>
            <a:off x="2926080" y="3063240"/>
            <a:ext cx="384048" cy="384048"/>
          </a:xfrm>
          <a:prstGeom prst="ellipse">
            <a:avLst/>
          </a:prstGeom>
          <a:solidFill>
            <a:srgbClr val="1F3A5F"/>
          </a:solidFill>
          <a:ln w="12700">
            <a:solidFill>
              <a:srgbClr val="1F3A5F"/>
            </a:solidFill>
            <a:prstDash val="solid"/>
          </a:ln>
        </p:spPr>
      </p:sp>
      <p:sp>
        <p:nvSpPr>
          <p:cNvPr id="16" name="Text 14"/>
          <p:cNvSpPr txBox="1"/>
          <p:nvPr/>
        </p:nvSpPr>
        <p:spPr>
          <a:xfrm>
            <a:off x="2926080" y="30632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7" name="Text 15"/>
          <p:cNvSpPr txBox="1"/>
          <p:nvPr/>
        </p:nvSpPr>
        <p:spPr>
          <a:xfrm>
            <a:off x="2926080" y="3566160"/>
            <a:ext cx="1828800" cy="320040"/>
          </a:xfrm>
          <a:prstGeom prst="rect">
            <a:avLst/>
          </a:prstGeom>
          <a:noFill/>
          <a:ln/>
        </p:spPr>
        <p:txBody>
          <a:bodyPr wrap="square" lIns="0" tIns="0" rIns="0" bIns="0" rtlCol="0" anchor="ctr"/>
          <a:lstStyle/>
          <a:p>
            <a:pPr indent="0" marL="0">
              <a:buNone/>
            </a:pPr>
            <a:r>
              <a:rPr lang="en-US" sz="1250" b="1" dirty="0">
                <a:solidFill>
                  <a:srgbClr val="1E293B"/>
                </a:solidFill>
                <a:latin typeface="Arial" pitchFamily="34" charset="0"/>
                <a:ea typeface="Arial" pitchFamily="34" charset="-122"/>
                <a:cs typeface="Arial" pitchFamily="34" charset="-120"/>
              </a:rPr>
              <a:t>Tiền xử lý</a:t>
            </a:r>
            <a:endParaRPr lang="en-US" sz="1250" dirty="0"/>
          </a:p>
        </p:txBody>
      </p:sp>
      <p:sp>
        <p:nvSpPr>
          <p:cNvPr id="18" name="Text 16"/>
          <p:cNvSpPr txBox="1"/>
          <p:nvPr/>
        </p:nvSpPr>
        <p:spPr>
          <a:xfrm>
            <a:off x="2926080" y="3913632"/>
            <a:ext cx="1828800" cy="1097280"/>
          </a:xfrm>
          <a:prstGeom prst="rect">
            <a:avLst/>
          </a:prstGeom>
          <a:noFill/>
          <a:ln/>
        </p:spPr>
        <p:txBody>
          <a:bodyPr wrap="square" lIns="0" tIns="0" rIns="0" bIns="0" rtlCol="0" anchor="t"/>
          <a:lstStyle/>
          <a:p>
            <a:pPr indent="0" marL="0">
              <a:buNone/>
            </a:pPr>
            <a:r>
              <a:rPr lang="en-US" sz="1200" dirty="0">
                <a:solidFill>
                  <a:srgbClr val="5B6770"/>
                </a:solidFill>
                <a:latin typeface="Arial" pitchFamily="34" charset="0"/>
                <a:ea typeface="Arial" pitchFamily="34" charset="-122"/>
                <a:cs typeface="Arial" pitchFamily="34" charset="-120"/>
              </a:rPr>
              <a:t>Kéo giãn / cân bằng Y tái phân bố pixel toàn cục</a:t>
            </a:r>
            <a:endParaRPr lang="en-US" sz="1200" dirty="0"/>
          </a:p>
        </p:txBody>
      </p:sp>
      <p:sp>
        <p:nvSpPr>
          <p:cNvPr id="19" name="Shape 17"/>
          <p:cNvSpPr/>
          <p:nvPr/>
        </p:nvSpPr>
        <p:spPr>
          <a:xfrm>
            <a:off x="5029200" y="2926080"/>
            <a:ext cx="2057400" cy="2148840"/>
          </a:xfrm>
          <a:prstGeom prst="rect">
            <a:avLst/>
          </a:prstGeom>
          <a:solidFill>
            <a:srgbClr val="F3F6F9"/>
          </a:solidFill>
          <a:ln w="9525">
            <a:solidFill>
              <a:srgbClr val="D9E1E8"/>
            </a:solidFill>
            <a:prstDash val="solid"/>
          </a:ln>
        </p:spPr>
      </p:sp>
      <p:sp>
        <p:nvSpPr>
          <p:cNvPr id="20" name="Shape 18"/>
          <p:cNvSpPr/>
          <p:nvPr/>
        </p:nvSpPr>
        <p:spPr>
          <a:xfrm>
            <a:off x="5166360" y="3063240"/>
            <a:ext cx="384048" cy="384048"/>
          </a:xfrm>
          <a:prstGeom prst="ellipse">
            <a:avLst/>
          </a:prstGeom>
          <a:solidFill>
            <a:srgbClr val="1F3A5F"/>
          </a:solidFill>
          <a:ln w="12700">
            <a:solidFill>
              <a:srgbClr val="1F3A5F"/>
            </a:solidFill>
            <a:prstDash val="solid"/>
          </a:ln>
        </p:spPr>
      </p:sp>
      <p:sp>
        <p:nvSpPr>
          <p:cNvPr id="21" name="Text 19"/>
          <p:cNvSpPr txBox="1"/>
          <p:nvPr/>
        </p:nvSpPr>
        <p:spPr>
          <a:xfrm>
            <a:off x="5166360" y="30632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22" name="Text 20"/>
          <p:cNvSpPr txBox="1"/>
          <p:nvPr/>
        </p:nvSpPr>
        <p:spPr>
          <a:xfrm>
            <a:off x="5166360" y="3566160"/>
            <a:ext cx="1828800" cy="320040"/>
          </a:xfrm>
          <a:prstGeom prst="rect">
            <a:avLst/>
          </a:prstGeom>
          <a:noFill/>
          <a:ln/>
        </p:spPr>
        <p:txBody>
          <a:bodyPr wrap="square" lIns="0" tIns="0" rIns="0" bIns="0" rtlCol="0" anchor="ctr"/>
          <a:lstStyle/>
          <a:p>
            <a:pPr indent="0" marL="0">
              <a:buNone/>
            </a:pPr>
            <a:r>
              <a:rPr lang="en-US" sz="1250" b="1" dirty="0">
                <a:solidFill>
                  <a:srgbClr val="1E293B"/>
                </a:solidFill>
                <a:latin typeface="Arial" pitchFamily="34" charset="0"/>
                <a:ea typeface="Arial" pitchFamily="34" charset="-122"/>
                <a:cs typeface="Arial" pitchFamily="34" charset="-120"/>
              </a:rPr>
              <a:t>Lệch phân phối</a:t>
            </a:r>
            <a:endParaRPr lang="en-US" sz="1250" dirty="0"/>
          </a:p>
        </p:txBody>
      </p:sp>
      <p:sp>
        <p:nvSpPr>
          <p:cNvPr id="23" name="Text 21"/>
          <p:cNvSpPr txBox="1"/>
          <p:nvPr/>
        </p:nvSpPr>
        <p:spPr>
          <a:xfrm>
            <a:off x="5166360" y="3913632"/>
            <a:ext cx="1828800" cy="1097280"/>
          </a:xfrm>
          <a:prstGeom prst="rect">
            <a:avLst/>
          </a:prstGeom>
          <a:noFill/>
          <a:ln/>
        </p:spPr>
        <p:txBody>
          <a:bodyPr wrap="square" lIns="0" tIns="0" rIns="0" bIns="0" rtlCol="0" anchor="t"/>
          <a:lstStyle/>
          <a:p>
            <a:pPr indent="0" marL="0">
              <a:buNone/>
            </a:pPr>
            <a:r>
              <a:rPr lang="en-US" sz="1200" dirty="0">
                <a:solidFill>
                  <a:srgbClr val="5B6770"/>
                </a:solidFill>
                <a:latin typeface="Arial" pitchFamily="34" charset="0"/>
                <a:ea typeface="Arial" pitchFamily="34" charset="-122"/>
                <a:cs typeface="Arial" pitchFamily="34" charset="-120"/>
              </a:rPr>
              <a:t>Ranh giới bóng đổ giữa ngón tay và nếp nhăn bị khuếch đại hoặc mất</a:t>
            </a:r>
            <a:endParaRPr lang="en-US" sz="1200" dirty="0"/>
          </a:p>
        </p:txBody>
      </p:sp>
      <p:sp>
        <p:nvSpPr>
          <p:cNvPr id="24" name="Shape 22"/>
          <p:cNvSpPr/>
          <p:nvPr/>
        </p:nvSpPr>
        <p:spPr>
          <a:xfrm>
            <a:off x="7269480" y="2926080"/>
            <a:ext cx="2057400" cy="2148840"/>
          </a:xfrm>
          <a:prstGeom prst="rect">
            <a:avLst/>
          </a:prstGeom>
          <a:solidFill>
            <a:srgbClr val="F3F6F9"/>
          </a:solidFill>
          <a:ln w="9525">
            <a:solidFill>
              <a:srgbClr val="D9E1E8"/>
            </a:solidFill>
            <a:prstDash val="solid"/>
          </a:ln>
        </p:spPr>
      </p:sp>
      <p:sp>
        <p:nvSpPr>
          <p:cNvPr id="25" name="Shape 23"/>
          <p:cNvSpPr/>
          <p:nvPr/>
        </p:nvSpPr>
        <p:spPr>
          <a:xfrm>
            <a:off x="7406640" y="3063240"/>
            <a:ext cx="384048" cy="384048"/>
          </a:xfrm>
          <a:prstGeom prst="ellipse">
            <a:avLst/>
          </a:prstGeom>
          <a:solidFill>
            <a:srgbClr val="1F3A5F"/>
          </a:solidFill>
          <a:ln w="12700">
            <a:solidFill>
              <a:srgbClr val="1F3A5F"/>
            </a:solidFill>
            <a:prstDash val="solid"/>
          </a:ln>
        </p:spPr>
      </p:sp>
      <p:sp>
        <p:nvSpPr>
          <p:cNvPr id="26" name="Text 24"/>
          <p:cNvSpPr txBox="1"/>
          <p:nvPr/>
        </p:nvSpPr>
        <p:spPr>
          <a:xfrm>
            <a:off x="7406640" y="30632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7" name="Text 25"/>
          <p:cNvSpPr txBox="1"/>
          <p:nvPr/>
        </p:nvSpPr>
        <p:spPr>
          <a:xfrm>
            <a:off x="7406640" y="3566160"/>
            <a:ext cx="1828800" cy="320040"/>
          </a:xfrm>
          <a:prstGeom prst="rect">
            <a:avLst/>
          </a:prstGeom>
          <a:noFill/>
          <a:ln/>
        </p:spPr>
        <p:txBody>
          <a:bodyPr wrap="square" lIns="0" tIns="0" rIns="0" bIns="0" rtlCol="0" anchor="ctr"/>
          <a:lstStyle/>
          <a:p>
            <a:pPr indent="0" marL="0">
              <a:buNone/>
            </a:pPr>
            <a:r>
              <a:rPr lang="en-US" sz="1250" b="1" dirty="0">
                <a:solidFill>
                  <a:srgbClr val="1E293B"/>
                </a:solidFill>
                <a:latin typeface="Arial" pitchFamily="34" charset="0"/>
                <a:ea typeface="Arial" pitchFamily="34" charset="-122"/>
                <a:cs typeface="Arial" pitchFamily="34" charset="-120"/>
              </a:rPr>
              <a:t>Feature shift</a:t>
            </a:r>
            <a:endParaRPr lang="en-US" sz="1250" dirty="0"/>
          </a:p>
        </p:txBody>
      </p:sp>
      <p:sp>
        <p:nvSpPr>
          <p:cNvPr id="28" name="Text 26"/>
          <p:cNvSpPr txBox="1"/>
          <p:nvPr/>
        </p:nvSpPr>
        <p:spPr>
          <a:xfrm>
            <a:off x="7406640" y="3913632"/>
            <a:ext cx="1828800" cy="1097280"/>
          </a:xfrm>
          <a:prstGeom prst="rect">
            <a:avLst/>
          </a:prstGeom>
          <a:noFill/>
          <a:ln/>
        </p:spPr>
        <p:txBody>
          <a:bodyPr wrap="square" lIns="0" tIns="0" rIns="0" bIns="0" rtlCol="0" anchor="t"/>
          <a:lstStyle/>
          <a:p>
            <a:pPr indent="0" marL="0">
              <a:buNone/>
            </a:pPr>
            <a:r>
              <a:rPr lang="en-US" sz="1200" dirty="0">
                <a:solidFill>
                  <a:srgbClr val="5B6770"/>
                </a:solidFill>
                <a:latin typeface="Arial" pitchFamily="34" charset="0"/>
                <a:ea typeface="Arial" pitchFamily="34" charset="-122"/>
                <a:cs typeface="Arial" pitchFamily="34" charset="-120"/>
              </a:rPr>
              <a:t>Conv2D 3×3 trích xuất feature map lệch vị trí tâm</a:t>
            </a:r>
            <a:endParaRPr lang="en-US" sz="1200" dirty="0"/>
          </a:p>
        </p:txBody>
      </p:sp>
      <p:sp>
        <p:nvSpPr>
          <p:cNvPr id="29" name="Shape 27"/>
          <p:cNvSpPr/>
          <p:nvPr/>
        </p:nvSpPr>
        <p:spPr>
          <a:xfrm>
            <a:off x="9509760" y="2926080"/>
            <a:ext cx="2057400" cy="2148840"/>
          </a:xfrm>
          <a:prstGeom prst="rect">
            <a:avLst/>
          </a:prstGeom>
          <a:solidFill>
            <a:srgbClr val="FDF1EC"/>
          </a:solidFill>
          <a:ln w="9525">
            <a:solidFill>
              <a:srgbClr val="E76F51"/>
            </a:solidFill>
            <a:prstDash val="solid"/>
          </a:ln>
        </p:spPr>
      </p:sp>
      <p:sp>
        <p:nvSpPr>
          <p:cNvPr id="30" name="Shape 28"/>
          <p:cNvSpPr/>
          <p:nvPr/>
        </p:nvSpPr>
        <p:spPr>
          <a:xfrm>
            <a:off x="9646920" y="3063240"/>
            <a:ext cx="384048" cy="384048"/>
          </a:xfrm>
          <a:prstGeom prst="ellipse">
            <a:avLst/>
          </a:prstGeom>
          <a:solidFill>
            <a:srgbClr val="E76F51"/>
          </a:solidFill>
          <a:ln w="12700">
            <a:solidFill>
              <a:srgbClr val="E76F51"/>
            </a:solidFill>
            <a:prstDash val="solid"/>
          </a:ln>
        </p:spPr>
      </p:sp>
      <p:sp>
        <p:nvSpPr>
          <p:cNvPr id="31" name="Text 29"/>
          <p:cNvSpPr txBox="1"/>
          <p:nvPr/>
        </p:nvSpPr>
        <p:spPr>
          <a:xfrm>
            <a:off x="9646920" y="30632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32" name="Text 30"/>
          <p:cNvSpPr txBox="1"/>
          <p:nvPr/>
        </p:nvSpPr>
        <p:spPr>
          <a:xfrm>
            <a:off x="9646920" y="3566160"/>
            <a:ext cx="1828800" cy="320040"/>
          </a:xfrm>
          <a:prstGeom prst="rect">
            <a:avLst/>
          </a:prstGeom>
          <a:noFill/>
          <a:ln/>
        </p:spPr>
        <p:txBody>
          <a:bodyPr wrap="square" lIns="0" tIns="0" rIns="0" bIns="0" rtlCol="0" anchor="ctr"/>
          <a:lstStyle/>
          <a:p>
            <a:pPr indent="0" marL="0">
              <a:buNone/>
            </a:pPr>
            <a:r>
              <a:rPr lang="en-US" sz="1250" b="1" dirty="0">
                <a:solidFill>
                  <a:srgbClr val="1E293B"/>
                </a:solidFill>
                <a:latin typeface="Arial" pitchFamily="34" charset="0"/>
                <a:ea typeface="Arial" pitchFamily="34" charset="-122"/>
                <a:cs typeface="Arial" pitchFamily="34" charset="-120"/>
              </a:rPr>
              <a:t>Sai lệch Softmax</a:t>
            </a:r>
            <a:endParaRPr lang="en-US" sz="1250" dirty="0"/>
          </a:p>
        </p:txBody>
      </p:sp>
      <p:sp>
        <p:nvSpPr>
          <p:cNvPr id="33" name="Text 31"/>
          <p:cNvSpPr txBox="1"/>
          <p:nvPr/>
        </p:nvSpPr>
        <p:spPr>
          <a:xfrm>
            <a:off x="9646920" y="3913632"/>
            <a:ext cx="1828800" cy="1097280"/>
          </a:xfrm>
          <a:prstGeom prst="rect">
            <a:avLst/>
          </a:prstGeom>
          <a:noFill/>
          <a:ln/>
        </p:spPr>
        <p:txBody>
          <a:bodyPr wrap="square" lIns="0" tIns="0" rIns="0" bIns="0" rtlCol="0" anchor="t"/>
          <a:lstStyle/>
          <a:p>
            <a:pPr indent="0" marL="0">
              <a:buNone/>
            </a:pPr>
            <a:r>
              <a:rPr lang="en-US" sz="1200" dirty="0">
                <a:solidFill>
                  <a:srgbClr val="5B6770"/>
                </a:solidFill>
                <a:latin typeface="Arial" pitchFamily="34" charset="0"/>
                <a:ea typeface="Arial" pitchFamily="34" charset="-122"/>
                <a:cs typeface="Arial" pitchFamily="34" charset="-120"/>
              </a:rPr>
              <a:t>Vector đặc trưng rơi vào vùng quyết định của lớp khác</a:t>
            </a:r>
            <a:endParaRPr lang="en-US" sz="1200" dirty="0"/>
          </a:p>
        </p:txBody>
      </p:sp>
      <p:sp>
        <p:nvSpPr>
          <p:cNvPr id="34" name="Shape 32"/>
          <p:cNvSpPr/>
          <p:nvPr/>
        </p:nvSpPr>
        <p:spPr>
          <a:xfrm>
            <a:off x="548640" y="5349240"/>
            <a:ext cx="11064240" cy="822960"/>
          </a:xfrm>
          <a:prstGeom prst="rect">
            <a:avLst/>
          </a:prstGeom>
          <a:solidFill>
            <a:srgbClr val="FFFFFF"/>
          </a:solidFill>
          <a:ln w="9525">
            <a:solidFill>
              <a:srgbClr val="E76F51"/>
            </a:solidFill>
            <a:prstDash val="solid"/>
          </a:ln>
        </p:spPr>
      </p:sp>
      <p:sp>
        <p:nvSpPr>
          <p:cNvPr id="35" name="Text 33"/>
          <p:cNvSpPr txBox="1"/>
          <p:nvPr/>
        </p:nvSpPr>
        <p:spPr>
          <a:xfrm>
            <a:off x="777240" y="5440680"/>
            <a:ext cx="10607040" cy="640080"/>
          </a:xfrm>
          <a:prstGeom prst="rect">
            <a:avLst/>
          </a:prstGeom>
          <a:noFill/>
          <a:ln/>
        </p:spPr>
        <p:txBody>
          <a:bodyPr wrap="square" lIns="0" tIns="0" rIns="0" bIns="0" rtlCol="0" anchor="ctr"/>
          <a:lstStyle/>
          <a:p>
            <a:pPr indent="0" marL="0">
              <a:buNone/>
            </a:pPr>
            <a:r>
              <a:rPr lang="en-US" sz="1200" b="1" dirty="0">
                <a:solidFill>
                  <a:srgbClr val="E76F51"/>
                </a:solidFill>
                <a:latin typeface="Arial" pitchFamily="34" charset="0"/>
                <a:ea typeface="Arial" pitchFamily="34" charset="-122"/>
                <a:cs typeface="Arial" pitchFamily="34" charset="-120"/>
              </a:rPr>
              <a:t>Lưu ý khoa học: </a:t>
            </a:r>
            <a:pPr indent="0" marL="0">
              <a:buNone/>
            </a:pPr>
            <a:r>
              <a:rPr lang="en-US" sz="1200" dirty="0">
                <a:solidFill>
                  <a:srgbClr val="1E293B"/>
                </a:solidFill>
                <a:latin typeface="Arial" pitchFamily="34" charset="0"/>
                <a:ea typeface="Arial" pitchFamily="34" charset="-122"/>
                <a:cs typeface="Arial" pitchFamily="34" charset="-120"/>
              </a:rPr>
              <a:t>Việc suy giảm độ chính xác là kết quả đã đo được. Còn cơ chế Conv2D phản ứng với cạnh giả là giả thuyết hợp lý, cần trích xuất feature maps để chứng minh trực tiếp.</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1F3A5F"/>
          </a:solidFill>
          <a:ln w="12700">
            <a:solidFill>
              <a:srgbClr val="1F3A5F"/>
            </a:solidFill>
            <a:prstDash val="solid"/>
          </a:ln>
        </p:spPr>
      </p:sp>
      <p:sp>
        <p:nvSpPr>
          <p:cNvPr id="3" name="Text 1"/>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2600" b="1" dirty="0">
                <a:solidFill>
                  <a:srgbClr val="1F3A5F"/>
                </a:solidFill>
                <a:latin typeface="Arial" pitchFamily="34" charset="0"/>
                <a:ea typeface="Arial" pitchFamily="34" charset="-122"/>
                <a:cs typeface="Arial" pitchFamily="34" charset="-120"/>
              </a:rPr>
              <a:t>Phân tích chi tiết các ca nhận diện sai (Confusion Pairs)</a:t>
            </a:r>
            <a:endParaRPr lang="en-US" sz="2600" dirty="0"/>
          </a:p>
        </p:txBody>
      </p:sp>
      <p:sp>
        <p:nvSpPr>
          <p:cNvPr id="4" name="Text 2"/>
          <p:cNvSpPr txBox="1"/>
          <p:nvPr/>
        </p:nvSpPr>
        <p:spPr>
          <a:xfrm>
            <a:off x="548640" y="1024128"/>
            <a:ext cx="11064240" cy="365760"/>
          </a:xfrm>
          <a:prstGeom prst="rect">
            <a:avLst/>
          </a:prstGeom>
          <a:noFill/>
          <a:ln/>
        </p:spPr>
        <p:txBody>
          <a:bodyPr wrap="square" lIns="0" tIns="0" rIns="0" bIns="0" rtlCol="0" anchor="ctr"/>
          <a:lstStyle/>
          <a:p>
            <a:pPr indent="0" marL="0">
              <a:buNone/>
            </a:pPr>
            <a:r>
              <a:rPr lang="en-US" sz="1400" dirty="0">
                <a:solidFill>
                  <a:srgbClr val="5B6770"/>
                </a:solidFill>
                <a:latin typeface="Arial" pitchFamily="34" charset="0"/>
                <a:ea typeface="Arial" pitchFamily="34" charset="-122"/>
                <a:cs typeface="Arial" pitchFamily="34" charset="-120"/>
              </a:rPr>
              <a:t>Nếp gấp và ranh giới ngón tay bị thay đổi khiến các ký hiệu tương đồng bị nhầm lẫn</a:t>
            </a:r>
            <a:endParaRPr lang="en-US" sz="1400" dirty="0"/>
          </a:p>
        </p:txBody>
      </p:sp>
      <p:sp>
        <p:nvSpPr>
          <p:cNvPr id="5" name="Text 3"/>
          <p:cNvSpPr txBox="1"/>
          <p:nvPr/>
        </p:nvSpPr>
        <p:spPr>
          <a:xfrm>
            <a:off x="11155680" y="6355080"/>
            <a:ext cx="640080" cy="274320"/>
          </a:xfrm>
          <a:prstGeom prst="rect">
            <a:avLst/>
          </a:prstGeom>
          <a:noFill/>
          <a:ln/>
        </p:spPr>
        <p:txBody>
          <a:bodyPr wrap="square" lIns="0" tIns="0" rIns="0" bIns="0" rtlCol="0" anchor="ctr"/>
          <a:lstStyle/>
          <a:p>
            <a:pPr algn="r" indent="0" marL="0">
              <a:buNone/>
            </a:pPr>
            <a:r>
              <a:rPr lang="en-US" sz="1000" dirty="0">
                <a:solidFill>
                  <a:srgbClr val="5B6770"/>
                </a:solidFill>
                <a:latin typeface="Arial" pitchFamily="34" charset="0"/>
                <a:ea typeface="Arial" pitchFamily="34" charset="-122"/>
                <a:cs typeface="Arial" pitchFamily="34" charset="-120"/>
              </a:rPr>
              <a:t>08</a:t>
            </a:r>
            <a:endParaRPr lang="en-US" sz="1000" dirty="0"/>
          </a:p>
        </p:txBody>
      </p:sp>
      <p:sp>
        <p:nvSpPr>
          <p:cNvPr id="6" name="Shape 4"/>
          <p:cNvSpPr/>
          <p:nvPr/>
        </p:nvSpPr>
        <p:spPr>
          <a:xfrm>
            <a:off x="548640" y="1645920"/>
            <a:ext cx="5440680" cy="4160520"/>
          </a:xfrm>
          <a:prstGeom prst="rect">
            <a:avLst/>
          </a:prstGeom>
          <a:solidFill>
            <a:srgbClr val="EEF5FB"/>
          </a:solidFill>
          <a:ln w="9525">
            <a:solidFill>
              <a:srgbClr val="1F3A5F"/>
            </a:solidFill>
            <a:prstDash val="solid"/>
          </a:ln>
        </p:spPr>
      </p:sp>
      <p:sp>
        <p:nvSpPr>
          <p:cNvPr id="7" name="Text 5"/>
          <p:cNvSpPr txBox="1"/>
          <p:nvPr/>
        </p:nvSpPr>
        <p:spPr>
          <a:xfrm>
            <a:off x="777240" y="1755648"/>
            <a:ext cx="4983480" cy="320040"/>
          </a:xfrm>
          <a:prstGeom prst="rect">
            <a:avLst/>
          </a:prstGeom>
          <a:noFill/>
          <a:ln/>
        </p:spPr>
        <p:txBody>
          <a:bodyPr wrap="square" lIns="0" tIns="0" rIns="0" bIns="0" rtlCol="0" anchor="ctr"/>
          <a:lstStyle/>
          <a:p>
            <a:pPr indent="0" marL="0">
              <a:buNone/>
            </a:pPr>
            <a:r>
              <a:rPr lang="en-US" sz="1200" b="1" dirty="0">
                <a:solidFill>
                  <a:srgbClr val="1F3A5F"/>
                </a:solidFill>
                <a:latin typeface="Arial" pitchFamily="34" charset="0"/>
                <a:ea typeface="Arial" pitchFamily="34" charset="-122"/>
                <a:cs typeface="Arial" pitchFamily="34" charset="-120"/>
              </a:rPr>
              <a:t>CONTRAST STRETCHING: 3 LỖI / 25 ẢNH (88%)</a:t>
            </a:r>
            <a:endParaRPr lang="en-US" sz="1200" dirty="0"/>
          </a:p>
        </p:txBody>
      </p:sp>
      <p:sp>
        <p:nvSpPr>
          <p:cNvPr id="8" name="Text 6"/>
          <p:cNvSpPr txBox="1"/>
          <p:nvPr/>
        </p:nvSpPr>
        <p:spPr>
          <a:xfrm>
            <a:off x="777240" y="2194560"/>
            <a:ext cx="1188720" cy="365760"/>
          </a:xfrm>
          <a:prstGeom prst="rect">
            <a:avLst/>
          </a:prstGeom>
          <a:noFill/>
          <a:ln/>
        </p:spPr>
        <p:txBody>
          <a:bodyPr wrap="square" lIns="0" tIns="0" rIns="0" bIns="0" rtlCol="0" anchor="ctr"/>
          <a:lstStyle/>
          <a:p>
            <a:pPr indent="0" marL="0">
              <a:buNone/>
            </a:pPr>
            <a:r>
              <a:rPr lang="en-US" sz="1500" b="1" dirty="0">
                <a:solidFill>
                  <a:srgbClr val="1F3A5F"/>
                </a:solidFill>
                <a:latin typeface="Arial" pitchFamily="34" charset="0"/>
                <a:ea typeface="Arial" pitchFamily="34" charset="-122"/>
                <a:cs typeface="Arial" pitchFamily="34" charset="-120"/>
              </a:rPr>
              <a:t>A → E</a:t>
            </a:r>
            <a:endParaRPr lang="en-US" sz="1500" dirty="0"/>
          </a:p>
        </p:txBody>
      </p:sp>
      <p:sp>
        <p:nvSpPr>
          <p:cNvPr id="9" name="Text 7"/>
          <p:cNvSpPr txBox="1"/>
          <p:nvPr/>
        </p:nvSpPr>
        <p:spPr>
          <a:xfrm>
            <a:off x="2011680" y="2194560"/>
            <a:ext cx="3703320" cy="868680"/>
          </a:xfrm>
          <a:prstGeom prst="rect">
            <a:avLst/>
          </a:prstGeom>
          <a:noFill/>
          <a:ln/>
        </p:spPr>
        <p:txBody>
          <a:bodyPr wrap="square" lIns="0" tIns="0" rIns="0" bIns="0" rtlCol="0" anchor="t"/>
          <a:lstStyle/>
          <a:p>
            <a:pPr indent="0" marL="0">
              <a:buNone/>
            </a:pPr>
            <a:r>
              <a:rPr lang="en-US" sz="1200" dirty="0">
                <a:solidFill>
                  <a:srgbClr val="1E293B"/>
                </a:solidFill>
                <a:latin typeface="Arial" pitchFamily="34" charset="0"/>
                <a:ea typeface="Arial" pitchFamily="34" charset="-122"/>
                <a:cs typeface="Arial" pitchFamily="34" charset="-120"/>
              </a:rPr>
              <a:t>Nắm tay, ngón cái sát cạnh ngón trỏ. Ranh giới ngón cái bị triệt tiêu, trông giống chữ E.</a:t>
            </a:r>
            <a:endParaRPr lang="en-US" sz="1200" dirty="0"/>
          </a:p>
        </p:txBody>
      </p:sp>
      <p:sp>
        <p:nvSpPr>
          <p:cNvPr id="10" name="Text 8"/>
          <p:cNvSpPr txBox="1"/>
          <p:nvPr/>
        </p:nvSpPr>
        <p:spPr>
          <a:xfrm>
            <a:off x="777240" y="3200400"/>
            <a:ext cx="1188720" cy="365760"/>
          </a:xfrm>
          <a:prstGeom prst="rect">
            <a:avLst/>
          </a:prstGeom>
          <a:noFill/>
          <a:ln/>
        </p:spPr>
        <p:txBody>
          <a:bodyPr wrap="square" lIns="0" tIns="0" rIns="0" bIns="0" rtlCol="0" anchor="ctr"/>
          <a:lstStyle/>
          <a:p>
            <a:pPr indent="0" marL="0">
              <a:buNone/>
            </a:pPr>
            <a:r>
              <a:rPr lang="en-US" sz="1500" b="1" dirty="0">
                <a:solidFill>
                  <a:srgbClr val="1F3A5F"/>
                </a:solidFill>
                <a:latin typeface="Arial" pitchFamily="34" charset="0"/>
                <a:ea typeface="Arial" pitchFamily="34" charset="-122"/>
                <a:cs typeface="Arial" pitchFamily="34" charset="-120"/>
              </a:rPr>
              <a:t>N → E</a:t>
            </a:r>
            <a:endParaRPr lang="en-US" sz="1500" dirty="0"/>
          </a:p>
        </p:txBody>
      </p:sp>
      <p:sp>
        <p:nvSpPr>
          <p:cNvPr id="11" name="Text 9"/>
          <p:cNvSpPr txBox="1"/>
          <p:nvPr/>
        </p:nvSpPr>
        <p:spPr>
          <a:xfrm>
            <a:off x="2011680" y="3200400"/>
            <a:ext cx="3703320" cy="868680"/>
          </a:xfrm>
          <a:prstGeom prst="rect">
            <a:avLst/>
          </a:prstGeom>
          <a:noFill/>
          <a:ln/>
        </p:spPr>
        <p:txBody>
          <a:bodyPr wrap="square" lIns="0" tIns="0" rIns="0" bIns="0" rtlCol="0" anchor="t"/>
          <a:lstStyle/>
          <a:p>
            <a:pPr indent="0" marL="0">
              <a:buNone/>
            </a:pPr>
            <a:r>
              <a:rPr lang="en-US" sz="1200" dirty="0">
                <a:solidFill>
                  <a:srgbClr val="1E293B"/>
                </a:solidFill>
                <a:latin typeface="Arial" pitchFamily="34" charset="0"/>
                <a:ea typeface="Arial" pitchFamily="34" charset="-122"/>
                <a:cs typeface="Arial" pitchFamily="34" charset="-120"/>
              </a:rPr>
              <a:t>Hai ngón vắt qua ngón cái. Mất chi tiết bóng đổ dưới nếp gấp, nhầm sang E.</a:t>
            </a:r>
            <a:endParaRPr lang="en-US" sz="1200" dirty="0"/>
          </a:p>
        </p:txBody>
      </p:sp>
      <p:sp>
        <p:nvSpPr>
          <p:cNvPr id="12" name="Text 10"/>
          <p:cNvSpPr txBox="1"/>
          <p:nvPr/>
        </p:nvSpPr>
        <p:spPr>
          <a:xfrm>
            <a:off x="777240" y="4206240"/>
            <a:ext cx="1188720" cy="365760"/>
          </a:xfrm>
          <a:prstGeom prst="rect">
            <a:avLst/>
          </a:prstGeom>
          <a:noFill/>
          <a:ln/>
        </p:spPr>
        <p:txBody>
          <a:bodyPr wrap="square" lIns="0" tIns="0" rIns="0" bIns="0" rtlCol="0" anchor="ctr"/>
          <a:lstStyle/>
          <a:p>
            <a:pPr indent="0" marL="0">
              <a:buNone/>
            </a:pPr>
            <a:r>
              <a:rPr lang="en-US" sz="1500" b="1" dirty="0">
                <a:solidFill>
                  <a:srgbClr val="1F3A5F"/>
                </a:solidFill>
                <a:latin typeface="Arial" pitchFamily="34" charset="0"/>
                <a:ea typeface="Arial" pitchFamily="34" charset="-122"/>
                <a:cs typeface="Arial" pitchFamily="34" charset="-120"/>
              </a:rPr>
              <a:t>S → E</a:t>
            </a:r>
            <a:endParaRPr lang="en-US" sz="1500" dirty="0"/>
          </a:p>
        </p:txBody>
      </p:sp>
      <p:sp>
        <p:nvSpPr>
          <p:cNvPr id="13" name="Text 11"/>
          <p:cNvSpPr txBox="1"/>
          <p:nvPr/>
        </p:nvSpPr>
        <p:spPr>
          <a:xfrm>
            <a:off x="2011680" y="4206240"/>
            <a:ext cx="3703320" cy="868680"/>
          </a:xfrm>
          <a:prstGeom prst="rect">
            <a:avLst/>
          </a:prstGeom>
          <a:noFill/>
          <a:ln/>
        </p:spPr>
        <p:txBody>
          <a:bodyPr wrap="square" lIns="0" tIns="0" rIns="0" bIns="0" rtlCol="0" anchor="t"/>
          <a:lstStyle/>
          <a:p>
            <a:pPr indent="0" marL="0">
              <a:buNone/>
            </a:pPr>
            <a:r>
              <a:rPr lang="en-US" sz="1200" dirty="0">
                <a:solidFill>
                  <a:srgbClr val="1E293B"/>
                </a:solidFill>
                <a:latin typeface="Arial" pitchFamily="34" charset="0"/>
                <a:ea typeface="Arial" pitchFamily="34" charset="-122"/>
                <a:cs typeface="Arial" pitchFamily="34" charset="-120"/>
              </a:rPr>
              <a:t>Ngón cái bắt ngang 4 ngón. Chi tiết nổi của ngón cái bị làm phẳng.</a:t>
            </a:r>
            <a:endParaRPr lang="en-US" sz="1200" dirty="0"/>
          </a:p>
        </p:txBody>
      </p:sp>
      <p:sp>
        <p:nvSpPr>
          <p:cNvPr id="14" name="Text 12"/>
          <p:cNvSpPr txBox="1"/>
          <p:nvPr/>
        </p:nvSpPr>
        <p:spPr>
          <a:xfrm>
            <a:off x="777240" y="5120640"/>
            <a:ext cx="4983480" cy="548640"/>
          </a:xfrm>
          <a:prstGeom prst="rect">
            <a:avLst/>
          </a:prstGeom>
          <a:noFill/>
          <a:ln/>
        </p:spPr>
        <p:txBody>
          <a:bodyPr wrap="square" lIns="0" tIns="0" rIns="0" bIns="0" rtlCol="0" anchor="t"/>
          <a:lstStyle/>
          <a:p>
            <a:pPr indent="0" marL="0">
              <a:buNone/>
            </a:pPr>
            <a:r>
              <a:rPr lang="en-US" sz="1150" i="1" dirty="0">
                <a:solidFill>
                  <a:srgbClr val="5B6770"/>
                </a:solidFill>
                <a:latin typeface="Arial" pitchFamily="34" charset="0"/>
                <a:ea typeface="Arial" pitchFamily="34" charset="-122"/>
                <a:cs typeface="Arial" pitchFamily="34" charset="-120"/>
              </a:rPr>
              <a:t>Cả 3 ca lỗi đều co cụm về chữ E: đặc trưng vị trí ngón cái bị làm phẳng khi kéo giãn tương phản.</a:t>
            </a:r>
            <a:endParaRPr lang="en-US" sz="1150" dirty="0"/>
          </a:p>
        </p:txBody>
      </p:sp>
      <p:sp>
        <p:nvSpPr>
          <p:cNvPr id="15" name="Shape 13"/>
          <p:cNvSpPr/>
          <p:nvPr/>
        </p:nvSpPr>
        <p:spPr>
          <a:xfrm>
            <a:off x="6172200" y="1645920"/>
            <a:ext cx="5440680" cy="4160520"/>
          </a:xfrm>
          <a:prstGeom prst="rect">
            <a:avLst/>
          </a:prstGeom>
          <a:solidFill>
            <a:srgbClr val="FDF1EC"/>
          </a:solidFill>
          <a:ln w="9525">
            <a:solidFill>
              <a:srgbClr val="E76F51"/>
            </a:solidFill>
            <a:prstDash val="solid"/>
          </a:ln>
        </p:spPr>
      </p:sp>
      <p:sp>
        <p:nvSpPr>
          <p:cNvPr id="16" name="Text 14"/>
          <p:cNvSpPr txBox="1"/>
          <p:nvPr/>
        </p:nvSpPr>
        <p:spPr>
          <a:xfrm>
            <a:off x="6400800" y="1755648"/>
            <a:ext cx="4983480" cy="320040"/>
          </a:xfrm>
          <a:prstGeom prst="rect">
            <a:avLst/>
          </a:prstGeom>
          <a:noFill/>
          <a:ln/>
        </p:spPr>
        <p:txBody>
          <a:bodyPr wrap="square" lIns="0" tIns="0" rIns="0" bIns="0" rtlCol="0" anchor="ctr"/>
          <a:lstStyle/>
          <a:p>
            <a:pPr indent="0" marL="0">
              <a:buNone/>
            </a:pPr>
            <a:r>
              <a:rPr lang="en-US" sz="1200" b="1" dirty="0">
                <a:solidFill>
                  <a:srgbClr val="E76F51"/>
                </a:solidFill>
                <a:latin typeface="Arial" pitchFamily="34" charset="0"/>
                <a:ea typeface="Arial" pitchFamily="34" charset="-122"/>
                <a:cs typeface="Arial" pitchFamily="34" charset="-120"/>
              </a:rPr>
              <a:t>HISTOGRAM EQUALIZATION: 8 LỖI / 25 ẢNH (68%)</a:t>
            </a:r>
            <a:endParaRPr lang="en-US" sz="1200" dirty="0"/>
          </a:p>
        </p:txBody>
      </p:sp>
      <p:sp>
        <p:nvSpPr>
          <p:cNvPr id="17" name="Text 15"/>
          <p:cNvSpPr txBox="1"/>
          <p:nvPr/>
        </p:nvSpPr>
        <p:spPr>
          <a:xfrm>
            <a:off x="6400800" y="2194560"/>
            <a:ext cx="2011680" cy="365760"/>
          </a:xfrm>
          <a:prstGeom prst="rect">
            <a:avLst/>
          </a:prstGeom>
          <a:noFill/>
          <a:ln/>
        </p:spPr>
        <p:txBody>
          <a:bodyPr wrap="square" lIns="0" tIns="0" rIns="0" bIns="0" rtlCol="0" anchor="ctr"/>
          <a:lstStyle/>
          <a:p>
            <a:pPr indent="0" marL="0">
              <a:buNone/>
            </a:pPr>
            <a:r>
              <a:rPr lang="en-US" sz="1300" b="1" dirty="0">
                <a:solidFill>
                  <a:srgbClr val="E76F51"/>
                </a:solidFill>
                <a:latin typeface="Arial" pitchFamily="34" charset="0"/>
                <a:ea typeface="Arial" pitchFamily="34" charset="-122"/>
                <a:cs typeface="Arial" pitchFamily="34" charset="-120"/>
              </a:rPr>
              <a:t>G → H  ;  Q → G</a:t>
            </a:r>
            <a:endParaRPr lang="en-US" sz="1300" dirty="0"/>
          </a:p>
        </p:txBody>
      </p:sp>
      <p:sp>
        <p:nvSpPr>
          <p:cNvPr id="18" name="Text 16"/>
          <p:cNvSpPr txBox="1"/>
          <p:nvPr/>
        </p:nvSpPr>
        <p:spPr>
          <a:xfrm>
            <a:off x="8458200" y="2194560"/>
            <a:ext cx="2926080" cy="685800"/>
          </a:xfrm>
          <a:prstGeom prst="rect">
            <a:avLst/>
          </a:prstGeom>
          <a:noFill/>
          <a:ln/>
        </p:spPr>
        <p:txBody>
          <a:bodyPr wrap="square" lIns="0" tIns="0" rIns="0" bIns="0" rtlCol="0" anchor="t"/>
          <a:lstStyle/>
          <a:p>
            <a:pPr indent="0" marL="0">
              <a:buNone/>
            </a:pPr>
            <a:r>
              <a:rPr lang="en-US" sz="1200" dirty="0">
                <a:solidFill>
                  <a:srgbClr val="1E293B"/>
                </a:solidFill>
                <a:latin typeface="Arial" pitchFamily="34" charset="0"/>
                <a:ea typeface="Arial" pitchFamily="34" charset="-122"/>
                <a:cs typeface="Arial" pitchFamily="34" charset="-120"/>
              </a:rPr>
              <a:t>Nhóm ngón trỏ chỉ ngang: mất chi tiết phân biệt ngón giữa</a:t>
            </a:r>
            <a:endParaRPr lang="en-US" sz="1200" dirty="0"/>
          </a:p>
        </p:txBody>
      </p:sp>
      <p:sp>
        <p:nvSpPr>
          <p:cNvPr id="19" name="Text 17"/>
          <p:cNvSpPr txBox="1"/>
          <p:nvPr/>
        </p:nvSpPr>
        <p:spPr>
          <a:xfrm>
            <a:off x="6400800" y="3017520"/>
            <a:ext cx="2011680" cy="365760"/>
          </a:xfrm>
          <a:prstGeom prst="rect">
            <a:avLst/>
          </a:prstGeom>
          <a:noFill/>
          <a:ln/>
        </p:spPr>
        <p:txBody>
          <a:bodyPr wrap="square" lIns="0" tIns="0" rIns="0" bIns="0" rtlCol="0" anchor="ctr"/>
          <a:lstStyle/>
          <a:p>
            <a:pPr indent="0" marL="0">
              <a:buNone/>
            </a:pPr>
            <a:r>
              <a:rPr lang="en-US" sz="1300" b="1" dirty="0">
                <a:solidFill>
                  <a:srgbClr val="E76F51"/>
                </a:solidFill>
                <a:latin typeface="Arial" pitchFamily="34" charset="0"/>
                <a:ea typeface="Arial" pitchFamily="34" charset="-122"/>
                <a:cs typeface="Arial" pitchFamily="34" charset="-120"/>
              </a:rPr>
              <a:t>I → J  ;  X → V</a:t>
            </a:r>
            <a:endParaRPr lang="en-US" sz="1300" dirty="0"/>
          </a:p>
        </p:txBody>
      </p:sp>
      <p:sp>
        <p:nvSpPr>
          <p:cNvPr id="20" name="Text 18"/>
          <p:cNvSpPr txBox="1"/>
          <p:nvPr/>
        </p:nvSpPr>
        <p:spPr>
          <a:xfrm>
            <a:off x="8458200" y="3017520"/>
            <a:ext cx="2926080" cy="685800"/>
          </a:xfrm>
          <a:prstGeom prst="rect">
            <a:avLst/>
          </a:prstGeom>
          <a:noFill/>
          <a:ln/>
        </p:spPr>
        <p:txBody>
          <a:bodyPr wrap="square" lIns="0" tIns="0" rIns="0" bIns="0" rtlCol="0" anchor="t"/>
          <a:lstStyle/>
          <a:p>
            <a:pPr indent="0" marL="0">
              <a:buNone/>
            </a:pPr>
            <a:r>
              <a:rPr lang="en-US" sz="1200" dirty="0">
                <a:solidFill>
                  <a:srgbClr val="1E293B"/>
                </a:solidFill>
                <a:latin typeface="Arial" pitchFamily="34" charset="0"/>
                <a:ea typeface="Arial" pitchFamily="34" charset="-122"/>
                <a:cs typeface="Arial" pitchFamily="34" charset="-120"/>
              </a:rPr>
              <a:t>Nhóm ngón út / ngón cong: ranh giới đầu ngón bị sai lệch</a:t>
            </a:r>
            <a:endParaRPr lang="en-US" sz="1200" dirty="0"/>
          </a:p>
        </p:txBody>
      </p:sp>
      <p:sp>
        <p:nvSpPr>
          <p:cNvPr id="21" name="Text 19"/>
          <p:cNvSpPr txBox="1"/>
          <p:nvPr/>
        </p:nvSpPr>
        <p:spPr>
          <a:xfrm>
            <a:off x="6400800" y="3840480"/>
            <a:ext cx="2011680" cy="365760"/>
          </a:xfrm>
          <a:prstGeom prst="rect">
            <a:avLst/>
          </a:prstGeom>
          <a:noFill/>
          <a:ln/>
        </p:spPr>
        <p:txBody>
          <a:bodyPr wrap="square" lIns="0" tIns="0" rIns="0" bIns="0" rtlCol="0" anchor="ctr"/>
          <a:lstStyle/>
          <a:p>
            <a:pPr indent="0" marL="0">
              <a:buNone/>
            </a:pPr>
            <a:r>
              <a:rPr lang="en-US" sz="1300" b="1" dirty="0">
                <a:solidFill>
                  <a:srgbClr val="E76F51"/>
                </a:solidFill>
                <a:latin typeface="Arial" pitchFamily="34" charset="0"/>
                <a:ea typeface="Arial" pitchFamily="34" charset="-122"/>
                <a:cs typeface="Arial" pitchFamily="34" charset="-120"/>
              </a:rPr>
              <a:t>N → E  ;  S → E</a:t>
            </a:r>
            <a:endParaRPr lang="en-US" sz="1300" dirty="0"/>
          </a:p>
        </p:txBody>
      </p:sp>
      <p:sp>
        <p:nvSpPr>
          <p:cNvPr id="22" name="Text 20"/>
          <p:cNvSpPr txBox="1"/>
          <p:nvPr/>
        </p:nvSpPr>
        <p:spPr>
          <a:xfrm>
            <a:off x="8458200" y="3840480"/>
            <a:ext cx="2926080" cy="685800"/>
          </a:xfrm>
          <a:prstGeom prst="rect">
            <a:avLst/>
          </a:prstGeom>
          <a:noFill/>
          <a:ln/>
        </p:spPr>
        <p:txBody>
          <a:bodyPr wrap="square" lIns="0" tIns="0" rIns="0" bIns="0" rtlCol="0" anchor="t"/>
          <a:lstStyle/>
          <a:p>
            <a:pPr indent="0" marL="0">
              <a:buNone/>
            </a:pPr>
            <a:r>
              <a:rPr lang="en-US" sz="1200" dirty="0">
                <a:solidFill>
                  <a:srgbClr val="1E293B"/>
                </a:solidFill>
                <a:latin typeface="Arial" pitchFamily="34" charset="0"/>
                <a:ea typeface="Arial" pitchFamily="34" charset="-122"/>
                <a:cs typeface="Arial" pitchFamily="34" charset="-120"/>
              </a:rPr>
              <a:t>Nhóm nắm tay: lặp lại hiện tượng co cụm về E</a:t>
            </a:r>
            <a:endParaRPr lang="en-US" sz="1200" dirty="0"/>
          </a:p>
        </p:txBody>
      </p:sp>
      <p:sp>
        <p:nvSpPr>
          <p:cNvPr id="23" name="Text 21"/>
          <p:cNvSpPr txBox="1"/>
          <p:nvPr/>
        </p:nvSpPr>
        <p:spPr>
          <a:xfrm>
            <a:off x="6400800" y="4663440"/>
            <a:ext cx="2011680" cy="365760"/>
          </a:xfrm>
          <a:prstGeom prst="rect">
            <a:avLst/>
          </a:prstGeom>
          <a:noFill/>
          <a:ln/>
        </p:spPr>
        <p:txBody>
          <a:bodyPr wrap="square" lIns="0" tIns="0" rIns="0" bIns="0" rtlCol="0" anchor="ctr"/>
          <a:lstStyle/>
          <a:p>
            <a:pPr indent="0" marL="0">
              <a:buNone/>
            </a:pPr>
            <a:r>
              <a:rPr lang="en-US" sz="1300" b="1" dirty="0">
                <a:solidFill>
                  <a:srgbClr val="E76F51"/>
                </a:solidFill>
                <a:latin typeface="Arial" pitchFamily="34" charset="0"/>
                <a:ea typeface="Arial" pitchFamily="34" charset="-122"/>
                <a:cs typeface="Arial" pitchFamily="34" charset="-120"/>
              </a:rPr>
              <a:t>R → U  ;  U → R</a:t>
            </a:r>
            <a:endParaRPr lang="en-US" sz="1300" dirty="0"/>
          </a:p>
        </p:txBody>
      </p:sp>
      <p:sp>
        <p:nvSpPr>
          <p:cNvPr id="24" name="Text 22"/>
          <p:cNvSpPr txBox="1"/>
          <p:nvPr/>
        </p:nvSpPr>
        <p:spPr>
          <a:xfrm>
            <a:off x="8458200" y="4663440"/>
            <a:ext cx="2926080" cy="685800"/>
          </a:xfrm>
          <a:prstGeom prst="rect">
            <a:avLst/>
          </a:prstGeom>
          <a:noFill/>
          <a:ln/>
        </p:spPr>
        <p:txBody>
          <a:bodyPr wrap="square" lIns="0" tIns="0" rIns="0" bIns="0" rtlCol="0" anchor="t"/>
          <a:lstStyle/>
          <a:p>
            <a:pPr indent="0" marL="0">
              <a:buNone/>
            </a:pPr>
            <a:r>
              <a:rPr lang="en-US" sz="1200" dirty="0">
                <a:solidFill>
                  <a:srgbClr val="1E293B"/>
                </a:solidFill>
                <a:latin typeface="Arial" pitchFamily="34" charset="0"/>
                <a:ea typeface="Arial" pitchFamily="34" charset="-122"/>
                <a:cs typeface="Arial" pitchFamily="34" charset="-120"/>
              </a:rPr>
              <a:t>Nhóm ngón bắt chéo: mất độ sâu giữa hai ngón</a:t>
            </a:r>
            <a:endParaRPr lang="en-US" sz="1200" dirty="0"/>
          </a:p>
        </p:txBody>
      </p:sp>
      <p:sp>
        <p:nvSpPr>
          <p:cNvPr id="25" name="Text 23"/>
          <p:cNvSpPr txBox="1"/>
          <p:nvPr/>
        </p:nvSpPr>
        <p:spPr>
          <a:xfrm>
            <a:off x="6400800" y="5120640"/>
            <a:ext cx="4983480" cy="548640"/>
          </a:xfrm>
          <a:prstGeom prst="rect">
            <a:avLst/>
          </a:prstGeom>
          <a:noFill/>
          <a:ln/>
        </p:spPr>
        <p:txBody>
          <a:bodyPr wrap="square" lIns="0" tIns="0" rIns="0" bIns="0" rtlCol="0" anchor="t"/>
          <a:lstStyle/>
          <a:p>
            <a:pPr indent="0" marL="0">
              <a:buNone/>
            </a:pPr>
            <a:r>
              <a:rPr lang="en-US" sz="1150" i="1" dirty="0">
                <a:solidFill>
                  <a:srgbClr val="5B6770"/>
                </a:solidFill>
                <a:latin typeface="Arial" pitchFamily="34" charset="0"/>
                <a:ea typeface="Arial" pitchFamily="34" charset="-122"/>
                <a:cs typeface="Arial" pitchFamily="34" charset="-120"/>
              </a:rPr>
              <a:t>Cân bằng lược đồ gây xáo trộn diện rộng trên các cặp có hình học tương đồng, do triệt tiêu độ sâu không gian 3D.</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1F3A5F"/>
          </a:solidFill>
          <a:ln w="12700">
            <a:solidFill>
              <a:srgbClr val="1F3A5F"/>
            </a:solidFill>
            <a:prstDash val="solid"/>
          </a:ln>
        </p:spPr>
      </p:sp>
      <p:sp>
        <p:nvSpPr>
          <p:cNvPr id="3" name="Text 1"/>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2600" b="1" dirty="0">
                <a:solidFill>
                  <a:srgbClr val="1F3A5F"/>
                </a:solidFill>
                <a:latin typeface="Arial" pitchFamily="34" charset="0"/>
                <a:ea typeface="Arial" pitchFamily="34" charset="-122"/>
                <a:cs typeface="Arial" pitchFamily="34" charset="-120"/>
              </a:rPr>
              <a:t>Phân tích đầu ra xác suất Softmax trên ký hiệu 'A'</a:t>
            </a:r>
            <a:endParaRPr lang="en-US" sz="2600" dirty="0"/>
          </a:p>
        </p:txBody>
      </p:sp>
      <p:sp>
        <p:nvSpPr>
          <p:cNvPr id="4" name="Text 2"/>
          <p:cNvSpPr txBox="1"/>
          <p:nvPr/>
        </p:nvSpPr>
        <p:spPr>
          <a:xfrm>
            <a:off x="548640" y="1024128"/>
            <a:ext cx="11064240" cy="365760"/>
          </a:xfrm>
          <a:prstGeom prst="rect">
            <a:avLst/>
          </a:prstGeom>
          <a:noFill/>
          <a:ln/>
        </p:spPr>
        <p:txBody>
          <a:bodyPr wrap="square" lIns="0" tIns="0" rIns="0" bIns="0" rtlCol="0" anchor="ctr"/>
          <a:lstStyle/>
          <a:p>
            <a:pPr indent="0" marL="0">
              <a:buNone/>
            </a:pPr>
            <a:r>
              <a:rPr lang="en-US" sz="1400" dirty="0">
                <a:solidFill>
                  <a:srgbClr val="5B6770"/>
                </a:solidFill>
                <a:latin typeface="Arial" pitchFamily="34" charset="0"/>
                <a:ea typeface="Arial" pitchFamily="34" charset="-122"/>
                <a:cs typeface="Arial" pitchFamily="34" charset="-120"/>
              </a:rPr>
              <a:t>Đảo chiều nhãn dự đoán và sự xói mòn độ tự tin khi thay đổi phân phối cường độ sáng</a:t>
            </a:r>
            <a:endParaRPr lang="en-US" sz="1400" dirty="0"/>
          </a:p>
        </p:txBody>
      </p:sp>
      <p:sp>
        <p:nvSpPr>
          <p:cNvPr id="5" name="Text 3"/>
          <p:cNvSpPr txBox="1"/>
          <p:nvPr/>
        </p:nvSpPr>
        <p:spPr>
          <a:xfrm>
            <a:off x="11155680" y="6355080"/>
            <a:ext cx="640080" cy="274320"/>
          </a:xfrm>
          <a:prstGeom prst="rect">
            <a:avLst/>
          </a:prstGeom>
          <a:noFill/>
          <a:ln/>
        </p:spPr>
        <p:txBody>
          <a:bodyPr wrap="square" lIns="0" tIns="0" rIns="0" bIns="0" rtlCol="0" anchor="ctr"/>
          <a:lstStyle/>
          <a:p>
            <a:pPr algn="r" indent="0" marL="0">
              <a:buNone/>
            </a:pPr>
            <a:r>
              <a:rPr lang="en-US" sz="1000" dirty="0">
                <a:solidFill>
                  <a:srgbClr val="5B6770"/>
                </a:solidFill>
                <a:latin typeface="Arial" pitchFamily="34" charset="0"/>
                <a:ea typeface="Arial" pitchFamily="34" charset="-122"/>
                <a:cs typeface="Arial" pitchFamily="34" charset="-120"/>
              </a:rPr>
              <a:t>09</a:t>
            </a:r>
            <a:endParaRPr lang="en-US" sz="1000" dirty="0"/>
          </a:p>
        </p:txBody>
      </p:sp>
      <p:graphicFrame>
        <p:nvGraphicFramePr>
          <p:cNvPr id="6" name="Chart 0" descr=""/>
          <p:cNvGraphicFramePr/>
          <p:nvPr/>
        </p:nvGraphicFramePr>
        <p:xfrm>
          <a:off x="548640" y="1600200"/>
          <a:ext cx="5669280" cy="393192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6492240" y="1645920"/>
            <a:ext cx="5120640" cy="914400"/>
          </a:xfrm>
          <a:prstGeom prst="rect">
            <a:avLst/>
          </a:prstGeom>
          <a:solidFill>
            <a:srgbClr val="F3F6F9"/>
          </a:solidFill>
          <a:ln w="9525">
            <a:solidFill>
              <a:srgbClr val="D9E1E8"/>
            </a:solidFill>
            <a:prstDash val="solid"/>
          </a:ln>
        </p:spPr>
      </p:sp>
      <p:sp>
        <p:nvSpPr>
          <p:cNvPr id="8" name="Shape 5"/>
          <p:cNvSpPr/>
          <p:nvPr/>
        </p:nvSpPr>
        <p:spPr>
          <a:xfrm>
            <a:off x="6492240" y="1645920"/>
            <a:ext cx="73152" cy="914400"/>
          </a:xfrm>
          <a:prstGeom prst="rect">
            <a:avLst/>
          </a:prstGeom>
          <a:solidFill>
            <a:srgbClr val="1F3A5F"/>
          </a:solidFill>
          <a:ln w="12700">
            <a:solidFill>
              <a:srgbClr val="1F3A5F"/>
            </a:solidFill>
            <a:prstDash val="solid"/>
          </a:ln>
        </p:spPr>
      </p:sp>
      <p:sp>
        <p:nvSpPr>
          <p:cNvPr id="9" name="Text 6"/>
          <p:cNvSpPr txBox="1"/>
          <p:nvPr/>
        </p:nvSpPr>
        <p:spPr>
          <a:xfrm>
            <a:off x="6720840" y="1719072"/>
            <a:ext cx="4754880" cy="292608"/>
          </a:xfrm>
          <a:prstGeom prst="rect">
            <a:avLst/>
          </a:prstGeom>
          <a:noFill/>
          <a:ln/>
        </p:spPr>
        <p:txBody>
          <a:bodyPr wrap="square" lIns="0" tIns="0" rIns="0" bIns="0" rtlCol="0" anchor="ctr"/>
          <a:lstStyle/>
          <a:p>
            <a:pPr indent="0" marL="0">
              <a:buNone/>
            </a:pPr>
            <a:r>
              <a:rPr lang="en-US" sz="1250" b="1" dirty="0">
                <a:solidFill>
                  <a:srgbClr val="1E293B"/>
                </a:solidFill>
                <a:latin typeface="Arial" pitchFamily="34" charset="0"/>
                <a:ea typeface="Arial" pitchFamily="34" charset="-122"/>
                <a:cs typeface="Arial" pitchFamily="34" charset="-120"/>
              </a:rPr>
              <a:t>1. Ảnh gốc: đúng tuyệt đối</a:t>
            </a:r>
            <a:endParaRPr lang="en-US" sz="1250" dirty="0"/>
          </a:p>
        </p:txBody>
      </p:sp>
      <p:sp>
        <p:nvSpPr>
          <p:cNvPr id="10" name="Text 7"/>
          <p:cNvSpPr txBox="1"/>
          <p:nvPr/>
        </p:nvSpPr>
        <p:spPr>
          <a:xfrm>
            <a:off x="6720840" y="2011680"/>
            <a:ext cx="4754880" cy="502920"/>
          </a:xfrm>
          <a:prstGeom prst="rect">
            <a:avLst/>
          </a:prstGeom>
          <a:noFill/>
          <a:ln/>
        </p:spPr>
        <p:txBody>
          <a:bodyPr wrap="square" lIns="0" tIns="0" rIns="0" bIns="0" rtlCol="0" anchor="t"/>
          <a:lstStyle/>
          <a:p>
            <a:pPr indent="0" marL="0">
              <a:buNone/>
            </a:pPr>
            <a:r>
              <a:rPr lang="en-US" sz="1100" dirty="0">
                <a:solidFill>
                  <a:srgbClr val="5B6770"/>
                </a:solidFill>
                <a:latin typeface="Arial" pitchFamily="34" charset="0"/>
                <a:ea typeface="Arial" pitchFamily="34" charset="-122"/>
                <a:cs typeface="Arial" pitchFamily="34" charset="-120"/>
              </a:rPr>
              <a:t>Top-1: A với 99,9%. Xác suất E dưới 0,1%.</a:t>
            </a:r>
            <a:endParaRPr lang="en-US" sz="1100" dirty="0"/>
          </a:p>
        </p:txBody>
      </p:sp>
      <p:sp>
        <p:nvSpPr>
          <p:cNvPr id="11" name="Shape 8"/>
          <p:cNvSpPr/>
          <p:nvPr/>
        </p:nvSpPr>
        <p:spPr>
          <a:xfrm>
            <a:off x="6492240" y="2670048"/>
            <a:ext cx="5120640" cy="914400"/>
          </a:xfrm>
          <a:prstGeom prst="rect">
            <a:avLst/>
          </a:prstGeom>
          <a:solidFill>
            <a:srgbClr val="F3F6F9"/>
          </a:solidFill>
          <a:ln w="9525">
            <a:solidFill>
              <a:srgbClr val="D9E1E8"/>
            </a:solidFill>
            <a:prstDash val="solid"/>
          </a:ln>
        </p:spPr>
      </p:sp>
      <p:sp>
        <p:nvSpPr>
          <p:cNvPr id="12" name="Shape 9"/>
          <p:cNvSpPr/>
          <p:nvPr/>
        </p:nvSpPr>
        <p:spPr>
          <a:xfrm>
            <a:off x="6492240" y="2670048"/>
            <a:ext cx="73152" cy="914400"/>
          </a:xfrm>
          <a:prstGeom prst="rect">
            <a:avLst/>
          </a:prstGeom>
          <a:solidFill>
            <a:srgbClr val="E76F51"/>
          </a:solidFill>
          <a:ln w="12700">
            <a:solidFill>
              <a:srgbClr val="E76F51"/>
            </a:solidFill>
            <a:prstDash val="solid"/>
          </a:ln>
        </p:spPr>
      </p:sp>
      <p:sp>
        <p:nvSpPr>
          <p:cNvPr id="13" name="Text 10"/>
          <p:cNvSpPr txBox="1"/>
          <p:nvPr/>
        </p:nvSpPr>
        <p:spPr>
          <a:xfrm>
            <a:off x="6720840" y="2743200"/>
            <a:ext cx="4754880" cy="292608"/>
          </a:xfrm>
          <a:prstGeom prst="rect">
            <a:avLst/>
          </a:prstGeom>
          <a:noFill/>
          <a:ln/>
        </p:spPr>
        <p:txBody>
          <a:bodyPr wrap="square" lIns="0" tIns="0" rIns="0" bIns="0" rtlCol="0" anchor="ctr"/>
          <a:lstStyle/>
          <a:p>
            <a:pPr indent="0" marL="0">
              <a:buNone/>
            </a:pPr>
            <a:r>
              <a:rPr lang="en-US" sz="1250" b="1" dirty="0">
                <a:solidFill>
                  <a:srgbClr val="1E293B"/>
                </a:solidFill>
                <a:latin typeface="Arial" pitchFamily="34" charset="0"/>
                <a:ea typeface="Arial" pitchFamily="34" charset="-122"/>
                <a:cs typeface="Arial" pitchFamily="34" charset="-120"/>
              </a:rPr>
              <a:t>2. Contrast Stretching: đảo chiều</a:t>
            </a:r>
            <a:endParaRPr lang="en-US" sz="1250" dirty="0"/>
          </a:p>
        </p:txBody>
      </p:sp>
      <p:sp>
        <p:nvSpPr>
          <p:cNvPr id="14" name="Text 11"/>
          <p:cNvSpPr txBox="1"/>
          <p:nvPr/>
        </p:nvSpPr>
        <p:spPr>
          <a:xfrm>
            <a:off x="6720840" y="3035808"/>
            <a:ext cx="4754880" cy="502920"/>
          </a:xfrm>
          <a:prstGeom prst="rect">
            <a:avLst/>
          </a:prstGeom>
          <a:noFill/>
          <a:ln/>
        </p:spPr>
        <p:txBody>
          <a:bodyPr wrap="square" lIns="0" tIns="0" rIns="0" bIns="0" rtlCol="0" anchor="t"/>
          <a:lstStyle/>
          <a:p>
            <a:pPr indent="0" marL="0">
              <a:buNone/>
            </a:pPr>
            <a:r>
              <a:rPr lang="en-US" sz="1100" dirty="0">
                <a:solidFill>
                  <a:srgbClr val="5B6770"/>
                </a:solidFill>
                <a:latin typeface="Arial" pitchFamily="34" charset="0"/>
                <a:ea typeface="Arial" pitchFamily="34" charset="-122"/>
                <a:cs typeface="Arial" pitchFamily="34" charset="-120"/>
              </a:rPr>
              <a:t>Top-1: E với 98,4%. Xác suất A chỉ còn 1,6%. Mô hình tự tin cao vào kết quả SAI.</a:t>
            </a:r>
            <a:endParaRPr lang="en-US" sz="1100" dirty="0"/>
          </a:p>
        </p:txBody>
      </p:sp>
      <p:sp>
        <p:nvSpPr>
          <p:cNvPr id="15" name="Shape 12"/>
          <p:cNvSpPr/>
          <p:nvPr/>
        </p:nvSpPr>
        <p:spPr>
          <a:xfrm>
            <a:off x="6492240" y="3694176"/>
            <a:ext cx="5120640" cy="914400"/>
          </a:xfrm>
          <a:prstGeom prst="rect">
            <a:avLst/>
          </a:prstGeom>
          <a:solidFill>
            <a:srgbClr val="F3F6F9"/>
          </a:solidFill>
          <a:ln w="9525">
            <a:solidFill>
              <a:srgbClr val="D9E1E8"/>
            </a:solidFill>
            <a:prstDash val="solid"/>
          </a:ln>
        </p:spPr>
      </p:sp>
      <p:sp>
        <p:nvSpPr>
          <p:cNvPr id="16" name="Shape 13"/>
          <p:cNvSpPr/>
          <p:nvPr/>
        </p:nvSpPr>
        <p:spPr>
          <a:xfrm>
            <a:off x="6492240" y="3694176"/>
            <a:ext cx="73152" cy="914400"/>
          </a:xfrm>
          <a:prstGeom prst="rect">
            <a:avLst/>
          </a:prstGeom>
          <a:solidFill>
            <a:srgbClr val="2A9D8F"/>
          </a:solidFill>
          <a:ln w="12700">
            <a:solidFill>
              <a:srgbClr val="2A9D8F"/>
            </a:solidFill>
            <a:prstDash val="solid"/>
          </a:ln>
        </p:spPr>
      </p:sp>
      <p:sp>
        <p:nvSpPr>
          <p:cNvPr id="17" name="Text 14"/>
          <p:cNvSpPr txBox="1"/>
          <p:nvPr/>
        </p:nvSpPr>
        <p:spPr>
          <a:xfrm>
            <a:off x="6720840" y="3767328"/>
            <a:ext cx="4754880" cy="292608"/>
          </a:xfrm>
          <a:prstGeom prst="rect">
            <a:avLst/>
          </a:prstGeom>
          <a:noFill/>
          <a:ln/>
        </p:spPr>
        <p:txBody>
          <a:bodyPr wrap="square" lIns="0" tIns="0" rIns="0" bIns="0" rtlCol="0" anchor="ctr"/>
          <a:lstStyle/>
          <a:p>
            <a:pPr indent="0" marL="0">
              <a:buNone/>
            </a:pPr>
            <a:r>
              <a:rPr lang="en-US" sz="1250" b="1" dirty="0">
                <a:solidFill>
                  <a:srgbClr val="1E293B"/>
                </a:solidFill>
                <a:latin typeface="Arial" pitchFamily="34" charset="0"/>
                <a:ea typeface="Arial" pitchFamily="34" charset="-122"/>
                <a:cs typeface="Arial" pitchFamily="34" charset="-120"/>
              </a:rPr>
              <a:t>3. Histogram Equalization: bào mòn niềm tin</a:t>
            </a:r>
            <a:endParaRPr lang="en-US" sz="1250" dirty="0"/>
          </a:p>
        </p:txBody>
      </p:sp>
      <p:sp>
        <p:nvSpPr>
          <p:cNvPr id="18" name="Text 15"/>
          <p:cNvSpPr txBox="1"/>
          <p:nvPr/>
        </p:nvSpPr>
        <p:spPr>
          <a:xfrm>
            <a:off x="6720840" y="4059936"/>
            <a:ext cx="4754880" cy="502920"/>
          </a:xfrm>
          <a:prstGeom prst="rect">
            <a:avLst/>
          </a:prstGeom>
          <a:noFill/>
          <a:ln/>
        </p:spPr>
        <p:txBody>
          <a:bodyPr wrap="square" lIns="0" tIns="0" rIns="0" bIns="0" rtlCol="0" anchor="t"/>
          <a:lstStyle/>
          <a:p>
            <a:pPr indent="0" marL="0">
              <a:buNone/>
            </a:pPr>
            <a:r>
              <a:rPr lang="en-US" sz="1100" dirty="0">
                <a:solidFill>
                  <a:srgbClr val="5B6770"/>
                </a:solidFill>
                <a:latin typeface="Arial" pitchFamily="34" charset="0"/>
                <a:ea typeface="Arial" pitchFamily="34" charset="-122"/>
                <a:cs typeface="Arial" pitchFamily="34" charset="-120"/>
              </a:rPr>
              <a:t>Top-1: A với 91,7%. E tăng lên 8,3%. Vẫn đúng nhưng kém chắc chắn.</a:t>
            </a:r>
            <a:endParaRPr lang="en-US" sz="1100" dirty="0"/>
          </a:p>
        </p:txBody>
      </p:sp>
      <p:sp>
        <p:nvSpPr>
          <p:cNvPr id="19" name="Shape 16"/>
          <p:cNvSpPr/>
          <p:nvPr/>
        </p:nvSpPr>
        <p:spPr>
          <a:xfrm>
            <a:off x="6492240" y="4800600"/>
            <a:ext cx="5120640" cy="1234440"/>
          </a:xfrm>
          <a:prstGeom prst="rect">
            <a:avLst/>
          </a:prstGeom>
          <a:solidFill>
            <a:srgbClr val="E8F4F2"/>
          </a:solidFill>
          <a:ln w="9525">
            <a:solidFill>
              <a:srgbClr val="2A9D8F"/>
            </a:solidFill>
            <a:prstDash val="solid"/>
          </a:ln>
        </p:spPr>
      </p:sp>
      <p:sp>
        <p:nvSpPr>
          <p:cNvPr id="20" name="Text 17"/>
          <p:cNvSpPr txBox="1"/>
          <p:nvPr/>
        </p:nvSpPr>
        <p:spPr>
          <a:xfrm>
            <a:off x="6720840" y="4901184"/>
            <a:ext cx="4754880" cy="274320"/>
          </a:xfrm>
          <a:prstGeom prst="rect">
            <a:avLst/>
          </a:prstGeom>
          <a:noFill/>
          <a:ln/>
        </p:spPr>
        <p:txBody>
          <a:bodyPr wrap="square" lIns="0" tIns="0" rIns="0" bIns="0" rtlCol="0" anchor="ctr"/>
          <a:lstStyle/>
          <a:p>
            <a:pPr indent="0" marL="0">
              <a:buNone/>
            </a:pPr>
            <a:r>
              <a:rPr lang="en-US" sz="1100" b="1" spc="100" kern="0" dirty="0">
                <a:solidFill>
                  <a:srgbClr val="2A9D8F"/>
                </a:solidFill>
                <a:latin typeface="Arial" pitchFamily="34" charset="0"/>
                <a:ea typeface="Arial" pitchFamily="34" charset="-122"/>
                <a:cs typeface="Arial" pitchFamily="34" charset="-120"/>
              </a:rPr>
              <a:t>BÀI HỌC VỀ HIỆU CHUẨN (CALIBRATION)</a:t>
            </a:r>
            <a:endParaRPr lang="en-US" sz="1100" dirty="0"/>
          </a:p>
        </p:txBody>
      </p:sp>
      <p:sp>
        <p:nvSpPr>
          <p:cNvPr id="21" name="Text 18"/>
          <p:cNvSpPr txBox="1"/>
          <p:nvPr/>
        </p:nvSpPr>
        <p:spPr>
          <a:xfrm>
            <a:off x="6720840" y="5193792"/>
            <a:ext cx="4754880" cy="777240"/>
          </a:xfrm>
          <a:prstGeom prst="rect">
            <a:avLst/>
          </a:prstGeom>
          <a:noFill/>
          <a:ln/>
        </p:spPr>
        <p:txBody>
          <a:bodyPr wrap="square" lIns="0" tIns="0" rIns="0" bIns="0" rtlCol="0" anchor="t"/>
          <a:lstStyle/>
          <a:p>
            <a:pPr indent="0" marL="0">
              <a:buNone/>
            </a:pPr>
            <a:r>
              <a:rPr lang="en-US" sz="1150" dirty="0">
                <a:solidFill>
                  <a:srgbClr val="1E293B"/>
                </a:solidFill>
                <a:latin typeface="Arial" pitchFamily="34" charset="0"/>
                <a:ea typeface="Arial" pitchFamily="34" charset="-122"/>
                <a:cs typeface="Arial" pitchFamily="34" charset="-120"/>
              </a:rPr>
              <a:t>Confidence không đảm bảo Accuracy. Ở Contrast Stretching, mô hình over-confident khi phân phối bị lệch.</a:t>
            </a:r>
            <a:endParaRPr lang="en-US" sz="1150" dirty="0"/>
          </a:p>
        </p:txBody>
      </p:sp>
      <p:sp>
        <p:nvSpPr>
          <p:cNvPr id="22" name="Text 19"/>
          <p:cNvSpPr txBox="1"/>
          <p:nvPr/>
        </p:nvSpPr>
        <p:spPr>
          <a:xfrm>
            <a:off x="548640" y="5669280"/>
            <a:ext cx="5669280" cy="320040"/>
          </a:xfrm>
          <a:prstGeom prst="rect">
            <a:avLst/>
          </a:prstGeom>
          <a:noFill/>
          <a:ln/>
        </p:spPr>
        <p:txBody>
          <a:bodyPr wrap="square" lIns="0" tIns="0" rIns="0" bIns="0" rtlCol="0" anchor="ctr"/>
          <a:lstStyle/>
          <a:p>
            <a:pPr indent="0" marL="0">
              <a:buNone/>
            </a:pPr>
            <a:r>
              <a:rPr lang="en-US" sz="1000" i="1" dirty="0">
                <a:solidFill>
                  <a:srgbClr val="5B6770"/>
                </a:solidFill>
                <a:latin typeface="Arial" pitchFamily="34" charset="0"/>
                <a:ea typeface="Arial" pitchFamily="34" charset="-122"/>
                <a:cs typeface="Arial" pitchFamily="34" charset="-120"/>
              </a:rPr>
              <a:t>Số liệu lấy trực tiếp từ vector Softmax 29 chiều trên ca kiểm thử chữ 'A'. Các nhãn khác xấp xỉ 0.</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1F3A5F"/>
          </a:solidFill>
          <a:ln w="12700">
            <a:solidFill>
              <a:srgbClr val="1F3A5F"/>
            </a:solidFill>
            <a:prstDash val="solid"/>
          </a:ln>
        </p:spPr>
      </p:sp>
      <p:sp>
        <p:nvSpPr>
          <p:cNvPr id="3" name="Text 1"/>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2600" b="1" dirty="0">
                <a:solidFill>
                  <a:srgbClr val="1F3A5F"/>
                </a:solidFill>
                <a:latin typeface="Arial" pitchFamily="34" charset="0"/>
                <a:ea typeface="Arial" pitchFamily="34" charset="-122"/>
                <a:cs typeface="Arial" pitchFamily="34" charset="-120"/>
              </a:rPr>
              <a:t>Tiền xử lý và CNN: Cần sự tương thích phân phối</a:t>
            </a:r>
            <a:endParaRPr lang="en-US" sz="2600" dirty="0"/>
          </a:p>
        </p:txBody>
      </p:sp>
      <p:sp>
        <p:nvSpPr>
          <p:cNvPr id="4" name="Text 2"/>
          <p:cNvSpPr txBox="1"/>
          <p:nvPr/>
        </p:nvSpPr>
        <p:spPr>
          <a:xfrm>
            <a:off x="548640" y="1024128"/>
            <a:ext cx="11064240" cy="365760"/>
          </a:xfrm>
          <a:prstGeom prst="rect">
            <a:avLst/>
          </a:prstGeom>
          <a:noFill/>
          <a:ln/>
        </p:spPr>
        <p:txBody>
          <a:bodyPr wrap="square" lIns="0" tIns="0" rIns="0" bIns="0" rtlCol="0" anchor="ctr"/>
          <a:lstStyle/>
          <a:p>
            <a:pPr indent="0" marL="0">
              <a:buNone/>
            </a:pPr>
            <a:r>
              <a:rPr lang="en-US" sz="1400" dirty="0">
                <a:solidFill>
                  <a:srgbClr val="5B6770"/>
                </a:solidFill>
                <a:latin typeface="Arial" pitchFamily="34" charset="0"/>
                <a:ea typeface="Arial" pitchFamily="34" charset="-122"/>
                <a:cs typeface="Arial" pitchFamily="34" charset="-120"/>
              </a:rPr>
              <a:t>Đánh giá bằng thực nghiệm định lượng, không dựa vào cảm quan thị giác của mắt người</a:t>
            </a:r>
            <a:endParaRPr lang="en-US" sz="1400" dirty="0"/>
          </a:p>
        </p:txBody>
      </p:sp>
      <p:sp>
        <p:nvSpPr>
          <p:cNvPr id="5" name="Text 3"/>
          <p:cNvSpPr txBox="1"/>
          <p:nvPr/>
        </p:nvSpPr>
        <p:spPr>
          <a:xfrm>
            <a:off x="11155680" y="6355080"/>
            <a:ext cx="640080" cy="274320"/>
          </a:xfrm>
          <a:prstGeom prst="rect">
            <a:avLst/>
          </a:prstGeom>
          <a:noFill/>
          <a:ln/>
        </p:spPr>
        <p:txBody>
          <a:bodyPr wrap="square" lIns="0" tIns="0" rIns="0" bIns="0" rtlCol="0" anchor="ctr"/>
          <a:lstStyle/>
          <a:p>
            <a:pPr algn="r" indent="0" marL="0">
              <a:buNone/>
            </a:pPr>
            <a:r>
              <a:rPr lang="en-US" sz="1000" dirty="0">
                <a:solidFill>
                  <a:srgbClr val="5B6770"/>
                </a:solidFill>
                <a:latin typeface="Arial" pitchFamily="34" charset="0"/>
                <a:ea typeface="Arial" pitchFamily="34" charset="-122"/>
                <a:cs typeface="Arial" pitchFamily="34" charset="-120"/>
              </a:rPr>
              <a:t>10</a:t>
            </a:r>
            <a:endParaRPr lang="en-US" sz="1000" dirty="0"/>
          </a:p>
        </p:txBody>
      </p:sp>
      <p:sp>
        <p:nvSpPr>
          <p:cNvPr id="6" name="Shape 4"/>
          <p:cNvSpPr/>
          <p:nvPr/>
        </p:nvSpPr>
        <p:spPr>
          <a:xfrm>
            <a:off x="548640" y="1645920"/>
            <a:ext cx="5486400" cy="4023360"/>
          </a:xfrm>
          <a:prstGeom prst="rect">
            <a:avLst/>
          </a:prstGeom>
          <a:solidFill>
            <a:srgbClr val="F3F6F9"/>
          </a:solidFill>
          <a:ln w="9525">
            <a:solidFill>
              <a:srgbClr val="D9E1E8"/>
            </a:solidFill>
            <a:prstDash val="solid"/>
          </a:ln>
        </p:spPr>
      </p:sp>
      <p:sp>
        <p:nvSpPr>
          <p:cNvPr id="7" name="Text 5"/>
          <p:cNvSpPr txBox="1"/>
          <p:nvPr/>
        </p:nvSpPr>
        <p:spPr>
          <a:xfrm>
            <a:off x="777240" y="1783080"/>
            <a:ext cx="5120640" cy="274320"/>
          </a:xfrm>
          <a:prstGeom prst="rect">
            <a:avLst/>
          </a:prstGeom>
          <a:noFill/>
          <a:ln/>
        </p:spPr>
        <p:txBody>
          <a:bodyPr wrap="square" lIns="0" tIns="0" rIns="0" bIns="0" rtlCol="0" anchor="ctr"/>
          <a:lstStyle/>
          <a:p>
            <a:pPr indent="0" marL="0">
              <a:buNone/>
            </a:pPr>
            <a:r>
              <a:rPr lang="en-US" sz="1100" b="1" spc="100" kern="0" dirty="0">
                <a:solidFill>
                  <a:srgbClr val="1F3A5F"/>
                </a:solidFill>
                <a:latin typeface="Arial" pitchFamily="34" charset="0"/>
                <a:ea typeface="Arial" pitchFamily="34" charset="-122"/>
                <a:cs typeface="Arial" pitchFamily="34" charset="-120"/>
              </a:rPr>
              <a:t>5 KẾT LUẬN RÚT RA TỪ THỰC NGHIỆM</a:t>
            </a:r>
            <a:endParaRPr lang="en-US" sz="1100" dirty="0"/>
          </a:p>
        </p:txBody>
      </p:sp>
      <p:sp>
        <p:nvSpPr>
          <p:cNvPr id="8" name="Text 6"/>
          <p:cNvSpPr txBox="1"/>
          <p:nvPr/>
        </p:nvSpPr>
        <p:spPr>
          <a:xfrm>
            <a:off x="777240" y="2148840"/>
            <a:ext cx="5120640" cy="3383280"/>
          </a:xfrm>
          <a:prstGeom prst="rect">
            <a:avLst/>
          </a:prstGeom>
          <a:noFill/>
          <a:ln/>
        </p:spPr>
        <p:txBody>
          <a:bodyPr wrap="square" lIns="0" tIns="0" rIns="0" bIns="0" rtlCol="0" anchor="t"/>
          <a:lstStyle/>
          <a:p>
            <a:pPr indent="0" marL="0">
              <a:spcAft>
                <a:spcPts val="900"/>
              </a:spcAft>
              <a:buNone/>
            </a:pPr>
            <a:r>
              <a:rPr lang="en-US" sz="1250" b="1" dirty="0">
                <a:solidFill>
                  <a:srgbClr val="1E293B"/>
                </a:solidFill>
                <a:latin typeface="Arial" pitchFamily="34" charset="0"/>
                <a:ea typeface="Arial" pitchFamily="34" charset="-122"/>
                <a:cs typeface="Arial" pitchFamily="34" charset="-120"/>
              </a:rPr>
              <a:t>Không phải lúc nào cũng tốt: </a:t>
            </a:r>
            <a:pPr indent="0" marL="0">
              <a:spcAft>
                <a:spcPts val="900"/>
              </a:spcAft>
              <a:buNone/>
            </a:pPr>
            <a:r>
              <a:rPr lang="en-US" sz="1250" dirty="0">
                <a:solidFill>
                  <a:srgbClr val="5B6770"/>
                </a:solidFill>
                <a:latin typeface="Arial" pitchFamily="34" charset="0"/>
                <a:ea typeface="Arial" pitchFamily="34" charset="-122"/>
                <a:cs typeface="Arial" pitchFamily="34" charset="-120"/>
              </a:rPr>
              <a:t>tăng tương phản không đồng nghĩa với cải thiện độ chính xác.</a:t>
            </a:r>
            <a:endParaRPr lang="en-US" sz="1250" dirty="0"/>
          </a:p>
          <a:p>
            <a:pPr indent="0" marL="0">
              <a:spcAft>
                <a:spcPts val="900"/>
              </a:spcAft>
              <a:buNone/>
            </a:pPr>
            <a:r>
              <a:rPr lang="en-US" sz="1250" b="1" dirty="0">
                <a:solidFill>
                  <a:srgbClr val="1E293B"/>
                </a:solidFill>
                <a:latin typeface="Arial" pitchFamily="34" charset="0"/>
                <a:ea typeface="Arial" pitchFamily="34" charset="-122"/>
                <a:cs typeface="Arial" pitchFamily="34" charset="-120"/>
              </a:rPr>
              <a:t>Ảnh gốc đạt tối ưu: </a:t>
            </a:r>
            <a:pPr indent="0" marL="0">
              <a:spcAft>
                <a:spcPts val="900"/>
              </a:spcAft>
              <a:buNone/>
            </a:pPr>
            <a:r>
              <a:rPr lang="en-US" sz="1250" dirty="0">
                <a:solidFill>
                  <a:srgbClr val="5B6770"/>
                </a:solidFill>
                <a:latin typeface="Arial" pitchFamily="34" charset="0"/>
                <a:ea typeface="Arial" pitchFamily="34" charset="-122"/>
                <a:cs typeface="Arial" pitchFamily="34" charset="-120"/>
              </a:rPr>
              <a:t>100% so với 88% và 68%.</a:t>
            </a:r>
            <a:endParaRPr lang="en-US" sz="1250" dirty="0"/>
          </a:p>
          <a:p>
            <a:pPr indent="0" marL="0">
              <a:spcAft>
                <a:spcPts val="900"/>
              </a:spcAft>
              <a:buNone/>
            </a:pPr>
            <a:r>
              <a:rPr lang="en-US" sz="1250" b="1" dirty="0">
                <a:solidFill>
                  <a:srgbClr val="1E293B"/>
                </a:solidFill>
                <a:latin typeface="Arial" pitchFamily="34" charset="0"/>
                <a:ea typeface="Arial" pitchFamily="34" charset="-122"/>
                <a:cs typeface="Arial" pitchFamily="34" charset="-120"/>
              </a:rPr>
              <a:t>Nhất quán phân phối P(X): </a:t>
            </a:r>
            <a:pPr indent="0" marL="0">
              <a:spcAft>
                <a:spcPts val="900"/>
              </a:spcAft>
              <a:buNone/>
            </a:pPr>
            <a:r>
              <a:rPr lang="en-US" sz="1250" dirty="0">
                <a:solidFill>
                  <a:srgbClr val="5B6770"/>
                </a:solidFill>
                <a:latin typeface="Arial" pitchFamily="34" charset="0"/>
                <a:ea typeface="Arial" pitchFamily="34" charset="-122"/>
                <a:cs typeface="Arial" pitchFamily="34" charset="-120"/>
              </a:rPr>
              <a:t>CNN cần dữ liệu tương thích với phân phối lúc huấn luyện.</a:t>
            </a:r>
            <a:endParaRPr lang="en-US" sz="1250" dirty="0"/>
          </a:p>
          <a:p>
            <a:pPr indent="0" marL="0">
              <a:spcAft>
                <a:spcPts val="900"/>
              </a:spcAft>
              <a:buNone/>
            </a:pPr>
            <a:r>
              <a:rPr lang="en-US" sz="1250" b="1" dirty="0">
                <a:solidFill>
                  <a:srgbClr val="1E293B"/>
                </a:solidFill>
                <a:latin typeface="Arial" pitchFamily="34" charset="0"/>
                <a:ea typeface="Arial" pitchFamily="34" charset="-122"/>
                <a:cs typeface="Arial" pitchFamily="34" charset="-120"/>
              </a:rPr>
              <a:t>Khuyến nghị huấn luyện: </a:t>
            </a:r>
            <a:pPr indent="0" marL="0">
              <a:spcAft>
                <a:spcPts val="900"/>
              </a:spcAft>
              <a:buNone/>
            </a:pPr>
            <a:r>
              <a:rPr lang="en-US" sz="1250" dirty="0">
                <a:solidFill>
                  <a:srgbClr val="5B6770"/>
                </a:solidFill>
                <a:latin typeface="Arial" pitchFamily="34" charset="0"/>
                <a:ea typeface="Arial" pitchFamily="34" charset="-122"/>
                <a:cs typeface="Arial" pitchFamily="34" charset="-120"/>
              </a:rPr>
              <a:t>nếu dùng tiền xử lý khi triển khai, cần tích hợp vào Data Augmentation.</a:t>
            </a:r>
            <a:endParaRPr lang="en-US" sz="1250" dirty="0"/>
          </a:p>
          <a:p>
            <a:pPr indent="0" marL="0">
              <a:spcAft>
                <a:spcPts val="900"/>
              </a:spcAft>
              <a:buNone/>
            </a:pPr>
            <a:r>
              <a:rPr lang="en-US" sz="1250" b="1" dirty="0">
                <a:solidFill>
                  <a:srgbClr val="1E293B"/>
                </a:solidFill>
                <a:latin typeface="Arial" pitchFamily="34" charset="0"/>
                <a:ea typeface="Arial" pitchFamily="34" charset="-122"/>
                <a:cs typeface="Arial" pitchFamily="34" charset="-120"/>
              </a:rPr>
              <a:t>Định lượng thay vì cảm quan: </a:t>
            </a:r>
            <a:pPr indent="0" marL="0">
              <a:spcAft>
                <a:spcPts val="900"/>
              </a:spcAft>
              <a:buNone/>
            </a:pPr>
            <a:r>
              <a:rPr lang="en-US" sz="1250" dirty="0">
                <a:solidFill>
                  <a:srgbClr val="5B6770"/>
                </a:solidFill>
                <a:latin typeface="Arial" pitchFamily="34" charset="0"/>
                <a:ea typeface="Arial" pitchFamily="34" charset="-122"/>
                <a:cs typeface="Arial" pitchFamily="34" charset="-120"/>
              </a:rPr>
              <a:t>đánh giá bằng Accuracy và Loss.</a:t>
            </a:r>
            <a:endParaRPr lang="en-US" sz="1250" dirty="0"/>
          </a:p>
        </p:txBody>
      </p:sp>
      <p:sp>
        <p:nvSpPr>
          <p:cNvPr id="9" name="Shape 7"/>
          <p:cNvSpPr/>
          <p:nvPr/>
        </p:nvSpPr>
        <p:spPr>
          <a:xfrm>
            <a:off x="6309360" y="1645920"/>
            <a:ext cx="5303520" cy="4023360"/>
          </a:xfrm>
          <a:prstGeom prst="rect">
            <a:avLst/>
          </a:prstGeom>
          <a:solidFill>
            <a:srgbClr val="EEF5FB"/>
          </a:solidFill>
          <a:ln w="9525">
            <a:solidFill>
              <a:srgbClr val="1F3A5F"/>
            </a:solidFill>
            <a:prstDash val="solid"/>
          </a:ln>
        </p:spPr>
      </p:sp>
      <p:sp>
        <p:nvSpPr>
          <p:cNvPr id="10" name="Text 8"/>
          <p:cNvSpPr txBox="1"/>
          <p:nvPr/>
        </p:nvSpPr>
        <p:spPr>
          <a:xfrm>
            <a:off x="6537960" y="1783080"/>
            <a:ext cx="4846320" cy="274320"/>
          </a:xfrm>
          <a:prstGeom prst="rect">
            <a:avLst/>
          </a:prstGeom>
          <a:noFill/>
          <a:ln/>
        </p:spPr>
        <p:txBody>
          <a:bodyPr wrap="square" lIns="0" tIns="0" rIns="0" bIns="0" rtlCol="0" anchor="ctr"/>
          <a:lstStyle/>
          <a:p>
            <a:pPr indent="0" marL="0">
              <a:buNone/>
            </a:pPr>
            <a:r>
              <a:rPr lang="en-US" sz="1100" b="1" spc="100" kern="0" dirty="0">
                <a:solidFill>
                  <a:srgbClr val="1F3A5F"/>
                </a:solidFill>
                <a:latin typeface="Arial" pitchFamily="34" charset="0"/>
                <a:ea typeface="Arial" pitchFamily="34" charset="-122"/>
                <a:cs typeface="Arial" pitchFamily="34" charset="-120"/>
              </a:rPr>
              <a:t>4 HƯỚNG PHÁT TRIỂN TIẾP THEO</a:t>
            </a:r>
            <a:endParaRPr lang="en-US" sz="1100" dirty="0"/>
          </a:p>
        </p:txBody>
      </p:sp>
      <p:sp>
        <p:nvSpPr>
          <p:cNvPr id="11" name="Text 9"/>
          <p:cNvSpPr txBox="1"/>
          <p:nvPr/>
        </p:nvSpPr>
        <p:spPr>
          <a:xfrm>
            <a:off x="6537960" y="2148840"/>
            <a:ext cx="4846320" cy="3383280"/>
          </a:xfrm>
          <a:prstGeom prst="rect">
            <a:avLst/>
          </a:prstGeom>
          <a:noFill/>
          <a:ln/>
        </p:spPr>
        <p:txBody>
          <a:bodyPr wrap="square" lIns="0" tIns="0" rIns="0" bIns="0" rtlCol="0" anchor="t"/>
          <a:lstStyle/>
          <a:p>
            <a:pPr indent="0" marL="0">
              <a:spcAft>
                <a:spcPts val="900"/>
              </a:spcAft>
              <a:buNone/>
            </a:pPr>
            <a:r>
              <a:rPr lang="en-US" sz="1250" b="1" dirty="0">
                <a:solidFill>
                  <a:srgbClr val="1E293B"/>
                </a:solidFill>
                <a:latin typeface="Arial" pitchFamily="34" charset="0"/>
                <a:ea typeface="Arial" pitchFamily="34" charset="-122"/>
                <a:cs typeface="Arial" pitchFamily="34" charset="-120"/>
              </a:rPr>
              <a:t>Mở rộng tập kiểm thử: </a:t>
            </a:r>
            <a:pPr indent="0" marL="0">
              <a:spcAft>
                <a:spcPts val="900"/>
              </a:spcAft>
              <a:buNone/>
            </a:pPr>
            <a:r>
              <a:rPr lang="en-US" sz="1250" dirty="0">
                <a:solidFill>
                  <a:srgbClr val="5B6770"/>
                </a:solidFill>
                <a:latin typeface="Arial" pitchFamily="34" charset="0"/>
                <a:ea typeface="Arial" pitchFamily="34" charset="-122"/>
                <a:cs typeface="Arial" pitchFamily="34" charset="-120"/>
              </a:rPr>
              <a:t>hàng nghìn ảnh với nhiều điều kiện sáng, màu da và bối cảnh.</a:t>
            </a:r>
            <a:endParaRPr lang="en-US" sz="1250" dirty="0"/>
          </a:p>
          <a:p>
            <a:pPr indent="0" marL="0">
              <a:spcAft>
                <a:spcPts val="900"/>
              </a:spcAft>
              <a:buNone/>
            </a:pPr>
            <a:r>
              <a:rPr lang="en-US" sz="1250" b="1" dirty="0">
                <a:solidFill>
                  <a:srgbClr val="1E293B"/>
                </a:solidFill>
                <a:latin typeface="Arial" pitchFamily="34" charset="0"/>
                <a:ea typeface="Arial" pitchFamily="34" charset="-122"/>
                <a:cs typeface="Arial" pitchFamily="34" charset="-120"/>
              </a:rPr>
              <a:t>Kiểm tra tính độc lập: </a:t>
            </a:r>
            <a:pPr indent="0" marL="0">
              <a:spcAft>
                <a:spcPts val="900"/>
              </a:spcAft>
              <a:buNone/>
            </a:pPr>
            <a:r>
              <a:rPr lang="en-US" sz="1250" dirty="0">
                <a:solidFill>
                  <a:srgbClr val="5B6770"/>
                </a:solidFill>
                <a:latin typeface="Arial" pitchFamily="34" charset="0"/>
                <a:ea typeface="Arial" pitchFamily="34" charset="-122"/>
                <a:cs typeface="Arial" pitchFamily="34" charset="-120"/>
              </a:rPr>
              <a:t>loại trừ hiện tượng ghi nhớ (memorization) với tập huấn luyện gốc.</a:t>
            </a:r>
            <a:endParaRPr lang="en-US" sz="1250" dirty="0"/>
          </a:p>
          <a:p>
            <a:pPr indent="0" marL="0">
              <a:spcAft>
                <a:spcPts val="900"/>
              </a:spcAft>
              <a:buNone/>
            </a:pPr>
            <a:r>
              <a:rPr lang="en-US" sz="1250" b="1" dirty="0">
                <a:solidFill>
                  <a:srgbClr val="1E293B"/>
                </a:solidFill>
                <a:latin typeface="Arial" pitchFamily="34" charset="0"/>
                <a:ea typeface="Arial" pitchFamily="34" charset="-122"/>
                <a:cs typeface="Arial" pitchFamily="34" charset="-120"/>
              </a:rPr>
              <a:t>Trích xuất Feature Maps: </a:t>
            </a:r>
            <a:pPr indent="0" marL="0">
              <a:spcAft>
                <a:spcPts val="900"/>
              </a:spcAft>
              <a:buNone/>
            </a:pPr>
            <a:r>
              <a:rPr lang="en-US" sz="1250" dirty="0">
                <a:solidFill>
                  <a:srgbClr val="5B6770"/>
                </a:solidFill>
                <a:latin typeface="Arial" pitchFamily="34" charset="0"/>
                <a:ea typeface="Arial" pitchFamily="34" charset="-122"/>
                <a:cs typeface="Arial" pitchFamily="34" charset="-120"/>
              </a:rPr>
              <a:t>trực quan hóa activation tại các tầng Conv2D để kiểm chứng giả thuyết.</a:t>
            </a:r>
            <a:endParaRPr lang="en-US" sz="1250" dirty="0"/>
          </a:p>
          <a:p>
            <a:pPr indent="0" marL="0">
              <a:spcAft>
                <a:spcPts val="900"/>
              </a:spcAft>
              <a:buNone/>
            </a:pPr>
            <a:r>
              <a:rPr lang="en-US" sz="1250" b="1" dirty="0">
                <a:solidFill>
                  <a:srgbClr val="1E293B"/>
                </a:solidFill>
                <a:latin typeface="Arial" pitchFamily="34" charset="0"/>
                <a:ea typeface="Arial" pitchFamily="34" charset="-122"/>
                <a:cs typeface="Arial" pitchFamily="34" charset="-120"/>
              </a:rPr>
              <a:t>Chuẩn hóa đo thời gian: </a:t>
            </a:r>
            <a:pPr indent="0" marL="0">
              <a:spcAft>
                <a:spcPts val="900"/>
              </a:spcAft>
              <a:buNone/>
            </a:pPr>
            <a:r>
              <a:rPr lang="en-US" sz="1250" dirty="0">
                <a:solidFill>
                  <a:srgbClr val="5B6770"/>
                </a:solidFill>
                <a:latin typeface="Arial" pitchFamily="34" charset="0"/>
                <a:ea typeface="Arial" pitchFamily="34" charset="-122"/>
                <a:cs typeface="Arial" pitchFamily="34" charset="-120"/>
              </a:rPr>
              <a:t>lặp đo trên phần cứng chuẩn (CPU/GPU) để tăng độ tin cậy thống kê.</a:t>
            </a:r>
            <a:endParaRPr lang="en-US" sz="1250" dirty="0"/>
          </a:p>
        </p:txBody>
      </p:sp>
      <p:sp>
        <p:nvSpPr>
          <p:cNvPr id="12" name="Shape 10"/>
          <p:cNvSpPr/>
          <p:nvPr/>
        </p:nvSpPr>
        <p:spPr>
          <a:xfrm>
            <a:off x="548640" y="5806440"/>
            <a:ext cx="11064240" cy="457200"/>
          </a:xfrm>
          <a:prstGeom prst="rect">
            <a:avLst/>
          </a:prstGeom>
          <a:solidFill>
            <a:srgbClr val="1F3A5F"/>
          </a:solidFill>
          <a:ln w="12700">
            <a:solidFill>
              <a:srgbClr val="1F3A5F"/>
            </a:solidFill>
            <a:prstDash val="solid"/>
          </a:ln>
        </p:spPr>
      </p:sp>
      <p:sp>
        <p:nvSpPr>
          <p:cNvPr id="13" name="Text 11"/>
          <p:cNvSpPr txBox="1"/>
          <p:nvPr/>
        </p:nvSpPr>
        <p:spPr>
          <a:xfrm>
            <a:off x="548640" y="5806440"/>
            <a:ext cx="1106424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Đúng phân phối.  Chuẩn thực nghiệm.  Vững độ tin cậy.</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Đánh giá tác động của tiền xử lý ảnh đến nhận diện ASL bằng CNN</dc:title>
  <dc:subject>PptxGenJS Presentation</dc:subject>
  <dc:creator>PptxGenJS</dc:creator>
  <cp:lastModifiedBy>PptxGenJS</cp:lastModifiedBy>
  <cp:revision>1</cp:revision>
  <dcterms:created xsi:type="dcterms:W3CDTF">2026-10-27T11:27:11Z</dcterms:created>
  <dcterms:modified xsi:type="dcterms:W3CDTF">2026-10-27T11:27:11Z</dcterms:modified>
</cp:coreProperties>
</file>
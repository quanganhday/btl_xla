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Arial"/>
              </a:defRPr>
            </a:pPr>
            <a:r>
              <a:rPr sz="1300" b="0" i="0" u="none" strike="noStrike">
                <a:solidFill>
                  <a:srgbClr val="1E293B"/>
                </a:solidFill>
                <a:latin typeface="Arial"/>
              </a:rPr>
              <a:t>Thời gian tiền xử lý trung bình (ms/ảnh)</a:t>
            </a:r>
          </a:p>
        </c:rich>
      </c:tx>
      <c:layout/>
      <c:overlay val="0"/>
    </c:title>
    <c:autoTitleDeleted val="0"/>
    <c:plotArea>
      <c:layout/>
      <c:barChart>
        <c:barDir val="col"/>
        <c:grouping val="clustered"/>
        <c:varyColors val="0"/>
        <c:ser>
          <c:idx val="0"/>
          <c:order val="0"/>
          <c:tx>
            <c:strRef>
              <c:f>Sheet1!$B$1</c:f>
              <c:strCache>
                <c:ptCount val="1"/>
                <c:pt idx="0">
                  <c:v>ms/ảnh</c:v>
                </c:pt>
              </c:strCache>
            </c:strRef>
          </c:tx>
          <c:spPr>
            <a:solidFill>
              <a:srgbClr val="1F3A5F"/>
            </a:solidFill>
            <a:effectLst/>
          </c:spPr>
          <c:invertIfNegative val="0"/>
          <c:dLbls>
            <c:numFmt formatCode="0.00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A – Gốc</c:v>
                  </c:pt>
                  <c:pt idx="1">
                    <c:v>B – CS</c:v>
                  </c:pt>
                  <c:pt idx="2">
                    <c:v>C – HE</c:v>
                  </c:pt>
                  <c:pt idx="3">
                    <c:v>D – Gaussian</c:v>
                  </c:pt>
                  <c:pt idx="4">
                    <c:v>E – Median</c:v>
                  </c:pt>
                </c:lvl>
              </c:multiLvlStrCache>
            </c:multiLvlStrRef>
          </c:cat>
          <c:val>
            <c:numRef>
              <c:f>Sheet1!$B$2:$B$6</c:f>
              <c:numCache>
                <c:formatCode>General</c:formatCode>
                <c:ptCount val="5"/>
                <c:pt idx="0">
                  <c:v>0.273</c:v>
                </c:pt>
                <c:pt idx="1">
                  <c:v>0.495</c:v>
                </c:pt>
                <c:pt idx="2">
                  <c:v>0.35</c:v>
                </c:pt>
                <c:pt idx="3">
                  <c:v>0.475</c:v>
                </c:pt>
                <c:pt idx="4">
                  <c:v>0.573</c:v>
                </c:pt>
              </c:numCache>
            </c:numRef>
          </c:val>
        </c:ser>
        <c:dLbls>
          <c:numFmt formatCode="0.00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Arial"/>
              </a:defRPr>
            </a:pPr>
            <a:r>
              <a:rPr sz="1300" b="0" i="0" u="none" strike="noStrike">
                <a:solidFill>
                  <a:srgbClr val="1E293B"/>
                </a:solidFill>
                <a:latin typeface="Arial"/>
              </a:rPr>
              <a:t>Softmax Top-1 (%) của ảnh A</a:t>
            </a:r>
          </a:p>
        </c:rich>
      </c:tx>
      <c:layout/>
      <c:overlay val="0"/>
    </c:title>
    <c:autoTitleDeleted val="0"/>
    <c:plotArea>
      <c:layout/>
      <c:barChart>
        <c:barDir val="col"/>
        <c:grouping val="clustered"/>
        <c:varyColors val="0"/>
        <c:ser>
          <c:idx val="0"/>
          <c:order val="0"/>
          <c:tx>
            <c:strRef>
              <c:f>Sheet1!$B$1</c:f>
              <c:strCache>
                <c:ptCount val="1"/>
                <c:pt idx="0">
                  <c:v>Top-1 (%)</c:v>
                </c:pt>
              </c:strCache>
            </c:strRef>
          </c:tx>
          <c:spPr>
            <a:solidFill>
              <a:srgbClr val="1F3A5F"/>
            </a:solidFill>
            <a:effectLst/>
          </c:spPr>
          <c:invertIfNegative val="0"/>
          <c:dLbls>
            <c:numFmt formatCode="0.0&quot;%&quot;"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A – Gốc (A)</c:v>
                  </c:pt>
                  <c:pt idx="1">
                    <c:v>B – CS (E)</c:v>
                  </c:pt>
                  <c:pt idx="2">
                    <c:v>C – HE (A)</c:v>
                  </c:pt>
                  <c:pt idx="3">
                    <c:v>D – Gaussian (A)</c:v>
                  </c:pt>
                  <c:pt idx="4">
                    <c:v>E – Median (A)</c:v>
                  </c:pt>
                </c:lvl>
              </c:multiLvlStrCache>
            </c:multiLvlStrRef>
          </c:cat>
          <c:val>
            <c:numRef>
              <c:f>Sheet1!$B$2:$B$6</c:f>
              <c:numCache>
                <c:formatCode>General</c:formatCode>
                <c:ptCount val="5"/>
                <c:pt idx="0">
                  <c:v>99.9</c:v>
                </c:pt>
                <c:pt idx="1">
                  <c:v>98.4</c:v>
                </c:pt>
                <c:pt idx="2">
                  <c:v>91.7</c:v>
                </c:pt>
                <c:pt idx="3">
                  <c:v>99.9</c:v>
                </c:pt>
                <c:pt idx="4">
                  <c:v>99.9</c:v>
                </c:pt>
              </c:numCache>
            </c:numRef>
          </c:val>
        </c:ser>
        <c:dLbls>
          <c:numFmt formatCode="0.0&quot;%&quot;"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Arial"/>
              </a:defRPr>
            </a:pPr>
            <a:r>
              <a:rPr sz="1300" b="0" i="0" u="none" strike="noStrike">
                <a:solidFill>
                  <a:srgbClr val="1E293B"/>
                </a:solidFill>
                <a:latin typeface="Arial"/>
              </a:rPr>
              <a:t>Phương án C: Softmax Top-1 (%) trên 7 ký hiệu thấp nhất</a:t>
            </a:r>
          </a:p>
        </c:rich>
      </c:tx>
      <c:layout/>
      <c:overlay val="0"/>
    </c:title>
    <c:autoTitleDeleted val="0"/>
    <c:plotArea>
      <c:layout/>
      <c:barChart>
        <c:barDir val="col"/>
        <c:grouping val="clustered"/>
        <c:varyColors val="0"/>
        <c:ser>
          <c:idx val="0"/>
          <c:order val="0"/>
          <c:tx>
            <c:strRef>
              <c:f>Sheet1!$B$1</c:f>
              <c:strCache>
                <c:ptCount val="1"/>
                <c:pt idx="0">
                  <c:v>C – Top-1 (%)</c:v>
                </c:pt>
              </c:strCache>
            </c:strRef>
          </c:tx>
          <c:spPr>
            <a:solidFill>
              <a:srgbClr val="E76F51"/>
            </a:solidFill>
            <a:effectLst/>
          </c:spPr>
          <c:invertIfNegative val="0"/>
          <c:dLbls>
            <c:numFmt formatCode="0.0&quot;%&quot;"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Sheet1!$A$2:$A$8</c:f>
              <c:multiLvlStrCache>
                <c:ptCount val="7"/>
                <c:lvl>
                  <c:pt idx="0">
                    <c:v>U</c:v>
                  </c:pt>
                  <c:pt idx="1">
                    <c:v>G</c:v>
                  </c:pt>
                  <c:pt idx="2">
                    <c:v>R</c:v>
                  </c:pt>
                  <c:pt idx="3">
                    <c:v>L</c:v>
                  </c:pt>
                  <c:pt idx="4">
                    <c:v>J</c:v>
                  </c:pt>
                  <c:pt idx="5">
                    <c:v>H</c:v>
                  </c:pt>
                  <c:pt idx="6">
                    <c:v>Y</c:v>
                  </c:pt>
                </c:lvl>
              </c:multiLvlStrCache>
            </c:multiLvlStrRef>
          </c:cat>
          <c:val>
            <c:numRef>
              <c:f>Sheet1!$B$2:$B$8</c:f>
              <c:numCache>
                <c:formatCode>General</c:formatCode>
                <c:ptCount val="7"/>
                <c:pt idx="0">
                  <c:v>41.6</c:v>
                </c:pt>
                <c:pt idx="1">
                  <c:v>44</c:v>
                </c:pt>
                <c:pt idx="2">
                  <c:v>44.9</c:v>
                </c:pt>
                <c:pt idx="3">
                  <c:v>52.1</c:v>
                </c:pt>
                <c:pt idx="4">
                  <c:v>52.7</c:v>
                </c:pt>
                <c:pt idx="5">
                  <c:v>58.4</c:v>
                </c:pt>
                <c:pt idx="6">
                  <c:v>60.1</c:v>
                </c:pt>
              </c:numCache>
            </c:numRef>
          </c:val>
        </c:ser>
        <c:dLbls>
          <c:numFmt formatCode="0.0&quot;%&quot;"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xin trình bày đề tài đánh giá ảnh hưởng của năm kỹ thuật tiền xử lý ảnh đến kết quả nhận diện ký hiệu ASL bằng mạng CNN. Bài trình bày theo đúng cấu trúc báo cáo: cơ sở lý thuyết, dữ liệu và hệ thống, thiết kế thực nghiệm, kết quả, và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toàn bộ đề tài. Nhấn mạnh hai ý: ảnh rõ hơn đối với mắt người không đồng nghĩa mô hình nhận diện tốt hơn; và kết quả chỉ là bước đầu trên 25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câu hỏi này là khung cho toàn bộ chương 4. Câu hỏi thứ hai đặc biệt quan trọng: báo cáo không khẳng định tiền xử lý luôn có hại, mà chỉ đo tác động trên bộ thử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phép biến đổi mức sáng. CS dùng phân vị 1% và 99% thay vì min và max để tránh điểm nhiễu. HE là biến đổi phi tuyến dựa trên CDF. Cả hai đều chỉ tác động lên kênh Y để hạn chế đổi màu.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Gaussian là lọc tuyến tính, median là lọc phi tuyến. Trong thực nghiệm, cả hai đều dùng cấu hình mặc định 5 × 5. Lưu ý: bộ thử không có nhiễu được thêm chủ ý, nên không thể kết luận hai bộ lọc tối ưu khi ảnh nhiễu.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lý thuyết nền. Điểm cần nói rõ: nhóm không khẳng định đã chứng minh covariate shift; đó là hướng giải thích hợp lý, chưa được kiểm chứng bằng bản đồ kích hoạt.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bộ dữ liệu khác nhau: bộ Kaggle để huấn luyện, và 25 ảnh để thử nghiệm tiền xử lý. Số liệu 69.600/8.700/8.700 là tính theo tỷ lệ, không phải số đếm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lấy từ báo cáo mục 2.4. Điểm cần nhấn mạnh: mô hình không được huấn luyện lại trong suốt thực nghiệm so sánh, nên mọi khác biệt đến từ phép tiền xử lý đầu vào.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cấu hình huấn luyện có kết quả khác nhau: cấu hình đơn giản có Accuracy cao hơn trên tập đánh giá của notebook, nhưng mô hình được lưu để suy luận lại là cấu hình có BN và Dropout. Đây là điểm nên được giải thích rõ nếu thầy cô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đăng ký năm phương án trong preprocessing.py. Mục đích của A là làm chuẩn so sánh; B và C là hai phép tăng tương phản; D và E là hai phép lọc.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4.1 của báo cáo. Ba điểm cần nhấn: B và C giảm rõ; D và E giữ nguyên; và confidence không đồng nghĩa với xác suất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thời gian là cho tiền xử lý, không phải end-to-end. Nếu muốn đánh giá ứng dụng camera thời gian thực, cần đo thêm đọc khung hình, phát hiện bàn tay và hiển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4.2 của báo cáo. Nhấn mạnh N và S, vì hai chữ này sai ở cả hai phép tăng tương phản.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rõ nhất về confidence không đáng tin: 98,39% cho một dự đoán sai. Báo cáo chỉ có Top-1 và confidence, không có vector đầy đủ nên không phân tích được phân bố xác suất các lớp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điểm cần lưu ý: log Top-1 không cho biết lớp nào hay đường biên nào trong mạng gây ra sai lệch. Muốn kiểm chứng cần trực quan hóa bản đồ kích hoạt.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quan trọng để thể hiện sự thận trọng khoa học: kết quả đúng trên bộ thử, nhưng báo cáo không suy rộng cho mọi trường hợp ASL.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chương 5. Nhấn mạnh rằng kết luận chỉ đúng trong phạm vi bộ 25 ảnh và cấu hình tham số đã chọn.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hướng: tiền xử lý, mô hình, và ứng dụng thực tế. Đây là phần định hướng trong báo cáo, chưa phải kết quả đã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Mở phần hỏi đáp. Gợi ý trả lời: vì sao không huấn luyện lại (để đo tác động trên mô hình đã triển khai); vì sao chỉ 25 ảnh (phạm vi bài tập, đã nêu hạn chế); vì sao confidence 98,39% cho dự đoán sai (mạng chưa được hiệu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731520" y="1188720"/>
            <a:ext cx="822960" cy="73152"/>
          </a:xfrm>
          <a:prstGeom prst="rect">
            <a:avLst/>
          </a:prstGeom>
          <a:solidFill>
            <a:srgbClr val="2A9D8F"/>
          </a:solidFill>
          <a:ln w="12700">
            <a:solidFill>
              <a:srgbClr val="2A9D8F"/>
            </a:solidFill>
            <a:prstDash val="solid"/>
          </a:ln>
        </p:spPr>
      </p:sp>
      <p:sp>
        <p:nvSpPr>
          <p:cNvPr id="3" name="Text 1"/>
          <p:cNvSpPr txBox="1"/>
          <p:nvPr/>
        </p:nvSpPr>
        <p:spPr>
          <a:xfrm>
            <a:off x="731520" y="1417320"/>
            <a:ext cx="10515600" cy="365760"/>
          </a:xfrm>
          <a:prstGeom prst="rect">
            <a:avLst/>
          </a:prstGeom>
          <a:noFill/>
          <a:ln/>
        </p:spPr>
        <p:txBody>
          <a:bodyPr wrap="square" lIns="0" tIns="0" rIns="0" bIns="0" rtlCol="0" anchor="ctr"/>
          <a:lstStyle/>
          <a:p>
            <a:pPr indent="0" marL="0">
              <a:buNone/>
            </a:pPr>
            <a:r>
              <a:rPr lang="en-US" sz="1300" b="1" dirty="0">
                <a:solidFill>
                  <a:srgbClr val="9FD8D0"/>
                </a:solidFill>
                <a:latin typeface="Arial" pitchFamily="34" charset="0"/>
                <a:ea typeface="Arial" pitchFamily="34" charset="-122"/>
                <a:cs typeface="Arial" pitchFamily="34" charset="-120"/>
              </a:rPr>
              <a:t>BÁO CÁO BÀI TẬP LỚN  |  HỌC PHẦN XỬ LÝ ẢNH SỐ</a:t>
            </a:r>
            <a:endParaRPr lang="en-US" sz="1300" dirty="0"/>
          </a:p>
        </p:txBody>
      </p:sp>
      <p:sp>
        <p:nvSpPr>
          <p:cNvPr id="4" name="Text 2"/>
          <p:cNvSpPr txBox="1"/>
          <p:nvPr/>
        </p:nvSpPr>
        <p:spPr>
          <a:xfrm>
            <a:off x="731520" y="1920240"/>
            <a:ext cx="10789920" cy="237744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ĐÁNH GIÁ ẢNH HƯỞNG CỦA CÁC KỸ THUẬT TIỀN XỬ LÝ ẢNH ĐẾN KẾT QUẢ NHẬN DIỆN BẢNG CHỮ CÁI NGÔN NGỮ KÝ HIỆU MỸ (ASL) BẰNG MẠNG NƠ-RON TÍCH CHẬP (CNN)</a:t>
            </a:r>
            <a:endParaRPr lang="en-US" sz="2800" dirty="0"/>
          </a:p>
        </p:txBody>
      </p:sp>
      <p:sp>
        <p:nvSpPr>
          <p:cNvPr id="5" name="Text 3"/>
          <p:cNvSpPr txBox="1"/>
          <p:nvPr/>
        </p:nvSpPr>
        <p:spPr>
          <a:xfrm>
            <a:off x="731520" y="4754880"/>
            <a:ext cx="10515600" cy="365760"/>
          </a:xfrm>
          <a:prstGeom prst="rect">
            <a:avLst/>
          </a:prstGeom>
          <a:noFill/>
          <a:ln/>
        </p:spPr>
        <p:txBody>
          <a:bodyPr wrap="square" lIns="0" tIns="0" rIns="0" bIns="0" rtlCol="0" anchor="ctr"/>
          <a:lstStyle/>
          <a:p>
            <a:pPr indent="0" marL="0">
              <a:buNone/>
            </a:pPr>
            <a:r>
              <a:rPr lang="en-US" sz="1400" dirty="0">
                <a:solidFill>
                  <a:srgbClr val="D6E2EE"/>
                </a:solidFill>
                <a:latin typeface="Arial" pitchFamily="34" charset="0"/>
                <a:ea typeface="Arial" pitchFamily="34" charset="-122"/>
                <a:cs typeface="Arial" pitchFamily="34" charset="-120"/>
              </a:rPr>
              <a:t>Giảng viên hướng dẫn: ……………………     Nhóm thực hiện: ……………………</a:t>
            </a:r>
            <a:endParaRPr lang="en-US" sz="1400" dirty="0"/>
          </a:p>
        </p:txBody>
      </p:sp>
      <p:sp>
        <p:nvSpPr>
          <p:cNvPr id="6" name="Text 4"/>
          <p:cNvSpPr txBox="1"/>
          <p:nvPr/>
        </p:nvSpPr>
        <p:spPr>
          <a:xfrm>
            <a:off x="731520" y="5852160"/>
            <a:ext cx="10515600" cy="365760"/>
          </a:xfrm>
          <a:prstGeom prst="rect">
            <a:avLst/>
          </a:prstGeom>
          <a:noFill/>
          <a:ln/>
        </p:spPr>
        <p:txBody>
          <a:bodyPr wrap="square" lIns="0" tIns="0" rIns="0" bIns="0" rtlCol="0" anchor="ctr"/>
          <a:lstStyle/>
          <a:p>
            <a:pPr indent="0" marL="0">
              <a:buNone/>
            </a:pPr>
            <a:r>
              <a:rPr lang="en-US" sz="1300" dirty="0">
                <a:solidFill>
                  <a:srgbClr val="9FB4C8"/>
                </a:solidFill>
                <a:latin typeface="Arial" pitchFamily="34" charset="0"/>
                <a:ea typeface="Arial" pitchFamily="34" charset="-122"/>
                <a:cs typeface="Arial" pitchFamily="34" charset="-120"/>
              </a:rPr>
              <a:t>Trường Đại học Phenikaa  •  Khoa Công nghệ Thông tin  •  Hà Nội, tháng 10/2026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Tóm tắt</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Năm phương án được đánh giá trên cùng 25 ảnh ASL với một mô hình CNN đã huấn luyện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02</a:t>
            </a:r>
            <a:endParaRPr lang="en-US" sz="1000" dirty="0"/>
          </a:p>
        </p:txBody>
      </p:sp>
      <p:sp>
        <p:nvSpPr>
          <p:cNvPr id="6" name="Shape 4"/>
          <p:cNvSpPr/>
          <p:nvPr/>
        </p:nvSpPr>
        <p:spPr>
          <a:xfrm>
            <a:off x="548640" y="1645920"/>
            <a:ext cx="3520440" cy="3566160"/>
          </a:xfrm>
          <a:prstGeom prst="rect">
            <a:avLst/>
          </a:prstGeom>
          <a:solidFill>
            <a:srgbClr val="F3F6F9"/>
          </a:solidFill>
          <a:ln w="9525">
            <a:solidFill>
              <a:srgbClr val="D9E1E8"/>
            </a:solidFill>
            <a:prstDash val="solid"/>
          </a:ln>
        </p:spPr>
      </p:sp>
      <p:sp>
        <p:nvSpPr>
          <p:cNvPr id="7" name="Text 5"/>
          <p:cNvSpPr txBox="1"/>
          <p:nvPr/>
        </p:nvSpPr>
        <p:spPr>
          <a:xfrm>
            <a:off x="777240" y="1810512"/>
            <a:ext cx="310896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NĂM PHƯƠNG ÁN XỬ LÝ</a:t>
            </a:r>
            <a:endParaRPr lang="en-US" sz="1100" dirty="0"/>
          </a:p>
        </p:txBody>
      </p:sp>
      <p:sp>
        <p:nvSpPr>
          <p:cNvPr id="8" name="Text 6"/>
          <p:cNvSpPr txBox="1"/>
          <p:nvPr/>
        </p:nvSpPr>
        <p:spPr>
          <a:xfrm>
            <a:off x="777240" y="2194560"/>
            <a:ext cx="310896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A: ảnh gốc (đối chứng)</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 dãn tương phản theo phân vị 1%–99%</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 cân bằng histogram</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D: lọc Gaussian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E: lọc trung vị</a:t>
            </a:r>
            <a:endParaRPr lang="en-US" sz="1300" dirty="0"/>
          </a:p>
        </p:txBody>
      </p:sp>
      <p:sp>
        <p:nvSpPr>
          <p:cNvPr id="9" name="Shape 7"/>
          <p:cNvSpPr/>
          <p:nvPr/>
        </p:nvSpPr>
        <p:spPr>
          <a:xfrm>
            <a:off x="4297680" y="1645920"/>
            <a:ext cx="3520440" cy="3566160"/>
          </a:xfrm>
          <a:prstGeom prst="rect">
            <a:avLst/>
          </a:prstGeom>
          <a:solidFill>
            <a:srgbClr val="EEF5FB"/>
          </a:solidFill>
          <a:ln w="9525">
            <a:solidFill>
              <a:srgbClr val="1F3A5F"/>
            </a:solidFill>
            <a:prstDash val="solid"/>
          </a:ln>
        </p:spPr>
      </p:sp>
      <p:sp>
        <p:nvSpPr>
          <p:cNvPr id="10" name="Text 8"/>
          <p:cNvSpPr txBox="1"/>
          <p:nvPr/>
        </p:nvSpPr>
        <p:spPr>
          <a:xfrm>
            <a:off x="4526280" y="1810512"/>
            <a:ext cx="310896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KẾT QUẢ CHÍNH</a:t>
            </a:r>
            <a:endParaRPr lang="en-US" sz="1100" dirty="0"/>
          </a:p>
        </p:txBody>
      </p:sp>
      <p:sp>
        <p:nvSpPr>
          <p:cNvPr id="11" name="Text 9"/>
          <p:cNvSpPr txBox="1"/>
          <p:nvPr/>
        </p:nvSpPr>
        <p:spPr>
          <a:xfrm>
            <a:off x="4526280" y="2194560"/>
            <a:ext cx="310896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A, D, E: đúng 25/25 (100%)</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 đúng 22/25 (88%)</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 đúng 17/25 (68%)</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Confidence TB: A 99,06%; B 92,94%; C 78,90%; D 98,50%; E 97,42%</a:t>
            </a:r>
            <a:endParaRPr lang="en-US" sz="1300" dirty="0"/>
          </a:p>
        </p:txBody>
      </p:sp>
      <p:sp>
        <p:nvSpPr>
          <p:cNvPr id="12" name="Shape 10"/>
          <p:cNvSpPr/>
          <p:nvPr/>
        </p:nvSpPr>
        <p:spPr>
          <a:xfrm>
            <a:off x="8046720" y="1645920"/>
            <a:ext cx="3520440" cy="3566160"/>
          </a:xfrm>
          <a:prstGeom prst="rect">
            <a:avLst/>
          </a:prstGeom>
          <a:solidFill>
            <a:srgbClr val="F3F6F9"/>
          </a:solidFill>
          <a:ln w="9525">
            <a:solidFill>
              <a:srgbClr val="D9E1E8"/>
            </a:solidFill>
            <a:prstDash val="solid"/>
          </a:ln>
        </p:spPr>
      </p:sp>
      <p:sp>
        <p:nvSpPr>
          <p:cNvPr id="13" name="Text 11"/>
          <p:cNvSpPr txBox="1"/>
          <p:nvPr/>
        </p:nvSpPr>
        <p:spPr>
          <a:xfrm>
            <a:off x="8275320" y="1810512"/>
            <a:ext cx="310896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GIỚI HẠN CẦN NHỚ</a:t>
            </a:r>
            <a:endParaRPr lang="en-US" sz="1100" dirty="0"/>
          </a:p>
        </p:txBody>
      </p:sp>
      <p:sp>
        <p:nvSpPr>
          <p:cNvPr id="14" name="Text 12"/>
          <p:cNvSpPr txBox="1"/>
          <p:nvPr/>
        </p:nvSpPr>
        <p:spPr>
          <a:xfrm>
            <a:off x="8275320" y="2194560"/>
            <a:ext cx="310896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Chỉ 25 ảnh, mỗi ảnh tương đương 4% Accuracy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Kết quả là bước đầu, chưa suy rộng cho mọi trường hợp ASL trong thực tế</a:t>
            </a:r>
            <a:endParaRPr lang="en-US" sz="1300" dirty="0"/>
          </a:p>
        </p:txBody>
      </p:sp>
      <p:sp>
        <p:nvSpPr>
          <p:cNvPr id="15" name="Text 13"/>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Kết luận nhanh: tăng tương phản làm giảm nhận diện đúng; hai phép lọc mặc định không đổi nhãn Top-1 trên bộ thử.</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Mục tiêu và câu hỏi nghiên cứu</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Đối tượng: ảnh bàn tay ASL, các phép biến đổi mức sáng và lọc không gian, cùng một mô hình CNN cố định</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03</a:t>
            </a:r>
            <a:endParaRPr lang="en-US" sz="1000" dirty="0"/>
          </a:p>
        </p:txBody>
      </p:sp>
      <p:sp>
        <p:nvSpPr>
          <p:cNvPr id="6" name="Text 4"/>
          <p:cNvSpPr txBox="1"/>
          <p:nvPr/>
        </p:nvSpPr>
        <p:spPr>
          <a:xfrm>
            <a:off x="548640" y="1645920"/>
            <a:ext cx="45720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MỤC TIÊU</a:t>
            </a:r>
            <a:endParaRPr lang="en-US" sz="1100" dirty="0"/>
          </a:p>
        </p:txBody>
      </p:sp>
      <p:sp>
        <p:nvSpPr>
          <p:cNvPr id="7" name="Text 5"/>
          <p:cNvSpPr txBox="1"/>
          <p:nvPr/>
        </p:nvSpPr>
        <p:spPr>
          <a:xfrm>
            <a:off x="548640" y="2011680"/>
            <a:ext cx="5120640" cy="3840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5B6770"/>
                </a:solidFill>
                <a:latin typeface="Arial" pitchFamily="34" charset="0"/>
                <a:ea typeface="Arial" pitchFamily="34" charset="-122"/>
                <a:cs typeface="Arial" pitchFamily="34" charset="-120"/>
              </a:rPr>
              <a:t>Tìm hiểu nguyên lý dãn tương phản, cân bằng histogram, lọc Gaussian và lọc trung vị</a:t>
            </a:r>
            <a:endParaRPr lang="en-US" sz="1400" dirty="0"/>
          </a:p>
          <a:p>
            <a:pPr marL="342900" indent="-342900">
              <a:spcAft>
                <a:spcPts val="1000"/>
              </a:spcAft>
              <a:buSzPct val="100000"/>
              <a:buChar char="•"/>
            </a:pPr>
            <a:r>
              <a:rPr lang="en-US" sz="1400" dirty="0">
                <a:solidFill>
                  <a:srgbClr val="5B6770"/>
                </a:solidFill>
                <a:latin typeface="Arial" pitchFamily="34" charset="0"/>
                <a:ea typeface="Arial" pitchFamily="34" charset="-122"/>
                <a:cs typeface="Arial" pitchFamily="34" charset="-120"/>
              </a:rPr>
              <a:t>Xác định đầu vào, chuẩn hóa và cấu trúc CNN dùng cho 29 nhãn ASL</a:t>
            </a:r>
            <a:endParaRPr lang="en-US" sz="1400" dirty="0"/>
          </a:p>
          <a:p>
            <a:pPr marL="342900" indent="-342900">
              <a:spcAft>
                <a:spcPts val="1000"/>
              </a:spcAft>
              <a:buSzPct val="100000"/>
              <a:buChar char="•"/>
            </a:pPr>
            <a:r>
              <a:rPr lang="en-US" sz="1400" dirty="0">
                <a:solidFill>
                  <a:srgbClr val="5B6770"/>
                </a:solidFill>
                <a:latin typeface="Arial" pitchFamily="34" charset="0"/>
                <a:ea typeface="Arial" pitchFamily="34" charset="-122"/>
                <a:cs typeface="Arial" pitchFamily="34" charset="-120"/>
              </a:rPr>
              <a:t>So sánh độ chính xác, độ tin cậy Softmax và thời gian tiền xử lý của năm phương án</a:t>
            </a:r>
            <a:endParaRPr lang="en-US" sz="1400" dirty="0"/>
          </a:p>
          <a:p>
            <a:pPr marL="342900" indent="-342900">
              <a:spcAft>
                <a:spcPts val="1000"/>
              </a:spcAft>
              <a:buSzPct val="100000"/>
              <a:buChar char="•"/>
            </a:pPr>
            <a:r>
              <a:rPr lang="en-US" sz="1400" dirty="0">
                <a:solidFill>
                  <a:srgbClr val="5B6770"/>
                </a:solidFill>
                <a:latin typeface="Arial" pitchFamily="34" charset="0"/>
                <a:ea typeface="Arial" pitchFamily="34" charset="-122"/>
                <a:cs typeface="Arial" pitchFamily="34" charset="-120"/>
              </a:rPr>
              <a:t>Phân tích các ký hiệu nhận diện sai và nguyên nhân có thể có</a:t>
            </a:r>
            <a:endParaRPr lang="en-US" sz="1400" dirty="0"/>
          </a:p>
        </p:txBody>
      </p:sp>
      <p:sp>
        <p:nvSpPr>
          <p:cNvPr id="8" name="Shape 6"/>
          <p:cNvSpPr/>
          <p:nvPr/>
        </p:nvSpPr>
        <p:spPr>
          <a:xfrm>
            <a:off x="6035040" y="1645920"/>
            <a:ext cx="5577840" cy="4206240"/>
          </a:xfrm>
          <a:prstGeom prst="rect">
            <a:avLst/>
          </a:prstGeom>
          <a:solidFill>
            <a:srgbClr val="EEF5FB"/>
          </a:solidFill>
          <a:ln w="9525">
            <a:solidFill>
              <a:srgbClr val="1F3A5F"/>
            </a:solidFill>
            <a:prstDash val="solid"/>
          </a:ln>
        </p:spPr>
      </p:sp>
      <p:sp>
        <p:nvSpPr>
          <p:cNvPr id="9" name="Text 7"/>
          <p:cNvSpPr txBox="1"/>
          <p:nvPr/>
        </p:nvSpPr>
        <p:spPr>
          <a:xfrm>
            <a:off x="6309360" y="1828800"/>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 CÂU HỎI CHÍNH</a:t>
            </a:r>
            <a:endParaRPr lang="en-US" sz="1100" dirty="0"/>
          </a:p>
        </p:txBody>
      </p:sp>
      <p:sp>
        <p:nvSpPr>
          <p:cNvPr id="10" name="Shape 8"/>
          <p:cNvSpPr/>
          <p:nvPr/>
        </p:nvSpPr>
        <p:spPr>
          <a:xfrm>
            <a:off x="6309360" y="2377440"/>
            <a:ext cx="384048" cy="384048"/>
          </a:xfrm>
          <a:prstGeom prst="ellipse">
            <a:avLst/>
          </a:prstGeom>
          <a:solidFill>
            <a:srgbClr val="1F3A5F"/>
          </a:solidFill>
          <a:ln w="12700">
            <a:solidFill>
              <a:srgbClr val="1F3A5F"/>
            </a:solidFill>
            <a:prstDash val="solid"/>
          </a:ln>
        </p:spPr>
      </p:sp>
      <p:sp>
        <p:nvSpPr>
          <p:cNvPr id="11" name="Text 9"/>
          <p:cNvSpPr txBox="1"/>
          <p:nvPr/>
        </p:nvSpPr>
        <p:spPr>
          <a:xfrm>
            <a:off x="6309360" y="2377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10"/>
          <p:cNvSpPr txBox="1"/>
          <p:nvPr/>
        </p:nvSpPr>
        <p:spPr>
          <a:xfrm>
            <a:off x="6858000" y="2331720"/>
            <a:ext cx="4480560" cy="8229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Kỹ thuật nào cho kết quả tốt nhất trên bộ thử hiện có?</a:t>
            </a:r>
            <a:endParaRPr lang="en-US" sz="1400" dirty="0"/>
          </a:p>
        </p:txBody>
      </p:sp>
      <p:sp>
        <p:nvSpPr>
          <p:cNvPr id="13" name="Shape 11"/>
          <p:cNvSpPr/>
          <p:nvPr/>
        </p:nvSpPr>
        <p:spPr>
          <a:xfrm>
            <a:off x="6309360" y="3429000"/>
            <a:ext cx="384048" cy="384048"/>
          </a:xfrm>
          <a:prstGeom prst="ellipse">
            <a:avLst/>
          </a:prstGeom>
          <a:solidFill>
            <a:srgbClr val="1F3A5F"/>
          </a:solidFill>
          <a:ln w="12700">
            <a:solidFill>
              <a:srgbClr val="1F3A5F"/>
            </a:solidFill>
            <a:prstDash val="solid"/>
          </a:ln>
        </p:spPr>
      </p:sp>
      <p:sp>
        <p:nvSpPr>
          <p:cNvPr id="14" name="Text 12"/>
          <p:cNvSpPr txBox="1"/>
          <p:nvPr/>
        </p:nvSpPr>
        <p:spPr>
          <a:xfrm>
            <a:off x="630936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6858000" y="3383280"/>
            <a:ext cx="4480560" cy="8229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Tiền xử lý có chắc chắn giúp CNN phân loại tốt hơn không?</a:t>
            </a:r>
            <a:endParaRPr lang="en-US" sz="1400" dirty="0"/>
          </a:p>
        </p:txBody>
      </p:sp>
      <p:sp>
        <p:nvSpPr>
          <p:cNvPr id="16" name="Shape 14"/>
          <p:cNvSpPr/>
          <p:nvPr/>
        </p:nvSpPr>
        <p:spPr>
          <a:xfrm>
            <a:off x="6309360" y="4480560"/>
            <a:ext cx="384048" cy="384048"/>
          </a:xfrm>
          <a:prstGeom prst="ellipse">
            <a:avLst/>
          </a:prstGeom>
          <a:solidFill>
            <a:srgbClr val="1F3A5F"/>
          </a:solidFill>
          <a:ln w="12700">
            <a:solidFill>
              <a:srgbClr val="1F3A5F"/>
            </a:solidFill>
            <a:prstDash val="solid"/>
          </a:ln>
        </p:spPr>
      </p:sp>
      <p:sp>
        <p:nvSpPr>
          <p:cNvPr id="17" name="Text 15"/>
          <p:cNvSpPr txBox="1"/>
          <p:nvPr/>
        </p:nvSpPr>
        <p:spPr>
          <a:xfrm>
            <a:off x="6309360" y="4480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6858000" y="4434840"/>
            <a:ext cx="4480560" cy="8229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Bộ lọc làm mịn khác các phép biến đổi mức sáng như thế nào?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1. Histogram và các phép biến đổi mức sáng</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Chỉ xử lý kênh Y sau khi chuyển ảnh từ BGR sang YCrCb; Cr và Cb giữ nguyên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04</a:t>
            </a:r>
            <a:endParaRPr lang="en-US" sz="1000" dirty="0"/>
          </a:p>
        </p:txBody>
      </p:sp>
      <p:sp>
        <p:nvSpPr>
          <p:cNvPr id="6" name="Shape 4"/>
          <p:cNvSpPr/>
          <p:nvPr/>
        </p:nvSpPr>
        <p:spPr>
          <a:xfrm>
            <a:off x="548640" y="1645920"/>
            <a:ext cx="5440680" cy="4297680"/>
          </a:xfrm>
          <a:prstGeom prst="rect">
            <a:avLst/>
          </a:prstGeom>
          <a:solidFill>
            <a:srgbClr val="EEF5FB"/>
          </a:solidFill>
          <a:ln w="9525">
            <a:solidFill>
              <a:srgbClr val="1F3A5F"/>
            </a:solidFill>
            <a:prstDash val="solid"/>
          </a:ln>
        </p:spPr>
      </p:sp>
      <p:sp>
        <p:nvSpPr>
          <p:cNvPr id="7" name="Text 5"/>
          <p:cNvSpPr txBox="1"/>
          <p:nvPr/>
        </p:nvSpPr>
        <p:spPr>
          <a:xfrm>
            <a:off x="77724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 – DÃN TƯƠNG PHẢN THEO PHÂN VỊ (CS)</a:t>
            </a:r>
            <a:endParaRPr lang="en-US" sz="1100" dirty="0"/>
          </a:p>
        </p:txBody>
      </p:sp>
      <p:pic>
        <p:nvPicPr>
          <p:cNvPr id="8" name="Image 0" descr="/home/claude/build2/eq/cs.png">    </p:cNvPr>
          <p:cNvPicPr>
            <a:picLocks noChangeAspect="1"/>
          </p:cNvPicPr>
          <p:nvPr/>
        </p:nvPicPr>
        <p:blipFill>
          <a:blip r:embed="rId1"/>
          <a:stretch>
            <a:fillRect/>
          </a:stretch>
        </p:blipFill>
        <p:spPr>
          <a:xfrm>
            <a:off x="777240" y="2194560"/>
            <a:ext cx="4206240" cy="797357"/>
          </a:xfrm>
          <a:prstGeom prst="rect">
            <a:avLst/>
          </a:prstGeom>
        </p:spPr>
      </p:pic>
      <p:sp>
        <p:nvSpPr>
          <p:cNvPr id="9" name="Text 6"/>
          <p:cNvSpPr txBox="1"/>
          <p:nvPr/>
        </p:nvSpPr>
        <p:spPr>
          <a:xfrm>
            <a:off x="777240" y="3566160"/>
            <a:ext cx="502920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r: mức sáng đầu vào; P1, P99: phân vị 1% và 99%</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Phân vị giảm ảnh hưởng của điểm quá tối hoặc quá sáng</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Nếu P99 ≤ P1 thì giữ nguyên kênh Y để tránh chia cho 0</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Triển khai bằng histogram, CDF và bảng LUT 256 giá trị</a:t>
            </a:r>
            <a:endParaRPr lang="en-US" sz="1300" dirty="0"/>
          </a:p>
        </p:txBody>
      </p:sp>
      <p:sp>
        <p:nvSpPr>
          <p:cNvPr id="10" name="Shape 7"/>
          <p:cNvSpPr/>
          <p:nvPr/>
        </p:nvSpPr>
        <p:spPr>
          <a:xfrm>
            <a:off x="6172200" y="1645920"/>
            <a:ext cx="5440680" cy="4297680"/>
          </a:xfrm>
          <a:prstGeom prst="rect">
            <a:avLst/>
          </a:prstGeom>
          <a:solidFill>
            <a:srgbClr val="FDF1EC"/>
          </a:solidFill>
          <a:ln w="9525">
            <a:solidFill>
              <a:srgbClr val="E76F51"/>
            </a:solidFill>
            <a:prstDash val="solid"/>
          </a:ln>
        </p:spPr>
      </p:sp>
      <p:sp>
        <p:nvSpPr>
          <p:cNvPr id="11" name="Text 8"/>
          <p:cNvSpPr txBox="1"/>
          <p:nvPr/>
        </p:nvSpPr>
        <p:spPr>
          <a:xfrm>
            <a:off x="6400800" y="1810512"/>
            <a:ext cx="5029200" cy="274320"/>
          </a:xfrm>
          <a:prstGeom prst="rect">
            <a:avLst/>
          </a:prstGeom>
          <a:noFill/>
          <a:ln/>
        </p:spPr>
        <p:txBody>
          <a:bodyPr wrap="square" lIns="0" tIns="0" rIns="0" bIns="0" rtlCol="0" anchor="ctr"/>
          <a:lstStyle/>
          <a:p>
            <a:pPr indent="0" marL="0">
              <a:buNone/>
            </a:pPr>
            <a:r>
              <a:rPr lang="en-US" sz="1100" b="1" spc="100" kern="0" dirty="0">
                <a:solidFill>
                  <a:srgbClr val="E76F51"/>
                </a:solidFill>
                <a:latin typeface="Arial" pitchFamily="34" charset="0"/>
                <a:ea typeface="Arial" pitchFamily="34" charset="-122"/>
                <a:cs typeface="Arial" pitchFamily="34" charset="-120"/>
              </a:rPr>
              <a:t>C – CÂN BẰNG HISTOGRAM (HE)</a:t>
            </a:r>
            <a:endParaRPr lang="en-US" sz="1100" dirty="0"/>
          </a:p>
        </p:txBody>
      </p:sp>
      <p:pic>
        <p:nvPicPr>
          <p:cNvPr id="12" name="Image 1" descr="/home/claude/build2/eq/he_p.png">    </p:cNvPr>
          <p:cNvPicPr>
            <a:picLocks noChangeAspect="1"/>
          </p:cNvPicPr>
          <p:nvPr/>
        </p:nvPicPr>
        <p:blipFill>
          <a:blip r:embed="rId2"/>
          <a:stretch>
            <a:fillRect/>
          </a:stretch>
        </p:blipFill>
        <p:spPr>
          <a:xfrm>
            <a:off x="6400800" y="2194560"/>
            <a:ext cx="1645920" cy="672998"/>
          </a:xfrm>
          <a:prstGeom prst="rect">
            <a:avLst/>
          </a:prstGeom>
        </p:spPr>
      </p:pic>
      <p:pic>
        <p:nvPicPr>
          <p:cNvPr id="13" name="Image 2" descr="/home/claude/build2/eq/he_cdf.png">    </p:cNvPr>
          <p:cNvPicPr>
            <a:picLocks noChangeAspect="1"/>
          </p:cNvPicPr>
          <p:nvPr/>
        </p:nvPicPr>
        <p:blipFill>
          <a:blip r:embed="rId3"/>
          <a:stretch>
            <a:fillRect/>
          </a:stretch>
        </p:blipFill>
        <p:spPr>
          <a:xfrm>
            <a:off x="6400800" y="2926080"/>
            <a:ext cx="2743200" cy="1053389"/>
          </a:xfrm>
          <a:prstGeom prst="rect">
            <a:avLst/>
          </a:prstGeom>
        </p:spPr>
      </p:pic>
      <p:pic>
        <p:nvPicPr>
          <p:cNvPr id="14" name="Image 3" descr="/home/claude/build2/eq/he_s.png">    </p:cNvPr>
          <p:cNvPicPr>
            <a:picLocks noChangeAspect="1"/>
          </p:cNvPicPr>
          <p:nvPr/>
        </p:nvPicPr>
        <p:blipFill>
          <a:blip r:embed="rId4"/>
          <a:stretch>
            <a:fillRect/>
          </a:stretch>
        </p:blipFill>
        <p:spPr>
          <a:xfrm>
            <a:off x="6400800" y="4023360"/>
            <a:ext cx="2926080" cy="401422"/>
          </a:xfrm>
          <a:prstGeom prst="rect">
            <a:avLst/>
          </a:prstGeom>
        </p:spPr>
      </p:pic>
      <p:sp>
        <p:nvSpPr>
          <p:cNvPr id="15" name="Text 9"/>
          <p:cNvSpPr txBox="1"/>
          <p:nvPr/>
        </p:nvSpPr>
        <p:spPr>
          <a:xfrm>
            <a:off x="6400800" y="4526280"/>
            <a:ext cx="5029200" cy="1463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Biến đổi phi tuyến: mức kéo giãn phụ thuộc số điểm ảnh tại từng vùng</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Thực hiện bằng cv2.equalizeHist trên kênh 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Nếu nền chiếm tỷ lệ lớn, HE có thể tăng tương phản ở vùng không cần thiết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1. Lọc không gian: Gaussian và trung vị</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Hai phép lọc làm mịn ảnh, nhưng cơ chế khác nhau</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05</a:t>
            </a:r>
            <a:endParaRPr lang="en-US" sz="1000" dirty="0"/>
          </a:p>
        </p:txBody>
      </p:sp>
      <p:sp>
        <p:nvSpPr>
          <p:cNvPr id="6" name="Shape 4"/>
          <p:cNvSpPr/>
          <p:nvPr/>
        </p:nvSpPr>
        <p:spPr>
          <a:xfrm>
            <a:off x="548640" y="1645920"/>
            <a:ext cx="5440680" cy="4297680"/>
          </a:xfrm>
          <a:prstGeom prst="rect">
            <a:avLst/>
          </a:prstGeom>
          <a:solidFill>
            <a:srgbClr val="F3F6F9"/>
          </a:solidFill>
          <a:ln w="9525">
            <a:solidFill>
              <a:srgbClr val="D9E1E8"/>
            </a:solidFill>
            <a:prstDash val="solid"/>
          </a:ln>
        </p:spPr>
      </p:sp>
      <p:sp>
        <p:nvSpPr>
          <p:cNvPr id="7" name="Text 5"/>
          <p:cNvSpPr txBox="1"/>
          <p:nvPr/>
        </p:nvSpPr>
        <p:spPr>
          <a:xfrm>
            <a:off x="77724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D – LỌC GAUSSIAN (CV2.GAUSSIANBLUR, 5 × 5, Σ = 1)</a:t>
            </a:r>
            <a:endParaRPr lang="en-US" sz="1100" dirty="0"/>
          </a:p>
        </p:txBody>
      </p:sp>
      <p:pic>
        <p:nvPicPr>
          <p:cNvPr id="8" name="Image 0" descr="/home/claude/build2/eq/gauss.png">    </p:cNvPr>
          <p:cNvPicPr>
            <a:picLocks noChangeAspect="1"/>
          </p:cNvPicPr>
          <p:nvPr/>
        </p:nvPicPr>
        <p:blipFill>
          <a:blip r:embed="rId1"/>
          <a:stretch>
            <a:fillRect/>
          </a:stretch>
        </p:blipFill>
        <p:spPr>
          <a:xfrm>
            <a:off x="777240" y="2194560"/>
            <a:ext cx="4389120" cy="817474"/>
          </a:xfrm>
          <a:prstGeom prst="rect">
            <a:avLst/>
          </a:prstGeom>
        </p:spPr>
      </p:pic>
      <p:sp>
        <p:nvSpPr>
          <p:cNvPr id="9" name="Text 6"/>
          <p:cNvSpPr txBox="1"/>
          <p:nvPr/>
        </p:nvSpPr>
        <p:spPr>
          <a:xfrm>
            <a:off x="777240" y="3337560"/>
            <a:ext cx="502920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Lọc tuyến tính: trung bình có trọng số theo khoảng cách tới tâm</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Làm mượt biến thiên cường độ cao</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Áp dụng quá mạnh có thể làm mềm đường biên bàn tay, vốn là thông tin quan trọng để phân biệt chữ cái</a:t>
            </a:r>
            <a:endParaRPr lang="en-US" sz="1300" dirty="0"/>
          </a:p>
        </p:txBody>
      </p:sp>
      <p:sp>
        <p:nvSpPr>
          <p:cNvPr id="10" name="Shape 7"/>
          <p:cNvSpPr/>
          <p:nvPr/>
        </p:nvSpPr>
        <p:spPr>
          <a:xfrm>
            <a:off x="6172200" y="1645920"/>
            <a:ext cx="5440680" cy="4297680"/>
          </a:xfrm>
          <a:prstGeom prst="rect">
            <a:avLst/>
          </a:prstGeom>
          <a:solidFill>
            <a:srgbClr val="F3F6F9"/>
          </a:solidFill>
          <a:ln w="9525">
            <a:solidFill>
              <a:srgbClr val="D9E1E8"/>
            </a:solidFill>
            <a:prstDash val="solid"/>
          </a:ln>
        </p:spPr>
      </p:sp>
      <p:sp>
        <p:nvSpPr>
          <p:cNvPr id="11" name="Text 8"/>
          <p:cNvSpPr txBox="1"/>
          <p:nvPr/>
        </p:nvSpPr>
        <p:spPr>
          <a:xfrm>
            <a:off x="640080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E – LỌC TRUNG VỊ (CV2.MEDIANBLUR, 5 × 5)</a:t>
            </a:r>
            <a:endParaRPr lang="en-US" sz="1100" dirty="0"/>
          </a:p>
        </p:txBody>
      </p:sp>
      <p:pic>
        <p:nvPicPr>
          <p:cNvPr id="12" name="Image 1" descr="/home/claude/build2/eq/median.png">    </p:cNvPr>
          <p:cNvPicPr>
            <a:picLocks noChangeAspect="1"/>
          </p:cNvPicPr>
          <p:nvPr/>
        </p:nvPicPr>
        <p:blipFill>
          <a:blip r:embed="rId2"/>
          <a:stretch>
            <a:fillRect/>
          </a:stretch>
        </p:blipFill>
        <p:spPr>
          <a:xfrm>
            <a:off x="6400800" y="2194560"/>
            <a:ext cx="4754880" cy="485546"/>
          </a:xfrm>
          <a:prstGeom prst="rect">
            <a:avLst/>
          </a:prstGeom>
        </p:spPr>
      </p:pic>
      <p:sp>
        <p:nvSpPr>
          <p:cNvPr id="13" name="Text 9"/>
          <p:cNvSpPr txBox="1"/>
          <p:nvPr/>
        </p:nvSpPr>
        <p:spPr>
          <a:xfrm>
            <a:off x="6400800" y="3337560"/>
            <a:ext cx="502920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Lọc phi tuyến: lấy giá trị giữa sau khi sắp xếp vùng lân cận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Giới hạn ảnh hưởng của điểm nhiễu xung (salt-and-pepper)</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Kích thước cửa sổ phải lẻ để có điểm trung tâm</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Vẫn có thể làm biến dạng chi tiết rất nhỏ</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1. CNN, phân phối đầu vào và độ tin cậy</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Các tầng của CNN và những điểm cần thận trọng khi diễn giải kết quả</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06</a:t>
            </a:r>
            <a:endParaRPr lang="en-US" sz="1000" dirty="0"/>
          </a:p>
        </p:txBody>
      </p:sp>
      <p:sp>
        <p:nvSpPr>
          <p:cNvPr id="6" name="Shape 4"/>
          <p:cNvSpPr/>
          <p:nvPr/>
        </p:nvSpPr>
        <p:spPr>
          <a:xfrm>
            <a:off x="548640" y="1691640"/>
            <a:ext cx="2011680" cy="1463040"/>
          </a:xfrm>
          <a:prstGeom prst="rect">
            <a:avLst/>
          </a:prstGeom>
          <a:solidFill>
            <a:srgbClr val="EEF5FB"/>
          </a:solidFill>
          <a:ln w="9525">
            <a:solidFill>
              <a:srgbClr val="1F3A5F"/>
            </a:solidFill>
            <a:prstDash val="solid"/>
          </a:ln>
        </p:spPr>
      </p:sp>
      <p:sp>
        <p:nvSpPr>
          <p:cNvPr id="7" name="Text 5"/>
          <p:cNvSpPr txBox="1"/>
          <p:nvPr/>
        </p:nvSpPr>
        <p:spPr>
          <a:xfrm>
            <a:off x="640080" y="1810512"/>
            <a:ext cx="1828800" cy="3657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Conv2D</a:t>
            </a:r>
            <a:endParaRPr lang="en-US" sz="1300" dirty="0"/>
          </a:p>
        </p:txBody>
      </p:sp>
      <p:sp>
        <p:nvSpPr>
          <p:cNvPr id="8" name="Text 6"/>
          <p:cNvSpPr txBox="1"/>
          <p:nvPr/>
        </p:nvSpPr>
        <p:spPr>
          <a:xfrm>
            <a:off x="640080" y="2240280"/>
            <a:ext cx="1828800" cy="731520"/>
          </a:xfrm>
          <a:prstGeom prst="rect">
            <a:avLst/>
          </a:prstGeom>
          <a:noFill/>
          <a:ln/>
        </p:spPr>
        <p:txBody>
          <a:bodyPr wrap="square" lIns="0" tIns="0" rIns="0" bIns="0" rtlCol="0" anchor="t"/>
          <a:lstStyle/>
          <a:p>
            <a:pPr algn="ctr" indent="0" marL="0">
              <a:buNone/>
            </a:pPr>
            <a:r>
              <a:rPr lang="en-US" sz="1100" dirty="0">
                <a:solidFill>
                  <a:srgbClr val="5B6770"/>
                </a:solidFill>
                <a:latin typeface="Arial" pitchFamily="34" charset="0"/>
                <a:ea typeface="Arial" pitchFamily="34" charset="-122"/>
                <a:cs typeface="Arial" pitchFamily="34" charset="-120"/>
              </a:rPr>
              <a:t>Phát hiện mẫu cục bộ</a:t>
            </a:r>
            <a:endParaRPr lang="en-US" sz="1100" dirty="0"/>
          </a:p>
        </p:txBody>
      </p:sp>
      <p:sp>
        <p:nvSpPr>
          <p:cNvPr id="9" name="Shape 7"/>
          <p:cNvSpPr/>
          <p:nvPr/>
        </p:nvSpPr>
        <p:spPr>
          <a:xfrm>
            <a:off x="2788920" y="1691640"/>
            <a:ext cx="2011680" cy="1463040"/>
          </a:xfrm>
          <a:prstGeom prst="rect">
            <a:avLst/>
          </a:prstGeom>
          <a:solidFill>
            <a:srgbClr val="EEF5FB"/>
          </a:solidFill>
          <a:ln w="9525">
            <a:solidFill>
              <a:srgbClr val="1F3A5F"/>
            </a:solidFill>
            <a:prstDash val="solid"/>
          </a:ln>
        </p:spPr>
      </p:sp>
      <p:sp>
        <p:nvSpPr>
          <p:cNvPr id="10" name="Text 8"/>
          <p:cNvSpPr txBox="1"/>
          <p:nvPr/>
        </p:nvSpPr>
        <p:spPr>
          <a:xfrm>
            <a:off x="2880360" y="1810512"/>
            <a:ext cx="1828800" cy="3657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MaxPooling2D</a:t>
            </a:r>
            <a:endParaRPr lang="en-US" sz="1300" dirty="0"/>
          </a:p>
        </p:txBody>
      </p:sp>
      <p:sp>
        <p:nvSpPr>
          <p:cNvPr id="11" name="Text 9"/>
          <p:cNvSpPr txBox="1"/>
          <p:nvPr/>
        </p:nvSpPr>
        <p:spPr>
          <a:xfrm>
            <a:off x="2880360" y="2240280"/>
            <a:ext cx="1828800" cy="731520"/>
          </a:xfrm>
          <a:prstGeom prst="rect">
            <a:avLst/>
          </a:prstGeom>
          <a:noFill/>
          <a:ln/>
        </p:spPr>
        <p:txBody>
          <a:bodyPr wrap="square" lIns="0" tIns="0" rIns="0" bIns="0" rtlCol="0" anchor="t"/>
          <a:lstStyle/>
          <a:p>
            <a:pPr algn="ctr" indent="0" marL="0">
              <a:buNone/>
            </a:pPr>
            <a:r>
              <a:rPr lang="en-US" sz="1100" dirty="0">
                <a:solidFill>
                  <a:srgbClr val="5B6770"/>
                </a:solidFill>
                <a:latin typeface="Arial" pitchFamily="34" charset="0"/>
                <a:ea typeface="Arial" pitchFamily="34" charset="-122"/>
                <a:cs typeface="Arial" pitchFamily="34" charset="-120"/>
              </a:rPr>
              <a:t>Giảm kích thước đặc trưng</a:t>
            </a:r>
            <a:endParaRPr lang="en-US" sz="1100" dirty="0"/>
          </a:p>
        </p:txBody>
      </p:sp>
      <p:sp>
        <p:nvSpPr>
          <p:cNvPr id="12" name="Shape 10"/>
          <p:cNvSpPr/>
          <p:nvPr/>
        </p:nvSpPr>
        <p:spPr>
          <a:xfrm>
            <a:off x="5029200" y="1691640"/>
            <a:ext cx="2011680" cy="1463040"/>
          </a:xfrm>
          <a:prstGeom prst="rect">
            <a:avLst/>
          </a:prstGeom>
          <a:solidFill>
            <a:srgbClr val="EEF5FB"/>
          </a:solidFill>
          <a:ln w="9525">
            <a:solidFill>
              <a:srgbClr val="1F3A5F"/>
            </a:solidFill>
            <a:prstDash val="solid"/>
          </a:ln>
        </p:spPr>
      </p:sp>
      <p:sp>
        <p:nvSpPr>
          <p:cNvPr id="13" name="Text 11"/>
          <p:cNvSpPr txBox="1"/>
          <p:nvPr/>
        </p:nvSpPr>
        <p:spPr>
          <a:xfrm>
            <a:off x="5120640" y="1810512"/>
            <a:ext cx="1828800" cy="3657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Flatten</a:t>
            </a:r>
            <a:endParaRPr lang="en-US" sz="1300" dirty="0"/>
          </a:p>
        </p:txBody>
      </p:sp>
      <p:sp>
        <p:nvSpPr>
          <p:cNvPr id="14" name="Text 12"/>
          <p:cNvSpPr txBox="1"/>
          <p:nvPr/>
        </p:nvSpPr>
        <p:spPr>
          <a:xfrm>
            <a:off x="5120640" y="2240280"/>
            <a:ext cx="1828800" cy="731520"/>
          </a:xfrm>
          <a:prstGeom prst="rect">
            <a:avLst/>
          </a:prstGeom>
          <a:noFill/>
          <a:ln/>
        </p:spPr>
        <p:txBody>
          <a:bodyPr wrap="square" lIns="0" tIns="0" rIns="0" bIns="0" rtlCol="0" anchor="t"/>
          <a:lstStyle/>
          <a:p>
            <a:pPr algn="ctr" indent="0" marL="0">
              <a:buNone/>
            </a:pPr>
            <a:r>
              <a:rPr lang="en-US" sz="1100" dirty="0">
                <a:solidFill>
                  <a:srgbClr val="5B6770"/>
                </a:solidFill>
                <a:latin typeface="Arial" pitchFamily="34" charset="0"/>
                <a:ea typeface="Arial" pitchFamily="34" charset="-122"/>
                <a:cs typeface="Arial" pitchFamily="34" charset="-120"/>
              </a:rPr>
              <a:t>Chuyển thành vector</a:t>
            </a:r>
            <a:endParaRPr lang="en-US" sz="1100" dirty="0"/>
          </a:p>
        </p:txBody>
      </p:sp>
      <p:sp>
        <p:nvSpPr>
          <p:cNvPr id="15" name="Shape 13"/>
          <p:cNvSpPr/>
          <p:nvPr/>
        </p:nvSpPr>
        <p:spPr>
          <a:xfrm>
            <a:off x="7269480" y="1691640"/>
            <a:ext cx="2011680" cy="1463040"/>
          </a:xfrm>
          <a:prstGeom prst="rect">
            <a:avLst/>
          </a:prstGeom>
          <a:solidFill>
            <a:srgbClr val="EEF5FB"/>
          </a:solidFill>
          <a:ln w="9525">
            <a:solidFill>
              <a:srgbClr val="1F3A5F"/>
            </a:solidFill>
            <a:prstDash val="solid"/>
          </a:ln>
        </p:spPr>
      </p:sp>
      <p:sp>
        <p:nvSpPr>
          <p:cNvPr id="16" name="Text 14"/>
          <p:cNvSpPr txBox="1"/>
          <p:nvPr/>
        </p:nvSpPr>
        <p:spPr>
          <a:xfrm>
            <a:off x="7360920" y="1810512"/>
            <a:ext cx="1828800" cy="3657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Dense</a:t>
            </a:r>
            <a:endParaRPr lang="en-US" sz="1300" dirty="0"/>
          </a:p>
        </p:txBody>
      </p:sp>
      <p:sp>
        <p:nvSpPr>
          <p:cNvPr id="17" name="Text 15"/>
          <p:cNvSpPr txBox="1"/>
          <p:nvPr/>
        </p:nvSpPr>
        <p:spPr>
          <a:xfrm>
            <a:off x="7360920" y="2240280"/>
            <a:ext cx="1828800" cy="731520"/>
          </a:xfrm>
          <a:prstGeom prst="rect">
            <a:avLst/>
          </a:prstGeom>
          <a:noFill/>
          <a:ln/>
        </p:spPr>
        <p:txBody>
          <a:bodyPr wrap="square" lIns="0" tIns="0" rIns="0" bIns="0" rtlCol="0" anchor="t"/>
          <a:lstStyle/>
          <a:p>
            <a:pPr algn="ctr" indent="0" marL="0">
              <a:buNone/>
            </a:pPr>
            <a:r>
              <a:rPr lang="en-US" sz="1100" dirty="0">
                <a:solidFill>
                  <a:srgbClr val="5B6770"/>
                </a:solidFill>
                <a:latin typeface="Arial" pitchFamily="34" charset="0"/>
                <a:ea typeface="Arial" pitchFamily="34" charset="-122"/>
                <a:cs typeface="Arial" pitchFamily="34" charset="-120"/>
              </a:rPr>
              <a:t>Tổng hợp đặc trưng</a:t>
            </a:r>
            <a:endParaRPr lang="en-US" sz="1100" dirty="0"/>
          </a:p>
        </p:txBody>
      </p:sp>
      <p:sp>
        <p:nvSpPr>
          <p:cNvPr id="18" name="Shape 16"/>
          <p:cNvSpPr/>
          <p:nvPr/>
        </p:nvSpPr>
        <p:spPr>
          <a:xfrm>
            <a:off x="9509760" y="1691640"/>
            <a:ext cx="2011680" cy="1463040"/>
          </a:xfrm>
          <a:prstGeom prst="rect">
            <a:avLst/>
          </a:prstGeom>
          <a:solidFill>
            <a:srgbClr val="FDF1EC"/>
          </a:solidFill>
          <a:ln w="9525">
            <a:solidFill>
              <a:srgbClr val="E76F51"/>
            </a:solidFill>
            <a:prstDash val="solid"/>
          </a:ln>
        </p:spPr>
      </p:sp>
      <p:sp>
        <p:nvSpPr>
          <p:cNvPr id="19" name="Text 17"/>
          <p:cNvSpPr txBox="1"/>
          <p:nvPr/>
        </p:nvSpPr>
        <p:spPr>
          <a:xfrm>
            <a:off x="9601200" y="1810512"/>
            <a:ext cx="1828800" cy="3657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Softmax</a:t>
            </a:r>
            <a:endParaRPr lang="en-US" sz="1300" dirty="0"/>
          </a:p>
        </p:txBody>
      </p:sp>
      <p:sp>
        <p:nvSpPr>
          <p:cNvPr id="20" name="Text 18"/>
          <p:cNvSpPr txBox="1"/>
          <p:nvPr/>
        </p:nvSpPr>
        <p:spPr>
          <a:xfrm>
            <a:off x="9601200" y="2240280"/>
            <a:ext cx="1828800" cy="731520"/>
          </a:xfrm>
          <a:prstGeom prst="rect">
            <a:avLst/>
          </a:prstGeom>
          <a:noFill/>
          <a:ln/>
        </p:spPr>
        <p:txBody>
          <a:bodyPr wrap="square" lIns="0" tIns="0" rIns="0" bIns="0" rtlCol="0" anchor="t"/>
          <a:lstStyle/>
          <a:p>
            <a:pPr algn="ctr" indent="0" marL="0">
              <a:buNone/>
            </a:pPr>
            <a:r>
              <a:rPr lang="en-US" sz="1100" dirty="0">
                <a:solidFill>
                  <a:srgbClr val="5B6770"/>
                </a:solidFill>
                <a:latin typeface="Arial" pitchFamily="34" charset="0"/>
                <a:ea typeface="Arial" pitchFamily="34" charset="-122"/>
                <a:cs typeface="Arial" pitchFamily="34" charset="-120"/>
              </a:rPr>
              <a:t>Phân phối xác suất 29 nhãn</a:t>
            </a:r>
            <a:endParaRPr lang="en-US" sz="1100" dirty="0"/>
          </a:p>
        </p:txBody>
      </p:sp>
      <p:sp>
        <p:nvSpPr>
          <p:cNvPr id="21" name="Shape 19"/>
          <p:cNvSpPr/>
          <p:nvPr/>
        </p:nvSpPr>
        <p:spPr>
          <a:xfrm>
            <a:off x="548640" y="3474720"/>
            <a:ext cx="5440680" cy="2468880"/>
          </a:xfrm>
          <a:prstGeom prst="rect">
            <a:avLst/>
          </a:prstGeom>
          <a:solidFill>
            <a:srgbClr val="F3F6F9"/>
          </a:solidFill>
          <a:ln w="9525">
            <a:solidFill>
              <a:srgbClr val="D9E1E8"/>
            </a:solidFill>
            <a:prstDash val="solid"/>
          </a:ln>
        </p:spPr>
      </p:sp>
      <p:sp>
        <p:nvSpPr>
          <p:cNvPr id="22" name="Text 20"/>
          <p:cNvSpPr txBox="1"/>
          <p:nvPr/>
        </p:nvSpPr>
        <p:spPr>
          <a:xfrm>
            <a:off x="777240" y="3611880"/>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CONFIDENCE KHÔNG PHẢI XÁC SUẤT ĐÚNG</a:t>
            </a:r>
            <a:endParaRPr lang="en-US" sz="1100" dirty="0"/>
          </a:p>
        </p:txBody>
      </p:sp>
      <p:sp>
        <p:nvSpPr>
          <p:cNvPr id="23" name="Text 21"/>
          <p:cNvSpPr txBox="1"/>
          <p:nvPr/>
        </p:nvSpPr>
        <p:spPr>
          <a:xfrm>
            <a:off x="777240" y="3977640"/>
            <a:ext cx="502920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Confidence là giá trị Softmax lớn nhất do mô hình gán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Mạng nơ-ron có thể chưa được hiệu chỉnh tốt (Guo và cộng sự, 2017)</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Confidence cao ở một mẫu sai cần được phân tích cẩn thận</a:t>
            </a:r>
            <a:endParaRPr lang="en-US" sz="1300" dirty="0"/>
          </a:p>
        </p:txBody>
      </p:sp>
      <p:sp>
        <p:nvSpPr>
          <p:cNvPr id="24" name="Shape 22"/>
          <p:cNvSpPr/>
          <p:nvPr/>
        </p:nvSpPr>
        <p:spPr>
          <a:xfrm>
            <a:off x="6172200" y="3474720"/>
            <a:ext cx="5440680" cy="2468880"/>
          </a:xfrm>
          <a:prstGeom prst="rect">
            <a:avLst/>
          </a:prstGeom>
          <a:solidFill>
            <a:srgbClr val="FDF1EC"/>
          </a:solidFill>
          <a:ln w="9525">
            <a:solidFill>
              <a:srgbClr val="E76F51"/>
            </a:solidFill>
            <a:prstDash val="solid"/>
          </a:ln>
        </p:spPr>
      </p:sp>
      <p:sp>
        <p:nvSpPr>
          <p:cNvPr id="25" name="Text 23"/>
          <p:cNvSpPr txBox="1"/>
          <p:nvPr/>
        </p:nvSpPr>
        <p:spPr>
          <a:xfrm>
            <a:off x="6400800" y="3611880"/>
            <a:ext cx="5029200" cy="274320"/>
          </a:xfrm>
          <a:prstGeom prst="rect">
            <a:avLst/>
          </a:prstGeom>
          <a:noFill/>
          <a:ln/>
        </p:spPr>
        <p:txBody>
          <a:bodyPr wrap="square" lIns="0" tIns="0" rIns="0" bIns="0" rtlCol="0" anchor="ctr"/>
          <a:lstStyle/>
          <a:p>
            <a:pPr indent="0" marL="0">
              <a:buNone/>
            </a:pPr>
            <a:r>
              <a:rPr lang="en-US" sz="1100" b="1" spc="100" kern="0" dirty="0">
                <a:solidFill>
                  <a:srgbClr val="E76F51"/>
                </a:solidFill>
                <a:latin typeface="Arial" pitchFamily="34" charset="0"/>
                <a:ea typeface="Arial" pitchFamily="34" charset="-122"/>
                <a:cs typeface="Arial" pitchFamily="34" charset="-120"/>
              </a:rPr>
              <a:t>DỊCH CHUYỂN PHÂN PHỐI ĐẦU VÀO</a:t>
            </a:r>
            <a:endParaRPr lang="en-US" sz="1100" dirty="0"/>
          </a:p>
        </p:txBody>
      </p:sp>
      <p:sp>
        <p:nvSpPr>
          <p:cNvPr id="26" name="Text 24"/>
          <p:cNvSpPr txBox="1"/>
          <p:nvPr/>
        </p:nvSpPr>
        <p:spPr>
          <a:xfrm>
            <a:off x="6400800" y="3977640"/>
            <a:ext cx="502920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Thay mức sáng bằng HE hoặc CS có thể làm phân phối đầu vào khác dữ liệu huấn luyện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Báo cáo không khẳng định đã chứng minh cơ chế covariate shift; kết quả chỉ cho thấy đầu ra thay đổi rõ rệt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2. Nguồn dữ liệu và bộ ảnh thử</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ASL Alphabet trên Kaggle để huấn luyện; 25 ảnh PNG để kiểm tra năm phương án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07</a:t>
            </a:r>
            <a:endParaRPr lang="en-US" sz="1000" dirty="0"/>
          </a:p>
        </p:txBody>
      </p:sp>
      <p:sp>
        <p:nvSpPr>
          <p:cNvPr id="6" name="Shape 4"/>
          <p:cNvSpPr/>
          <p:nvPr/>
        </p:nvSpPr>
        <p:spPr>
          <a:xfrm>
            <a:off x="548640" y="1645920"/>
            <a:ext cx="5440680" cy="4297680"/>
          </a:xfrm>
          <a:prstGeom prst="rect">
            <a:avLst/>
          </a:prstGeom>
          <a:solidFill>
            <a:srgbClr val="EEF5FB"/>
          </a:solidFill>
          <a:ln w="9525">
            <a:solidFill>
              <a:srgbClr val="1F3A5F"/>
            </a:solidFill>
            <a:prstDash val="solid"/>
          </a:ln>
        </p:spPr>
      </p:sp>
      <p:sp>
        <p:nvSpPr>
          <p:cNvPr id="7" name="Text 5"/>
          <p:cNvSpPr txBox="1"/>
          <p:nvPr/>
        </p:nvSpPr>
        <p:spPr>
          <a:xfrm>
            <a:off x="77724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BỘ ASL ALPHABET (HUẤN LUYỆN)</a:t>
            </a:r>
            <a:endParaRPr lang="en-US" sz="1100" dirty="0"/>
          </a:p>
        </p:txBody>
      </p:sp>
      <p:sp>
        <p:nvSpPr>
          <p:cNvPr id="8" name="Text 6"/>
          <p:cNvSpPr txBox="1"/>
          <p:nvPr/>
        </p:nvSpPr>
        <p:spPr>
          <a:xfrm>
            <a:off x="77724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87.000 ảnh màu, kích thước 200 × 200 pixel</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29 lớp: 26 chữ cái A–Z và 3 lớp đặc biệt del, nothing, space</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Notebook dùng sample_ratio = 1; chia 80% train, 10% validation, 10% test</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Theo tỷ lệ: khoảng 69.600 / 8.700 / 8.700 ảnh; số thực tế không xác nhận được vì thư mục đầy đủ không có trong gói</a:t>
            </a:r>
            <a:endParaRPr lang="en-US" sz="1300" dirty="0"/>
          </a:p>
        </p:txBody>
      </p:sp>
      <p:sp>
        <p:nvSpPr>
          <p:cNvPr id="9" name="Shape 7"/>
          <p:cNvSpPr/>
          <p:nvPr/>
        </p:nvSpPr>
        <p:spPr>
          <a:xfrm>
            <a:off x="6172200" y="1645920"/>
            <a:ext cx="5440680" cy="4297680"/>
          </a:xfrm>
          <a:prstGeom prst="rect">
            <a:avLst/>
          </a:prstGeom>
          <a:solidFill>
            <a:srgbClr val="F3F6F9"/>
          </a:solidFill>
          <a:ln w="9525">
            <a:solidFill>
              <a:srgbClr val="D9E1E8"/>
            </a:solidFill>
            <a:prstDash val="solid"/>
          </a:ln>
        </p:spPr>
      </p:sp>
      <p:sp>
        <p:nvSpPr>
          <p:cNvPr id="10" name="Text 8"/>
          <p:cNvSpPr txBox="1"/>
          <p:nvPr/>
        </p:nvSpPr>
        <p:spPr>
          <a:xfrm>
            <a:off x="6400800" y="1810512"/>
            <a:ext cx="50292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BỘ 25 ẢNH DÙNG ĐỂ SO SÁNH A–E</a:t>
            </a:r>
            <a:endParaRPr lang="en-US" sz="1100" dirty="0"/>
          </a:p>
        </p:txBody>
      </p:sp>
      <p:sp>
        <p:nvSpPr>
          <p:cNvPr id="11" name="Text 9"/>
          <p:cNvSpPr txBox="1"/>
          <p:nvPr/>
        </p:nvSpPr>
        <p:spPr>
          <a:xfrm>
            <a:off x="640080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25 ảnh PNG trong thư mục test_data, nhãn A–Y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Kích thước ban đầu không đồng nhất; chuẩn hóa về 100 × 100 px</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Gán nhãn theo thứ tự tên tệp, chưa có người đánh giá độc lập xác nhận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rõ người chụp, góc chụp, ánh sáng, và mức trùng lặp với tập train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2. Kiến trúc CNN dùng trong thực nghiệm</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Mô hình asl_classifier.keras, giữ nguyên trong toàn bộ phép so sánh A–E</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498080" cy="914400"/>
        </p:xfrm>
        <a:graphic>
          <a:graphicData uri="http://schemas.openxmlformats.org/drawingml/2006/table">
            <a:tbl>
              <a:tblPr/>
              <a:tblGrid>
                <a:gridCol w="914400"/>
                <a:gridCol w="2743200"/>
                <a:gridCol w="3840480"/>
              </a:tblGrid>
              <a:tr h="45720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Thứ tự</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Tầng</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Thông số / kích thước</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100 × 100 × 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Conv2D + BatchNormalization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32 filters, 3 × 3 → 98 × 98 × 32</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MaxPooling2D + Dropout</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2 × 2; rate 0,25 → 49 × 49 × 32</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Conv2D + BatchNormalization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64 filters, 3 × 3 → 47 × 47 × 64</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MaxPooling2D + Dropout</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2 × 2; rate 0,25 → 23 × 23 × 64</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Flatten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23 × 23 × 64 = 33.856 giá trị</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Dense + BN + Dropout</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128 nút ReLU; rate 0,4</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Dense + Softmax</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29 nút đầu ra</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bl>
          </a:graphicData>
        </a:graphic>
      </p:graphicFrame>
      <p:sp>
        <p:nvSpPr>
          <p:cNvPr id="7" name="Shape 4"/>
          <p:cNvSpPr/>
          <p:nvPr/>
        </p:nvSpPr>
        <p:spPr>
          <a:xfrm>
            <a:off x="8321040" y="1645920"/>
            <a:ext cx="3291840" cy="4297680"/>
          </a:xfrm>
          <a:prstGeom prst="rect">
            <a:avLst/>
          </a:prstGeom>
          <a:solidFill>
            <a:srgbClr val="EEF5FB"/>
          </a:solidFill>
          <a:ln w="9525">
            <a:solidFill>
              <a:srgbClr val="1F3A5F"/>
            </a:solidFill>
            <a:prstDash val="solid"/>
          </a:ln>
        </p:spPr>
      </p:sp>
      <p:sp>
        <p:nvSpPr>
          <p:cNvPr id="8" name="Text 5"/>
          <p:cNvSpPr txBox="1"/>
          <p:nvPr/>
        </p:nvSpPr>
        <p:spPr>
          <a:xfrm>
            <a:off x="8549640" y="1810512"/>
            <a:ext cx="292608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THÔNG SỐ MÔ HÌNH</a:t>
            </a:r>
            <a:endParaRPr lang="en-US" sz="1100" dirty="0"/>
          </a:p>
        </p:txBody>
      </p:sp>
      <p:sp>
        <p:nvSpPr>
          <p:cNvPr id="9" name="Text 6"/>
          <p:cNvSpPr txBox="1"/>
          <p:nvPr/>
        </p:nvSpPr>
        <p:spPr>
          <a:xfrm>
            <a:off x="8549640" y="2194560"/>
            <a:ext cx="2926080" cy="36576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Tổng: 4.357.725 tham số</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Huấn luyện được: 4.357.277</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Không huấn luyện (BN): 448</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Kích thước file: 52.351.070 byte (≈ 49,93 MiB)</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Tối ưu: Adam; hàm mất mát categorical crossentropy; batch size 32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2. Hai cấu hình huấn luyện và các thành phần chương trình</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Số liệu huấn luyện trong notebook không so sánh trực tiếp với phép thử 25 ảnh</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840480"/>
                <a:gridCol w="1005840"/>
                <a:gridCol w="2011680"/>
                <a:gridCol w="1645920"/>
                <a:gridCol w="2560320"/>
              </a:tblGrid>
              <a:tr h="45720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Mô hình (notebook)</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Epoch</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Test accuracy</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Test loss</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Vai trò</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r>
              <a:tr h="45720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CNN cơ sở</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99,10%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0,0240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Đối chứng trong notebook</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CNN cải tiến (BN, Dropout, augmentation)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94,31%</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0,1573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Được lưu để suy luận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3566160"/>
            <a:ext cx="73152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CÁC THÀNH PHẦN CỦA CHƯƠNG TRÌNH</a:t>
            </a:r>
            <a:endParaRPr lang="en-US" sz="1100" dirty="0"/>
          </a:p>
        </p:txBody>
      </p:sp>
      <p:sp>
        <p:nvSpPr>
          <p:cNvPr id="8" name="Shape 5"/>
          <p:cNvSpPr/>
          <p:nvPr/>
        </p:nvSpPr>
        <p:spPr>
          <a:xfrm>
            <a:off x="548640" y="3977640"/>
            <a:ext cx="5394960" cy="914400"/>
          </a:xfrm>
          <a:prstGeom prst="rect">
            <a:avLst/>
          </a:prstGeom>
          <a:solidFill>
            <a:srgbClr val="F3F6F9"/>
          </a:solidFill>
          <a:ln w="9525">
            <a:solidFill>
              <a:srgbClr val="D9E1E8"/>
            </a:solidFill>
            <a:prstDash val="solid"/>
          </a:ln>
        </p:spPr>
      </p:sp>
      <p:sp>
        <p:nvSpPr>
          <p:cNvPr id="9" name="Text 6"/>
          <p:cNvSpPr txBox="1"/>
          <p:nvPr/>
        </p:nvSpPr>
        <p:spPr>
          <a:xfrm>
            <a:off x="777240" y="4087368"/>
            <a:ext cx="4937760" cy="320040"/>
          </a:xfrm>
          <a:prstGeom prst="rect">
            <a:avLst/>
          </a:prstGeom>
          <a:noFill/>
          <a:ln/>
        </p:spPr>
        <p:txBody>
          <a:bodyPr wrap="square" lIns="0" tIns="0" rIns="0" bIns="0" rtlCol="0" anchor="ctr"/>
          <a:lstStyle/>
          <a:p>
            <a:pPr indent="0" marL="0">
              <a:buNone/>
            </a:pPr>
            <a:r>
              <a:rPr lang="en-US" sz="1300" b="1" dirty="0">
                <a:solidFill>
                  <a:srgbClr val="1F3A5F"/>
                </a:solidFill>
                <a:latin typeface="Courier New" pitchFamily="34" charset="0"/>
                <a:ea typeface="Courier New" pitchFamily="34" charset="-122"/>
                <a:cs typeface="Courier New" pitchFamily="34" charset="-120"/>
              </a:rPr>
              <a:t>preprocessing.py</a:t>
            </a:r>
            <a:endParaRPr lang="en-US" sz="1300" dirty="0"/>
          </a:p>
        </p:txBody>
      </p:sp>
      <p:sp>
        <p:nvSpPr>
          <p:cNvPr id="10" name="Text 7"/>
          <p:cNvSpPr txBox="1"/>
          <p:nvPr/>
        </p:nvSpPr>
        <p:spPr>
          <a:xfrm>
            <a:off x="777240" y="4416552"/>
            <a:ext cx="4937760" cy="365760"/>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Năm chiến lược A–E, chuyển không gian màu, chuẩn hóa</a:t>
            </a:r>
            <a:endParaRPr lang="en-US" sz="1200" dirty="0"/>
          </a:p>
        </p:txBody>
      </p:sp>
      <p:sp>
        <p:nvSpPr>
          <p:cNvPr id="11" name="Shape 8"/>
          <p:cNvSpPr/>
          <p:nvPr/>
        </p:nvSpPr>
        <p:spPr>
          <a:xfrm>
            <a:off x="6126480" y="3977640"/>
            <a:ext cx="5394960" cy="914400"/>
          </a:xfrm>
          <a:prstGeom prst="rect">
            <a:avLst/>
          </a:prstGeom>
          <a:solidFill>
            <a:srgbClr val="F3F6F9"/>
          </a:solidFill>
          <a:ln w="9525">
            <a:solidFill>
              <a:srgbClr val="D9E1E8"/>
            </a:solidFill>
            <a:prstDash val="solid"/>
          </a:ln>
        </p:spPr>
      </p:sp>
      <p:sp>
        <p:nvSpPr>
          <p:cNvPr id="12" name="Text 9"/>
          <p:cNvSpPr txBox="1"/>
          <p:nvPr/>
        </p:nvSpPr>
        <p:spPr>
          <a:xfrm>
            <a:off x="6355080" y="4087368"/>
            <a:ext cx="4937760" cy="320040"/>
          </a:xfrm>
          <a:prstGeom prst="rect">
            <a:avLst/>
          </a:prstGeom>
          <a:noFill/>
          <a:ln/>
        </p:spPr>
        <p:txBody>
          <a:bodyPr wrap="square" lIns="0" tIns="0" rIns="0" bIns="0" rtlCol="0" anchor="ctr"/>
          <a:lstStyle/>
          <a:p>
            <a:pPr indent="0" marL="0">
              <a:buNone/>
            </a:pPr>
            <a:r>
              <a:rPr lang="en-US" sz="1300" b="1" dirty="0">
                <a:solidFill>
                  <a:srgbClr val="1F3A5F"/>
                </a:solidFill>
                <a:latin typeface="Courier New" pitchFamily="34" charset="0"/>
                <a:ea typeface="Courier New" pitchFamily="34" charset="-122"/>
                <a:cs typeface="Courier New" pitchFamily="34" charset="-120"/>
              </a:rPr>
              <a:t>experiment_runner.py</a:t>
            </a:r>
            <a:endParaRPr lang="en-US" sz="1300" dirty="0"/>
          </a:p>
        </p:txBody>
      </p:sp>
      <p:sp>
        <p:nvSpPr>
          <p:cNvPr id="13" name="Text 10"/>
          <p:cNvSpPr txBox="1"/>
          <p:nvPr/>
        </p:nvSpPr>
        <p:spPr>
          <a:xfrm>
            <a:off x="6355080" y="4416552"/>
            <a:ext cx="4937760" cy="365760"/>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Chạy 5 phương án, gom batch, lấy Top-3 nhãn</a:t>
            </a:r>
            <a:endParaRPr lang="en-US" sz="1200" dirty="0"/>
          </a:p>
        </p:txBody>
      </p:sp>
      <p:sp>
        <p:nvSpPr>
          <p:cNvPr id="14" name="Shape 11"/>
          <p:cNvSpPr/>
          <p:nvPr/>
        </p:nvSpPr>
        <p:spPr>
          <a:xfrm>
            <a:off x="548640" y="5074920"/>
            <a:ext cx="5394960" cy="914400"/>
          </a:xfrm>
          <a:prstGeom prst="rect">
            <a:avLst/>
          </a:prstGeom>
          <a:solidFill>
            <a:srgbClr val="F3F6F9"/>
          </a:solidFill>
          <a:ln w="9525">
            <a:solidFill>
              <a:srgbClr val="D9E1E8"/>
            </a:solidFill>
            <a:prstDash val="solid"/>
          </a:ln>
        </p:spPr>
      </p:sp>
      <p:sp>
        <p:nvSpPr>
          <p:cNvPr id="15" name="Text 12"/>
          <p:cNvSpPr txBox="1"/>
          <p:nvPr/>
        </p:nvSpPr>
        <p:spPr>
          <a:xfrm>
            <a:off x="777240" y="5184648"/>
            <a:ext cx="4937760" cy="320040"/>
          </a:xfrm>
          <a:prstGeom prst="rect">
            <a:avLst/>
          </a:prstGeom>
          <a:noFill/>
          <a:ln/>
        </p:spPr>
        <p:txBody>
          <a:bodyPr wrap="square" lIns="0" tIns="0" rIns="0" bIns="0" rtlCol="0" anchor="ctr"/>
          <a:lstStyle/>
          <a:p>
            <a:pPr indent="0" marL="0">
              <a:buNone/>
            </a:pPr>
            <a:r>
              <a:rPr lang="en-US" sz="1300" b="1" dirty="0">
                <a:solidFill>
                  <a:srgbClr val="1F3A5F"/>
                </a:solidFill>
                <a:latin typeface="Courier New" pitchFamily="34" charset="0"/>
                <a:ea typeface="Courier New" pitchFamily="34" charset="-122"/>
                <a:cs typeface="Courier New" pitchFamily="34" charset="-120"/>
              </a:rPr>
              <a:t>run_benchmark.py</a:t>
            </a:r>
            <a:endParaRPr lang="en-US" sz="1300" dirty="0"/>
          </a:p>
        </p:txBody>
      </p:sp>
      <p:sp>
        <p:nvSpPr>
          <p:cNvPr id="16" name="Text 13"/>
          <p:cNvSpPr txBox="1"/>
          <p:nvPr/>
        </p:nvSpPr>
        <p:spPr>
          <a:xfrm>
            <a:off x="777240" y="5513832"/>
            <a:ext cx="4937760" cy="365760"/>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Đọc ảnh, đối chiếu nhãn, ghi kết quả JSON</a:t>
            </a:r>
            <a:endParaRPr lang="en-US" sz="1200" dirty="0"/>
          </a:p>
        </p:txBody>
      </p:sp>
      <p:sp>
        <p:nvSpPr>
          <p:cNvPr id="17" name="Shape 14"/>
          <p:cNvSpPr/>
          <p:nvPr/>
        </p:nvSpPr>
        <p:spPr>
          <a:xfrm>
            <a:off x="6126480" y="5074920"/>
            <a:ext cx="5394960" cy="914400"/>
          </a:xfrm>
          <a:prstGeom prst="rect">
            <a:avLst/>
          </a:prstGeom>
          <a:solidFill>
            <a:srgbClr val="F3F6F9"/>
          </a:solidFill>
          <a:ln w="9525">
            <a:solidFill>
              <a:srgbClr val="D9E1E8"/>
            </a:solidFill>
            <a:prstDash val="solid"/>
          </a:ln>
        </p:spPr>
      </p:sp>
      <p:sp>
        <p:nvSpPr>
          <p:cNvPr id="18" name="Text 15"/>
          <p:cNvSpPr txBox="1"/>
          <p:nvPr/>
        </p:nvSpPr>
        <p:spPr>
          <a:xfrm>
            <a:off x="6355080" y="5184648"/>
            <a:ext cx="4937760" cy="320040"/>
          </a:xfrm>
          <a:prstGeom prst="rect">
            <a:avLst/>
          </a:prstGeom>
          <a:noFill/>
          <a:ln/>
        </p:spPr>
        <p:txBody>
          <a:bodyPr wrap="square" lIns="0" tIns="0" rIns="0" bIns="0" rtlCol="0" anchor="ctr"/>
          <a:lstStyle/>
          <a:p>
            <a:pPr indent="0" marL="0">
              <a:buNone/>
            </a:pPr>
            <a:r>
              <a:rPr lang="en-US" sz="1300" b="1" dirty="0">
                <a:solidFill>
                  <a:srgbClr val="1F3A5F"/>
                </a:solidFill>
                <a:latin typeface="Courier New" pitchFamily="34" charset="0"/>
                <a:ea typeface="Courier New" pitchFamily="34" charset="-122"/>
                <a:cs typeface="Courier New" pitchFamily="34" charset="-120"/>
              </a:rPr>
              <a:t>gui_app.py / app.py</a:t>
            </a:r>
            <a:endParaRPr lang="en-US" sz="1300" dirty="0"/>
          </a:p>
        </p:txBody>
      </p:sp>
      <p:sp>
        <p:nvSpPr>
          <p:cNvPr id="19" name="Text 16"/>
          <p:cNvSpPr txBox="1"/>
          <p:nvPr/>
        </p:nvSpPr>
        <p:spPr>
          <a:xfrm>
            <a:off x="6355080" y="5513832"/>
            <a:ext cx="4937760" cy="365760"/>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Giao diện đồ họa và điểm khởi chạy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3. Thiết kế thực nghiệm đối chứng</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Cùng ảnh đầu vào, cùng CNN, cùng chuẩn hóa; chỉ thay đổi bước tiền xử lý</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822960"/>
                <a:gridCol w="3108960"/>
                <a:gridCol w="3931920"/>
                <a:gridCol w="3200400"/>
              </a:tblGrid>
              <a:tr h="45720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Mã</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Phương pháp</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Tham số mặc định</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Mục đích</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r>
              <a:tr h="457200">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Baseline</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Resize 100 × 100, RGB, chia 255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Đối chứng</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Contrast Stretching</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P1–P99 trên kênh Y, LUT</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Mở dải tương phản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Histogram Equalization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equalizeHist trên kênh Y</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Điều chỉnh phân bố sáng</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D</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Gaussian Filter</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Kernel 5 × 5, σ = 1</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Làm mượt, giảm nhiễu</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E</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Median Filter</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Kernel 5 × 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Lọc theo giá trị trung vị</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663440"/>
            <a:ext cx="11064240" cy="1280160"/>
          </a:xfrm>
          <a:prstGeom prst="rect">
            <a:avLst/>
          </a:prstGeom>
          <a:solidFill>
            <a:srgbClr val="EEF5FB"/>
          </a:solidFill>
          <a:ln w="9525">
            <a:solidFill>
              <a:srgbClr val="1F3A5F"/>
            </a:solidFill>
            <a:prstDash val="solid"/>
          </a:ln>
        </p:spPr>
      </p:sp>
      <p:sp>
        <p:nvSpPr>
          <p:cNvPr id="8" name="Text 5"/>
          <p:cNvSpPr txBox="1"/>
          <p:nvPr/>
        </p:nvSpPr>
        <p:spPr>
          <a:xfrm>
            <a:off x="777240" y="4800600"/>
            <a:ext cx="10607040" cy="1051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5B6770"/>
                </a:solidFill>
                <a:latin typeface="Arial" pitchFamily="34" charset="0"/>
                <a:ea typeface="Arial" pitchFamily="34" charset="-122"/>
                <a:cs typeface="Arial" pitchFamily="34" charset="-120"/>
              </a:rPr>
              <a:t>Đầu vào cố định: cùng 25 ảnh; cùng CNN; cùng 100 × 100 × 3 với giá trị [0, 1]</a:t>
            </a:r>
            <a:endParaRPr lang="en-US" sz="1300" dirty="0"/>
          </a:p>
          <a:p>
            <a:pPr marL="342900" indent="-342900">
              <a:spcAft>
                <a:spcPts val="600"/>
              </a:spcAft>
              <a:buSzPct val="100000"/>
              <a:buChar char="•"/>
            </a:pPr>
            <a:r>
              <a:rPr lang="en-US" sz="1300" dirty="0">
                <a:solidFill>
                  <a:srgbClr val="5B6770"/>
                </a:solidFill>
                <a:latin typeface="Arial" pitchFamily="34" charset="0"/>
                <a:ea typeface="Arial" pitchFamily="34" charset="-122"/>
                <a:cs typeface="Arial" pitchFamily="34" charset="-120"/>
              </a:rPr>
              <a:t>Mỗi ảnh tạo 5 biến thể rồi đưa qua cùng mạng; báo cáo chưa loại trừ được nhiễu do đo thời gian hoặc tính đại diện của bộ ảnh</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Kết quả tổng hợp của năm phương án</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Trên 25 ảnh ASL, mỗi ảnh sai tương ứng giảm 4 điểm phần trăm</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383280"/>
                <a:gridCol w="1737360"/>
                <a:gridCol w="1737360"/>
                <a:gridCol w="2103120"/>
                <a:gridCol w="2103120"/>
              </a:tblGrid>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Phương án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Đúng / 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Accuracy</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Confidence TB</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Tiền xử lý (ms/ảnh)</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r>
              <a:tr h="50292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A – Ảnh gốc</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25/25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99,06%</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0,273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B – Dãn tương phản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22/25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88,0%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92,94%</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0,495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 – Cân bằng histogram</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17/25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68,0%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78,90%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0,350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D – Lọc Gaussian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25/25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98,50%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0,475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E – Lọc trung vị</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25/25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97,42%</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0,573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846320"/>
            <a:ext cx="1106424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5B6770"/>
                </a:solidFill>
                <a:latin typeface="Arial" pitchFamily="34" charset="0"/>
                <a:ea typeface="Arial" pitchFamily="34" charset="-122"/>
                <a:cs typeface="Arial" pitchFamily="34" charset="-120"/>
              </a:rPr>
              <a:t>B giảm 12 điểm phần trăm và C giảm 32 điểm phần trăm so với ảnh gốc</a:t>
            </a:r>
            <a:endParaRPr lang="en-US" sz="1300" dirty="0"/>
          </a:p>
          <a:p>
            <a:pPr marL="342900" indent="-342900">
              <a:spcAft>
                <a:spcPts val="600"/>
              </a:spcAft>
              <a:buSzPct val="100000"/>
              <a:buChar char="•"/>
            </a:pPr>
            <a:r>
              <a:rPr lang="en-US" sz="1300" dirty="0">
                <a:solidFill>
                  <a:srgbClr val="5B6770"/>
                </a:solidFill>
                <a:latin typeface="Arial" pitchFamily="34" charset="0"/>
                <a:ea typeface="Arial" pitchFamily="34" charset="-122"/>
                <a:cs typeface="Arial" pitchFamily="34" charset="-120"/>
              </a:rPr>
              <a:t>D và E không cải thiện vì baseline đã đạt mức tối đa; giá trị của chúng là không làm đổi nhãn Top-1 trên 25 ví dụ</a:t>
            </a:r>
            <a:endParaRPr lang="en-US" sz="1300" dirty="0"/>
          </a:p>
          <a:p>
            <a:pPr marL="342900" indent="-342900">
              <a:spcAft>
                <a:spcPts val="600"/>
              </a:spcAft>
              <a:buSzPct val="100000"/>
              <a:buChar char="•"/>
            </a:pPr>
            <a:r>
              <a:rPr lang="en-US" sz="1300" dirty="0">
                <a:solidFill>
                  <a:srgbClr val="5B6770"/>
                </a:solidFill>
                <a:latin typeface="Arial" pitchFamily="34" charset="0"/>
                <a:ea typeface="Arial" pitchFamily="34" charset="-122"/>
                <a:cs typeface="Arial" pitchFamily="34" charset="-120"/>
              </a:rPr>
              <a:t>Confidence giảm cùng chiều với Accuracy, nhưng không có nghĩa một dự đoán 90% luôn đúng với xác suất 90%</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Chi phí tiền xử lý</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Thời gian trung bình tiền xử lý mỗi ảnh trong một lần benchmark đã lưu</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12</a:t>
            </a:r>
            <a:endParaRPr lang="en-US" sz="1000" dirty="0"/>
          </a:p>
        </p:txBody>
      </p:sp>
      <p:graphicFrame>
        <p:nvGraphicFramePr>
          <p:cNvPr id="6" name="Chart 0" descr=""/>
          <p:cNvGraphicFramePr/>
          <p:nvPr/>
        </p:nvGraphicFramePr>
        <p:xfrm>
          <a:off x="548640" y="16002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645920"/>
            <a:ext cx="4023360" cy="4389120"/>
          </a:xfrm>
          <a:prstGeom prst="rect">
            <a:avLst/>
          </a:prstGeom>
          <a:solidFill>
            <a:srgbClr val="F3F6F9"/>
          </a:solidFill>
          <a:ln w="9525">
            <a:solidFill>
              <a:srgbClr val="D9E1E8"/>
            </a:solidFill>
            <a:prstDash val="solid"/>
          </a:ln>
        </p:spPr>
      </p:sp>
      <p:sp>
        <p:nvSpPr>
          <p:cNvPr id="8" name="Text 5"/>
          <p:cNvSpPr txBox="1"/>
          <p:nvPr/>
        </p:nvSpPr>
        <p:spPr>
          <a:xfrm>
            <a:off x="7818120" y="1810512"/>
            <a:ext cx="36576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CÁCH ĐỌC SỐ LIỆU</a:t>
            </a:r>
            <a:endParaRPr lang="en-US" sz="1100" dirty="0"/>
          </a:p>
        </p:txBody>
      </p:sp>
      <p:sp>
        <p:nvSpPr>
          <p:cNvPr id="9" name="Text 6"/>
          <p:cNvSpPr txBox="1"/>
          <p:nvPr/>
        </p:nvSpPr>
        <p:spPr>
          <a:xfrm>
            <a:off x="7818120" y="2194560"/>
            <a:ext cx="3566160" cy="3749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Tất cả đều dưới 1 ms/ảnh trong lần chạy này</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Chênh lệch dưới mili-giây dễ bị ảnh hưởng bởi hệ điều hành, phần cứng và bộ nhớ đệm</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Chưa có nhiều lần chạy để tính độ lệch chuẩn, nên chưa khẳng định phương pháp nào luôn nhanh hơn</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avg_infer_ms = 0,744 ms được phân bổ từ một batch chung, không phải đo độc lập</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Các trường hợp nhận diện sai</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B sai 3 ảnh, C sai 8 ảnh; A, D và E không có lỗi trên 25 ảnh</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926080"/>
                <a:gridCol w="1463040"/>
                <a:gridCol w="6675120"/>
              </a:tblGrid>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Phương án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Số ảnh sai</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Các cặp nhầm lẫn (thật → dự đoán)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r>
              <a:tr h="502920">
                <a:tc>
                  <a:txBody>
                    <a:bodyPr/>
                    <a:lstStyle/>
                    <a:p>
                      <a:pPr algn="l" indent="0" marL="0">
                        <a:buNone/>
                      </a:pPr>
                      <a:r>
                        <a:rPr lang="en-US" sz="1200" b="1" dirty="0">
                          <a:solidFill>
                            <a:srgbClr val="1E293B"/>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Không có</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1E293B"/>
                          </a:solidFill>
                          <a:latin typeface="Arial" pitchFamily="34" charset="0"/>
                          <a:ea typeface="Arial" pitchFamily="34" charset="-122"/>
                          <a:cs typeface="Arial" pitchFamily="34" charset="-120"/>
                        </a:rPr>
                        <a:t>B – Dãn tương phản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A→E, N→M, S→M</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1E293B"/>
                          </a:solidFill>
                          <a:latin typeface="Arial" pitchFamily="34" charset="0"/>
                          <a:ea typeface="Arial" pitchFamily="34" charset="-122"/>
                          <a:cs typeface="Arial" pitchFamily="34" charset="-120"/>
                        </a:rPr>
                        <a:t>C – Cân bằng histogram</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G→O, I→E, N→M, Q→G, R→B, S→G, U→R, X→R</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1E293B"/>
                          </a:solidFill>
                          <a:latin typeface="Arial" pitchFamily="34" charset="0"/>
                          <a:ea typeface="Arial" pitchFamily="34" charset="-122"/>
                          <a:cs typeface="Arial" pitchFamily="34" charset="-120"/>
                        </a:rPr>
                        <a:t>D – Gaussian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Không có</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1E293B"/>
                          </a:solidFill>
                          <a:latin typeface="Arial" pitchFamily="34" charset="0"/>
                          <a:ea typeface="Arial" pitchFamily="34" charset="-122"/>
                          <a:cs typeface="Arial" pitchFamily="34" charset="-120"/>
                        </a:rPr>
                        <a:t>E – Median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Không có</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72000"/>
            <a:ext cx="11064240" cy="1371600"/>
          </a:xfrm>
          <a:prstGeom prst="rect">
            <a:avLst/>
          </a:prstGeom>
          <a:solidFill>
            <a:srgbClr val="FDF1EC"/>
          </a:solidFill>
          <a:ln w="9525">
            <a:solidFill>
              <a:srgbClr val="E76F51"/>
            </a:solidFill>
            <a:prstDash val="solid"/>
          </a:ln>
        </p:spPr>
      </p:sp>
      <p:sp>
        <p:nvSpPr>
          <p:cNvPr id="8" name="Text 5"/>
          <p:cNvSpPr txBox="1"/>
          <p:nvPr/>
        </p:nvSpPr>
        <p:spPr>
          <a:xfrm>
            <a:off x="777240" y="4709160"/>
            <a:ext cx="10607040" cy="109728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N và S là hai ký hiệu sai ở cả B và C, nhưng đúng ở A, D và E. Điều này gợi ý các thay đổi tương phản ảnh hưởng mạnh đến nhóm ký hiệu có ngón gập và vị trí ngón cái khó phân biệt. Tuy nhiên, mỗi chữ chỉ có một ảnh, nên chưa thể suy rộng.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Trường hợp điển hình: chữ A</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Confidence Top-1 của cùng một ảnh A qua năm phương án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14</a:t>
            </a:r>
            <a:endParaRPr lang="en-US" sz="1000" dirty="0"/>
          </a:p>
        </p:txBody>
      </p:sp>
      <p:graphicFrame>
        <p:nvGraphicFramePr>
          <p:cNvPr id="6" name="Chart 0" descr=""/>
          <p:cNvGraphicFramePr/>
          <p:nvPr/>
        </p:nvGraphicFramePr>
        <p:xfrm>
          <a:off x="548640" y="16002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645920"/>
            <a:ext cx="4023360" cy="4389120"/>
          </a:xfrm>
          <a:prstGeom prst="rect">
            <a:avLst/>
          </a:prstGeom>
          <a:solidFill>
            <a:srgbClr val="FDF1EC"/>
          </a:solidFill>
          <a:ln w="9525">
            <a:solidFill>
              <a:srgbClr val="E76F51"/>
            </a:solidFill>
            <a:prstDash val="solid"/>
          </a:ln>
        </p:spPr>
      </p:sp>
      <p:sp>
        <p:nvSpPr>
          <p:cNvPr id="8" name="Text 5"/>
          <p:cNvSpPr txBox="1"/>
          <p:nvPr/>
        </p:nvSpPr>
        <p:spPr>
          <a:xfrm>
            <a:off x="7818120" y="1810512"/>
            <a:ext cx="3657600" cy="274320"/>
          </a:xfrm>
          <a:prstGeom prst="rect">
            <a:avLst/>
          </a:prstGeom>
          <a:noFill/>
          <a:ln/>
        </p:spPr>
        <p:txBody>
          <a:bodyPr wrap="square" lIns="0" tIns="0" rIns="0" bIns="0" rtlCol="0" anchor="ctr"/>
          <a:lstStyle/>
          <a:p>
            <a:pPr indent="0" marL="0">
              <a:buNone/>
            </a:pPr>
            <a:r>
              <a:rPr lang="en-US" sz="1100" b="1" spc="100" kern="0" dirty="0">
                <a:solidFill>
                  <a:srgbClr val="E76F51"/>
                </a:solidFill>
                <a:latin typeface="Arial" pitchFamily="34" charset="0"/>
                <a:ea typeface="Arial" pitchFamily="34" charset="-122"/>
                <a:cs typeface="Arial" pitchFamily="34" charset="-120"/>
              </a:rPr>
              <a:t>NHẬN XÉT</a:t>
            </a:r>
            <a:endParaRPr lang="en-US" sz="1100" dirty="0"/>
          </a:p>
        </p:txBody>
      </p:sp>
      <p:sp>
        <p:nvSpPr>
          <p:cNvPr id="9" name="Text 6"/>
          <p:cNvSpPr txBox="1"/>
          <p:nvPr/>
        </p:nvSpPr>
        <p:spPr>
          <a:xfrm>
            <a:off x="7818120" y="2194560"/>
            <a:ext cx="3566160" cy="3749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Với B, dự đoán chuyển từ A sang E với confidence 98,39%: một dự đoán sai vẫn có điểm Softmax rất cao</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Với C, ảnh A vẫn đúng với confidence 91,68%</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Ảnh hưởng của từng phép xử lý không giống nhau giữa các ảnh</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Tệp kết quả không lưu đủ vector 29 lớp, nên không biết xác suất của các lớp còn lại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Chữ G, N và nhóm dễ nhầm lẫn</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Confidence Top-1 của phương án C trên các ký hiệu có giá trị thấp nhất</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15</a:t>
            </a:r>
            <a:endParaRPr lang="en-US" sz="1000" dirty="0"/>
          </a:p>
        </p:txBody>
      </p:sp>
      <p:graphicFrame>
        <p:nvGraphicFramePr>
          <p:cNvPr id="6" name="Chart 0" descr=""/>
          <p:cNvGraphicFramePr/>
          <p:nvPr/>
        </p:nvGraphicFramePr>
        <p:xfrm>
          <a:off x="548640" y="16002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645920"/>
            <a:ext cx="4023360" cy="4389120"/>
          </a:xfrm>
          <a:prstGeom prst="rect">
            <a:avLst/>
          </a:prstGeom>
          <a:solidFill>
            <a:srgbClr val="F3F6F9"/>
          </a:solidFill>
          <a:ln w="9525">
            <a:solidFill>
              <a:srgbClr val="D9E1E8"/>
            </a:solidFill>
            <a:prstDash val="solid"/>
          </a:ln>
        </p:spPr>
      </p:sp>
      <p:sp>
        <p:nvSpPr>
          <p:cNvPr id="8" name="Text 5"/>
          <p:cNvSpPr txBox="1"/>
          <p:nvPr/>
        </p:nvSpPr>
        <p:spPr>
          <a:xfrm>
            <a:off x="7818120" y="1810512"/>
            <a:ext cx="36576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CÁC CA ĐÁNG CHÚ Ý</a:t>
            </a:r>
            <a:endParaRPr lang="en-US" sz="1100" dirty="0"/>
          </a:p>
        </p:txBody>
      </p:sp>
      <p:sp>
        <p:nvSpPr>
          <p:cNvPr id="9" name="Text 6"/>
          <p:cNvSpPr txBox="1"/>
          <p:nvPr/>
        </p:nvSpPr>
        <p:spPr>
          <a:xfrm>
            <a:off x="7818120" y="2194560"/>
            <a:ext cx="3566160" cy="3749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G: C dự đoán O với 43,99%, còn 4 phương án khác đều đúng</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N: B dự đoán M (75,96%), C dự đoán M (81,70%); A, D, E vẫn đúng N</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U bị dự đoán thành R và R bị dự đoán thành B: hai lỗi riêng biệt, không phải nhầm lẫn hai chiều</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Thảo luận: biến đổi mức sáng và độ tin cậy của kết quả</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Kết quả đúng với bộ thử này, nhưng chưa đủ để khái quát</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16</a:t>
            </a:r>
            <a:endParaRPr lang="en-US" sz="1000" dirty="0"/>
          </a:p>
        </p:txBody>
      </p:sp>
      <p:sp>
        <p:nvSpPr>
          <p:cNvPr id="6" name="Shape 4"/>
          <p:cNvSpPr/>
          <p:nvPr/>
        </p:nvSpPr>
        <p:spPr>
          <a:xfrm>
            <a:off x="548640" y="1645920"/>
            <a:ext cx="5440680" cy="4297680"/>
          </a:xfrm>
          <a:prstGeom prst="rect">
            <a:avLst/>
          </a:prstGeom>
          <a:solidFill>
            <a:srgbClr val="EEF5FB"/>
          </a:solidFill>
          <a:ln w="9525">
            <a:solidFill>
              <a:srgbClr val="1F3A5F"/>
            </a:solidFill>
            <a:prstDash val="solid"/>
          </a:ln>
        </p:spPr>
      </p:sp>
      <p:sp>
        <p:nvSpPr>
          <p:cNvPr id="7" name="Text 5"/>
          <p:cNvSpPr txBox="1"/>
          <p:nvPr/>
        </p:nvSpPr>
        <p:spPr>
          <a:xfrm>
            <a:off x="77724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BIẾN ĐỔI MỨC SÁNG KHÁC LỌC KHÔNG GIAN</a:t>
            </a:r>
            <a:endParaRPr lang="en-US" sz="1100" dirty="0"/>
          </a:p>
        </p:txBody>
      </p:sp>
      <p:sp>
        <p:nvSpPr>
          <p:cNvPr id="8" name="Text 6"/>
          <p:cNvSpPr txBox="1"/>
          <p:nvPr/>
        </p:nvSpPr>
        <p:spPr>
          <a:xfrm>
            <a:off x="77724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 và C can thiệp trực tiếp vào phân bố mức sáng và làm sai một số nhãn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D và E làm mượt không gian, giữ nguyên toàn bộ nhãn Top-1 với tham số mặc định</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Phù hợp với giả thuyết CNN nhạy hơn với thay đổi phân phối sáng, nhưng chưa đủ bằng chứng để kết luận nguyên nhân duy nhất</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Không thêm nhiễu chủ ý, nên không đánh giá được khả năng giảm nhiễu thực tế của D và E</a:t>
            </a:r>
            <a:endParaRPr lang="en-US" sz="1300" dirty="0"/>
          </a:p>
        </p:txBody>
      </p:sp>
      <p:sp>
        <p:nvSpPr>
          <p:cNvPr id="9" name="Shape 7"/>
          <p:cNvSpPr/>
          <p:nvPr/>
        </p:nvSpPr>
        <p:spPr>
          <a:xfrm>
            <a:off x="6172200" y="1645920"/>
            <a:ext cx="5440680" cy="4297680"/>
          </a:xfrm>
          <a:prstGeom prst="rect">
            <a:avLst/>
          </a:prstGeom>
          <a:solidFill>
            <a:srgbClr val="FDF1EC"/>
          </a:solidFill>
          <a:ln w="9525">
            <a:solidFill>
              <a:srgbClr val="E76F51"/>
            </a:solidFill>
            <a:prstDash val="solid"/>
          </a:ln>
        </p:spPr>
      </p:sp>
      <p:sp>
        <p:nvSpPr>
          <p:cNvPr id="10" name="Text 8"/>
          <p:cNvSpPr txBox="1"/>
          <p:nvPr/>
        </p:nvSpPr>
        <p:spPr>
          <a:xfrm>
            <a:off x="6400800" y="1810512"/>
            <a:ext cx="5029200" cy="274320"/>
          </a:xfrm>
          <a:prstGeom prst="rect">
            <a:avLst/>
          </a:prstGeom>
          <a:noFill/>
          <a:ln/>
        </p:spPr>
        <p:txBody>
          <a:bodyPr wrap="square" lIns="0" tIns="0" rIns="0" bIns="0" rtlCol="0" anchor="ctr"/>
          <a:lstStyle/>
          <a:p>
            <a:pPr indent="0" marL="0">
              <a:buNone/>
            </a:pPr>
            <a:r>
              <a:rPr lang="en-US" sz="1100" b="1" spc="100" kern="0" dirty="0">
                <a:solidFill>
                  <a:srgbClr val="E76F51"/>
                </a:solidFill>
                <a:latin typeface="Arial" pitchFamily="34" charset="0"/>
                <a:ea typeface="Arial" pitchFamily="34" charset="-122"/>
                <a:cs typeface="Arial" pitchFamily="34" charset="-120"/>
              </a:rPr>
              <a:t>MỨC ĐỘ TIN CẬY CỦA KẾT QUẢ</a:t>
            </a:r>
            <a:endParaRPr lang="en-US" sz="1100" dirty="0"/>
          </a:p>
        </p:txBody>
      </p:sp>
      <p:sp>
        <p:nvSpPr>
          <p:cNvPr id="11" name="Text 9"/>
          <p:cNvSpPr txBox="1"/>
          <p:nvPr/>
        </p:nvSpPr>
        <p:spPr>
          <a:xfrm>
            <a:off x="640080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Với N = 25, mỗi ảnh sai tương ứng 4% Accuracy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Nhãn thật gán theo thứ tự tên tệp, chưa có xác nhận độc lập</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có kiểm tra mức trùng lặp giữa ảnh thử và tập train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Cần bộ đánh giá có nhãn xác nhận, nhiều điều kiện sáng, nhiễu, nền và người chụp, chạy lặp để tính khoảng tin cậy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5. Kết luận và hạn chế</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Trong phạm vi 25 ảnh của dự án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17</a:t>
            </a:r>
            <a:endParaRPr lang="en-US" sz="1000" dirty="0"/>
          </a:p>
        </p:txBody>
      </p:sp>
      <p:sp>
        <p:nvSpPr>
          <p:cNvPr id="6" name="Shape 4"/>
          <p:cNvSpPr/>
          <p:nvPr/>
        </p:nvSpPr>
        <p:spPr>
          <a:xfrm>
            <a:off x="548640" y="1645920"/>
            <a:ext cx="5440680" cy="4297680"/>
          </a:xfrm>
          <a:prstGeom prst="rect">
            <a:avLst/>
          </a:prstGeom>
          <a:solidFill>
            <a:srgbClr val="EEF5FB"/>
          </a:solidFill>
          <a:ln w="9525">
            <a:solidFill>
              <a:srgbClr val="1F3A5F"/>
            </a:solidFill>
            <a:prstDash val="solid"/>
          </a:ln>
        </p:spPr>
      </p:sp>
      <p:sp>
        <p:nvSpPr>
          <p:cNvPr id="7" name="Text 5"/>
          <p:cNvSpPr txBox="1"/>
          <p:nvPr/>
        </p:nvSpPr>
        <p:spPr>
          <a:xfrm>
            <a:off x="77724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KẾT QUẢ ĐẠT ĐƯỢC</a:t>
            </a:r>
            <a:endParaRPr lang="en-US" sz="1100" dirty="0"/>
          </a:p>
        </p:txBody>
      </p:sp>
      <p:sp>
        <p:nvSpPr>
          <p:cNvPr id="8" name="Text 6"/>
          <p:cNvSpPr txBox="1"/>
          <p:nvPr/>
        </p:nvSpPr>
        <p:spPr>
          <a:xfrm>
            <a:off x="77724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Năm phương án độc lập, cùng chuẩn hóa và cùng mô hình CNN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Dãn tương phản làm Accuracy giảm từ 100% xuống 88%; cân bằng histogram xuống 68%</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Lọc Gaussian và lọc trung vị không làm thay đổi nhãn dự đoán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Ảnh trông rõ hơn với mắt người không đồng nghĩa mô hình nhận diện tốt hơn</a:t>
            </a:r>
            <a:endParaRPr lang="en-US" sz="1300" dirty="0"/>
          </a:p>
        </p:txBody>
      </p:sp>
      <p:sp>
        <p:nvSpPr>
          <p:cNvPr id="9" name="Shape 7"/>
          <p:cNvSpPr/>
          <p:nvPr/>
        </p:nvSpPr>
        <p:spPr>
          <a:xfrm>
            <a:off x="6172200" y="1645920"/>
            <a:ext cx="5440680" cy="4297680"/>
          </a:xfrm>
          <a:prstGeom prst="rect">
            <a:avLst/>
          </a:prstGeom>
          <a:solidFill>
            <a:srgbClr val="F3F6F9"/>
          </a:solidFill>
          <a:ln w="9525">
            <a:solidFill>
              <a:srgbClr val="D9E1E8"/>
            </a:solidFill>
            <a:prstDash val="solid"/>
          </a:ln>
        </p:spPr>
      </p:sp>
      <p:sp>
        <p:nvSpPr>
          <p:cNvPr id="10" name="Text 8"/>
          <p:cNvSpPr txBox="1"/>
          <p:nvPr/>
        </p:nvSpPr>
        <p:spPr>
          <a:xfrm>
            <a:off x="6400800" y="1810512"/>
            <a:ext cx="50292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HẠN CHẾ CỦA ĐỀ TÀI</a:t>
            </a:r>
            <a:endParaRPr lang="en-US" sz="1100" dirty="0"/>
          </a:p>
        </p:txBody>
      </p:sp>
      <p:sp>
        <p:nvSpPr>
          <p:cNvPr id="11" name="Text 9"/>
          <p:cNvSpPr txBox="1"/>
          <p:nvPr/>
        </p:nvSpPr>
        <p:spPr>
          <a:xfrm>
            <a:off x="640080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xác minh độc lập nguồn gốc, nhãn và sự không trùng lặp giữa ảnh thử và ảnh train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thử nhiều mức nhiễu, ánh sáng, người dùng và nền chụp</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Thời gian đo từ một lần benchmark; suy luận được phân bổ từ batch chung</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có Grad-CAM hoặc feature map để kiểm chứng giả thuyết về ngón tay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nhận diện chuỗi ký hiệu từ video</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5. Hướng phát triển</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Mục tiêu cuối cùng là ổn định dự đoán trong điều kiện thực tế, không chỉ cải thiện Accuracy</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18</a:t>
            </a:r>
            <a:endParaRPr lang="en-US" sz="1000" dirty="0"/>
          </a:p>
        </p:txBody>
      </p:sp>
      <p:sp>
        <p:nvSpPr>
          <p:cNvPr id="6" name="Shape 4"/>
          <p:cNvSpPr/>
          <p:nvPr/>
        </p:nvSpPr>
        <p:spPr>
          <a:xfrm>
            <a:off x="548640" y="1645920"/>
            <a:ext cx="3520440" cy="4480560"/>
          </a:xfrm>
          <a:prstGeom prst="rect">
            <a:avLst/>
          </a:prstGeom>
          <a:solidFill>
            <a:srgbClr val="F3F6F9"/>
          </a:solidFill>
          <a:ln w="9525">
            <a:solidFill>
              <a:srgbClr val="D9E1E8"/>
            </a:solidFill>
            <a:prstDash val="solid"/>
          </a:ln>
        </p:spPr>
      </p:sp>
      <p:sp>
        <p:nvSpPr>
          <p:cNvPr id="7" name="Text 5"/>
          <p:cNvSpPr txBox="1"/>
          <p:nvPr/>
        </p:nvSpPr>
        <p:spPr>
          <a:xfrm>
            <a:off x="777240" y="1810512"/>
            <a:ext cx="310896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TIỀN XỬ LÝ</a:t>
            </a:r>
            <a:endParaRPr lang="en-US" sz="1100" dirty="0"/>
          </a:p>
        </p:txBody>
      </p:sp>
      <p:sp>
        <p:nvSpPr>
          <p:cNvPr id="8" name="Text 6"/>
          <p:cNvSpPr txBox="1"/>
          <p:nvPr/>
        </p:nvSpPr>
        <p:spPr>
          <a:xfrm>
            <a:off x="777240" y="2240280"/>
            <a:ext cx="310896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Khảo sát CLAHE</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Thay đổi kernel Gaussian và Median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Thử nhiều mức cắt phân vị</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Bổ sung nhiễu có kiểm soát</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Mỗi kỹ thuật có nhiều mức tham số và đánh giá thống kê</a:t>
            </a:r>
            <a:endParaRPr lang="en-US" sz="1300" dirty="0"/>
          </a:p>
        </p:txBody>
      </p:sp>
      <p:sp>
        <p:nvSpPr>
          <p:cNvPr id="9" name="Shape 7"/>
          <p:cNvSpPr/>
          <p:nvPr/>
        </p:nvSpPr>
        <p:spPr>
          <a:xfrm>
            <a:off x="4297680" y="1645920"/>
            <a:ext cx="3520440" cy="4480560"/>
          </a:xfrm>
          <a:prstGeom prst="rect">
            <a:avLst/>
          </a:prstGeom>
          <a:solidFill>
            <a:srgbClr val="EEF5FB"/>
          </a:solidFill>
          <a:ln w="9525">
            <a:solidFill>
              <a:srgbClr val="1F3A5F"/>
            </a:solidFill>
            <a:prstDash val="solid"/>
          </a:ln>
        </p:spPr>
      </p:sp>
      <p:sp>
        <p:nvSpPr>
          <p:cNvPr id="10" name="Text 8"/>
          <p:cNvSpPr txBox="1"/>
          <p:nvPr/>
        </p:nvSpPr>
        <p:spPr>
          <a:xfrm>
            <a:off x="4526280" y="1810512"/>
            <a:ext cx="310896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MÔ HÌNH</a:t>
            </a:r>
            <a:endParaRPr lang="en-US" sz="1100" dirty="0"/>
          </a:p>
        </p:txBody>
      </p:sp>
      <p:sp>
        <p:nvSpPr>
          <p:cNvPr id="11" name="Text 9"/>
          <p:cNvSpPr txBox="1"/>
          <p:nvPr/>
        </p:nvSpPr>
        <p:spPr>
          <a:xfrm>
            <a:off x="4526280" y="2240280"/>
            <a:ext cx="310896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Huấn luyện lại hoặc tinh chỉnh CNN với ảnh đã qua xử lý</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Tránh khác biệt giữa chuẩn bị dữ liệu lúc train và lúc inference</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Phân tích Grad-CAM để kiểm chứng cơ chế</a:t>
            </a:r>
            <a:endParaRPr lang="en-US" sz="1300" dirty="0"/>
          </a:p>
        </p:txBody>
      </p:sp>
      <p:sp>
        <p:nvSpPr>
          <p:cNvPr id="12" name="Shape 10"/>
          <p:cNvSpPr/>
          <p:nvPr/>
        </p:nvSpPr>
        <p:spPr>
          <a:xfrm>
            <a:off x="8046720" y="1645920"/>
            <a:ext cx="3520440" cy="4480560"/>
          </a:xfrm>
          <a:prstGeom prst="rect">
            <a:avLst/>
          </a:prstGeom>
          <a:solidFill>
            <a:srgbClr val="F3F6F9"/>
          </a:solidFill>
          <a:ln w="9525">
            <a:solidFill>
              <a:srgbClr val="D9E1E8"/>
            </a:solidFill>
            <a:prstDash val="solid"/>
          </a:ln>
        </p:spPr>
      </p:sp>
      <p:sp>
        <p:nvSpPr>
          <p:cNvPr id="13" name="Text 11"/>
          <p:cNvSpPr txBox="1"/>
          <p:nvPr/>
        </p:nvSpPr>
        <p:spPr>
          <a:xfrm>
            <a:off x="8275320" y="1810512"/>
            <a:ext cx="310896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ỨNG DỤNG</a:t>
            </a:r>
            <a:endParaRPr lang="en-US" sz="1100" dirty="0"/>
          </a:p>
        </p:txBody>
      </p:sp>
      <p:sp>
        <p:nvSpPr>
          <p:cNvPr id="14" name="Text 12"/>
          <p:cNvSpPr txBox="1"/>
          <p:nvPr/>
        </p:nvSpPr>
        <p:spPr>
          <a:xfrm>
            <a:off x="8275320" y="2240280"/>
            <a:ext cx="310896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Dùng webcam, xác định vùng bàn tay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Nhận diện theo thời gian thực</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Nhận diện chuỗi ký tự thay vì từng ảnh đơn lẻ</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Đo end-to-end latency</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731520" y="2651760"/>
            <a:ext cx="822960" cy="73152"/>
          </a:xfrm>
          <a:prstGeom prst="rect">
            <a:avLst/>
          </a:prstGeom>
          <a:solidFill>
            <a:srgbClr val="2A9D8F"/>
          </a:solidFill>
          <a:ln w="12700">
            <a:solidFill>
              <a:srgbClr val="2A9D8F"/>
            </a:solidFill>
            <a:prstDash val="solid"/>
          </a:ln>
        </p:spPr>
      </p:sp>
      <p:sp>
        <p:nvSpPr>
          <p:cNvPr id="3" name="Text 1"/>
          <p:cNvSpPr txBox="1"/>
          <p:nvPr/>
        </p:nvSpPr>
        <p:spPr>
          <a:xfrm>
            <a:off x="731520" y="2880360"/>
            <a:ext cx="1078992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CẢM ƠN THẦY CÔ VÀ CÁC BẠN ĐÃ LẮNG NGHE</a:t>
            </a:r>
            <a:endParaRPr lang="en-US" sz="3200" dirty="0"/>
          </a:p>
        </p:txBody>
      </p:sp>
      <p:sp>
        <p:nvSpPr>
          <p:cNvPr id="4" name="Text 2"/>
          <p:cNvSpPr txBox="1"/>
          <p:nvPr/>
        </p:nvSpPr>
        <p:spPr>
          <a:xfrm>
            <a:off x="731520" y="3657600"/>
            <a:ext cx="10789920" cy="457200"/>
          </a:xfrm>
          <a:prstGeom prst="rect">
            <a:avLst/>
          </a:prstGeom>
          <a:noFill/>
          <a:ln/>
        </p:spPr>
        <p:txBody>
          <a:bodyPr wrap="square" lIns="0" tIns="0" rIns="0" bIns="0" rtlCol="0" anchor="ctr"/>
          <a:lstStyle/>
          <a:p>
            <a:pPr indent="0" marL="0">
              <a:buNone/>
            </a:pPr>
            <a:r>
              <a:rPr lang="en-US" sz="1600" dirty="0">
                <a:solidFill>
                  <a:srgbClr val="D6E2EE"/>
                </a:solidFill>
                <a:latin typeface="Arial" pitchFamily="34" charset="0"/>
                <a:ea typeface="Arial" pitchFamily="34" charset="-122"/>
                <a:cs typeface="Arial" pitchFamily="34" charset="-120"/>
              </a:rPr>
              <a:t>Nhóm sẵn sàng nhận câu hỏi và góp ý</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Đánh giá ảnh hưởng của các kỹ thuật tiền xử lý ảnh đến kết quả nhận diện ASL bằng CNN</dc:title>
  <dc:subject>PptxGenJS Presentation</dc:subject>
  <dc:creator>PptxGenJS</dc:creator>
  <cp:lastModifiedBy>PptxGenJS</cp:lastModifiedBy>
  <cp:revision>1</cp:revision>
  <dcterms:created xsi:type="dcterms:W3CDTF">2026-10-29T16:44:28Z</dcterms:created>
  <dcterms:modified xsi:type="dcterms:W3CDTF">2026-10-29T16:44:28Z</dcterms:modified>
</cp:coreProperties>
</file>